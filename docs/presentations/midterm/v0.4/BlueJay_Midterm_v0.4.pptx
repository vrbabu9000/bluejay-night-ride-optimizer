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4.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Question and starting point" id="{3328a5b3-f741-e742-c73d-c89934c2c9ba}">
          <p14:sldIdLst>
            <p14:sldId id="256"/>
            <p14:sldId id="257"/>
            <p14:sldId id="258"/>
            <p14:sldId id="259"/>
            <p14:sldId id="260"/>
          </p14:sldIdLst>
        </p14:section>
        <p14:section name="From aggregates to scenario inputs" id="{e20680c4-49c6-c38d-1da6-4e3a770edb45}">
          <p14:sldIdLst>
            <p14:sldId id="261"/>
            <p14:sldId id="262"/>
            <p14:sldId id="263"/>
            <p14:sldId id="264"/>
            <p14:sldId id="265"/>
            <p14:sldId id="266"/>
            <p14:sldId id="267"/>
            <p14:sldId id="268"/>
          </p14:sldIdLst>
        </p14:section>
        <p14:section name="Model and experiment" id="{7f368564-75f6-54d8-7d2d-46b088f15f63}">
          <p14:sldIdLst>
            <p14:sldId id="269"/>
            <p14:sldId id="270"/>
            <p14:sldId id="271"/>
            <p14:sldId id="272"/>
            <p14:sldId id="273"/>
            <p14:sldId id="274"/>
            <p14:sldId id="275"/>
          </p14:sldIdLst>
        </p14:section>
        <p14:section name="Findings" id="{7f32b37d-8743-74f8-9979-4715ce69e677}">
          <p14:sldIdLst>
            <p14:sldId id="276"/>
            <p14:sldId id="277"/>
            <p14:sldId id="278"/>
            <p14:sldId id="279"/>
            <p14:sldId id="280"/>
          </p14:sldIdLst>
        </p14:section>
        <p14:section name="Limits and next steps" id="{26071cd8-3bdf-13a4-24bc-6a48a929905e}">
          <p14:sldIdLst>
            <p14:sldId id="281"/>
            <p14:sldId id="282"/>
            <p14:sldId id="283"/>
          </p14:sldIdLst>
        </p14:section>
        <p14:section name="Backup" id="{35b2d614-8b6c-99bb-a003-8e554a457981}">
          <p14:sldIdLst>
            <p14:sldId id="284"/>
            <p14:sldId id="285"/>
            <p14:sldId id="286"/>
            <p14:sldId id="287"/>
            <p14:sldId id="288"/>
            <p14:sldId id="289"/>
            <p14:sldId id="290"/>
            <p14:sldId id="291"/>
            <p14:sldId id="292"/>
            <p14:sldId id="29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Example A (mean 1.386)</c:v>
                </c:pt>
              </c:strCache>
            </c:strRef>
          </c:tx>
          <c:spPr>
            <a:solidFill>
              <a:srgbClr val="8A939B"/>
            </a:solidFill>
            <a:effectLst/>
          </c:spPr>
          <c:invertIfNegative val="0"/>
          <c:dLbls>
            <c:numFmt formatCode="0%" sourceLinked="0"/>
            <c:txPr>
              <a:bodyPr/>
              <a:lstStyle/>
              <a:p>
                <a:pPr>
                  <a:defRPr b="0" i="0" strike="noStrike" sz="950" u="none">
                    <a:solidFill>
                      <a:srgbClr val="1E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0.72</c:v>
                </c:pt>
                <c:pt idx="1">
                  <c:v>0.2</c:v>
                </c:pt>
                <c:pt idx="2">
                  <c:v>0.054</c:v>
                </c:pt>
                <c:pt idx="3">
                  <c:v>0.026</c:v>
                </c:pt>
                <c:pt idx="4">
                  <c:v>0</c:v>
                </c:pt>
              </c:numCache>
            </c:numRef>
          </c:val>
        </c:ser>
        <c:ser>
          <c:idx val="1"/>
          <c:order val="1"/>
          <c:tx>
            <c:strRef>
              <c:f>Sheet1!$C$1</c:f>
              <c:strCache>
                <c:ptCount val="1"/>
                <c:pt idx="0">
                  <c:v>Example B (mean 1.386)</c:v>
                </c:pt>
              </c:strCache>
            </c:strRef>
          </c:tx>
          <c:spPr>
            <a:solidFill>
              <a:srgbClr val="EDA100"/>
            </a:solidFill>
            <a:effectLst/>
          </c:spPr>
          <c:invertIfNegative val="0"/>
          <c:dLbls>
            <c:numFmt formatCode="0%" sourceLinked="0"/>
            <c:txPr>
              <a:bodyPr/>
              <a:lstStyle/>
              <a:p>
                <a:pPr>
                  <a:defRPr b="0" i="0" strike="noStrike" sz="950" u="none">
                    <a:solidFill>
                      <a:srgbClr val="1E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Sheet1!$C$2:$C$6</c:f>
              <c:numCache>
                <c:formatCode>General</c:formatCode>
                <c:ptCount val="5"/>
                <c:pt idx="0">
                  <c:v>0.807</c:v>
                </c:pt>
                <c:pt idx="1">
                  <c:v>0.07</c:v>
                </c:pt>
                <c:pt idx="2">
                  <c:v>0.073</c:v>
                </c:pt>
                <c:pt idx="3">
                  <c:v>0.03</c:v>
                </c:pt>
                <c:pt idx="4">
                  <c:v>0.02</c:v>
                </c:pt>
              </c:numCache>
            </c:numRef>
          </c:val>
        </c:ser>
        <c:ser>
          <c:idx val="2"/>
          <c:order val="2"/>
          <c:tx>
            <c:strRef>
              <c:f>Sheet1!$D$1</c:f>
              <c:strCache>
                <c:ptCount val="1"/>
                <c:pt idx="0">
                  <c:v>Our assumption (mean 1.405)</c:v>
                </c:pt>
              </c:strCache>
            </c:strRef>
          </c:tx>
          <c:spPr>
            <a:solidFill>
              <a:srgbClr val="2A78D6"/>
            </a:solidFill>
            <a:effectLst/>
          </c:spPr>
          <c:invertIfNegative val="0"/>
          <c:dLbls>
            <c:numFmt formatCode="0%" sourceLinked="0"/>
            <c:txPr>
              <a:bodyPr/>
              <a:lstStyle/>
              <a:p>
                <a:pPr>
                  <a:defRPr b="0" i="0" strike="noStrike" sz="950" u="none">
                    <a:solidFill>
                      <a:srgbClr val="1E2933"/>
                    </a:solidFill>
                    <a:latin typeface="+mn-lt"/>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Sheet1!$D$2:$D$6</c:f>
              <c:numCache>
                <c:formatCode>General</c:formatCode>
                <c:ptCount val="5"/>
                <c:pt idx="0">
                  <c:v>0.73</c:v>
                </c:pt>
                <c:pt idx="1">
                  <c:v>0.18</c:v>
                </c:pt>
                <c:pt idx="2">
                  <c:v>0.055</c:v>
                </c:pt>
                <c:pt idx="3">
                  <c:v>0.025</c:v>
                </c:pt>
                <c:pt idx="4">
                  <c:v>0.01</c:v>
                </c:pt>
              </c:numCache>
            </c:numRef>
          </c:val>
        </c:ser>
        <c:dLbls>
          <c:numFmt formatCode="0%" sourceLinked="0"/>
          <c:txPr>
            <a:bodyPr/>
            <a:lstStyle/>
            <a:p>
              <a:pPr>
                <a:defRPr b="0" i="0" strike="noStrike" sz="950" u="none">
                  <a:solidFill>
                    <a:srgbClr val="1E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B6670"/>
                    </a:solidFill>
                    <a:latin typeface="+mn-lt"/>
                  </a:defRPr>
                </a:pPr>
                <a:r>
                  <a:rPr sz="1200" b="0" i="0" u="none" strike="noStrike">
                    <a:solidFill>
                      <a:srgbClr val="5B6670"/>
                    </a:solidFill>
                    <a:latin typeface="+mn-lt"/>
                  </a:rPr>
                  <a:t>passengers in the request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0.9"/>
          <c:min val="0"/>
        </c:scaling>
        <c:delete val="0"/>
        <c:axPos val="l"/>
        <c:majorGridlines>
          <c:spPr>
            <a:ln w="6350" cap="flat">
              <a:solidFill>
                <a:srgbClr val="E3E6E9"/>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Points</c:v>
                </c:pt>
              </c:strCache>
            </c:strRef>
          </c:tx>
          <c:spPr>
            <a:solidFill>
              <a:srgbClr val="EB6834"/>
            </a:solidFill>
            <a:effectLst/>
          </c:spPr>
          <c:invertIfNegative val="0"/>
          <c:dLbls>
            <c:numFmt formatCode="0.0 &quot;points&quot;" sourceLinked="0"/>
            <c:txPr>
              <a:bodyPr/>
              <a:lstStyle/>
              <a:p>
                <a:pPr>
                  <a:defRPr b="0" i="0" strike="noStrike" sz="1300" u="none">
                    <a:solidFill>
                      <a:srgbClr val="1E2933"/>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1E2933"/>
              </a:solidFill>
              <a:effectLst/>
            </c:spPr>
          </c:dPt>
          <c:cat>
            <c:multiLvlStrRef>
              <c:f>Sheet1!$A$2:$A$3</c:f>
              <c:multiLvlStrCache>
                <c:ptCount val="2"/>
                <c:lvl>
                  <c:pt idx="0">
                    <c:v>Cost charged to postpone</c:v>
                  </c:pt>
                  <c:pt idx="1">
                    <c:v>Cost of serving at the earliest possible pickup (18:19:28)</c:v>
                  </c:pt>
                </c:lvl>
              </c:multiLvlStrCache>
            </c:multiLvlStrRef>
          </c:cat>
          <c:val>
            <c:numRef>
              <c:f>Sheet1!$B$2:$B$3</c:f>
              <c:numCache>
                <c:formatCode>General</c:formatCode>
                <c:ptCount val="2"/>
                <c:pt idx="0">
                  <c:v>262.5</c:v>
                </c:pt>
                <c:pt idx="1">
                  <c:v>435.83</c:v>
                </c:pt>
              </c:numCache>
            </c:numRef>
          </c:val>
        </c:ser>
        <c:dLbls>
          <c:numFmt formatCode="0.0 &quot;points&quot;" sourceLinked="0"/>
          <c:txPr>
            <a:bodyPr/>
            <a:lstStyle/>
            <a:p>
              <a:pPr>
                <a:defRPr b="0" i="0" strike="noStrike" sz="1300" u="none">
                  <a:solidFill>
                    <a:srgbClr val="1E29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5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933"/>
                </a:solidFill>
                <a:latin typeface="+mn-lt"/>
              </a:defRPr>
            </a:pPr>
            <a:r>
              <a:rPr sz="1300" b="0" i="0" u="none" strike="noStrike">
                <a:solidFill>
                  <a:srgbClr val="1E2933"/>
                </a:solidFill>
                <a:latin typeface="+mn-lt"/>
              </a:rPr>
              <a:t>Share of all requests a vehicle reached at the curb within 15 min (mean of 30 nights)</a:t>
            </a:r>
          </a:p>
        </c:rich>
      </c:tx>
      <c:layout/>
      <c:overlay val="0"/>
    </c:title>
    <c:autoTitleDeleted val="0"/>
    <c:plotArea>
      <c:layout/>
      <c:barChart>
        <c:barDir val="bar"/>
        <c:grouping val="clustered"/>
        <c:varyColors val="0"/>
        <c:ser>
          <c:idx val="0"/>
          <c:order val="0"/>
          <c:tx>
            <c:strRef>
              <c:f>Sheet1!$B$1</c:f>
              <c:strCache>
                <c:ptCount val="1"/>
                <c:pt idx="0">
                  <c:v>Reached within 15 min</c:v>
                </c:pt>
              </c:strCache>
            </c:strRef>
          </c:tx>
          <c:spPr>
            <a:solidFill>
              <a:srgbClr val="8A939B"/>
            </a:solidFill>
            <a:effectLst/>
          </c:spPr>
          <c:invertIfNegative val="0"/>
          <c:dLbls>
            <c:numFmt formatCode="0%" sourceLinked="0"/>
            <c:txPr>
              <a:bodyPr/>
              <a:lstStyle/>
              <a:p>
                <a:pPr>
                  <a:defRPr b="0" i="0" strike="noStrike" sz="1300" u="none">
                    <a:solidFill>
                      <a:srgbClr val="1E2933"/>
                    </a:solidFill>
                    <a:latin typeface="+mn-lt"/>
                  </a:defRPr>
                </a:pPr>
              </a:p>
            </c:txPr>
            <c:showLegendKey val="0"/>
            <c:showVal val="1"/>
            <c:showCatName val="0"/>
            <c:showSerName val="0"/>
            <c:showPercent val="0"/>
            <c:showBubbleSize val="0"/>
            <c:showLeaderLines val="0"/>
          </c:dLbls>
          <c:dPt>
            <c:idx val="0"/>
            <c:invertIfNegative val="0"/>
            <c:bubble3D val="0"/>
            <c:spPr>
              <a:solidFill>
                <a:srgbClr val="8A939B"/>
              </a:solidFill>
              <a:effectLst/>
            </c:spPr>
          </c:dPt>
          <c:dPt>
            <c:idx val="1"/>
            <c:invertIfNegative val="0"/>
            <c:bubble3D val="0"/>
            <c:spPr>
              <a:solidFill>
                <a:srgbClr val="8A939B"/>
              </a:solidFill>
              <a:effectLst/>
            </c:spPr>
          </c:dPt>
          <c:dPt>
            <c:idx val="2"/>
            <c:invertIfNegative val="0"/>
            <c:bubble3D val="0"/>
            <c:spPr>
              <a:solidFill>
                <a:srgbClr val="8A939B"/>
              </a:solidFill>
              <a:effectLst/>
            </c:spPr>
          </c:dPt>
          <c:dPt>
            <c:idx val="3"/>
            <c:invertIfNegative val="0"/>
            <c:bubble3D val="0"/>
            <c:spPr>
              <a:solidFill>
                <a:srgbClr val="8A939B"/>
              </a:solidFill>
              <a:effectLst/>
            </c:spPr>
          </c:dPt>
          <c:dPt>
            <c:idx val="4"/>
            <c:invertIfNegative val="0"/>
            <c:bubble3D val="0"/>
            <c:spPr>
              <a:solidFill>
                <a:srgbClr val="2A78D6"/>
              </a:solidFill>
              <a:effectLst/>
            </c:spPr>
          </c:dPt>
          <c:dPt>
            <c:idx val="5"/>
            <c:invertIfNegative val="0"/>
            <c:bubble3D val="0"/>
            <c:spPr>
              <a:solidFill>
                <a:srgbClr val="2A78D6"/>
              </a:solidFill>
              <a:effectLst/>
            </c:spPr>
          </c:dPt>
          <c:cat>
            <c:multiLvlStrRef>
              <c:f>Sheet1!$A$2:$A$7</c:f>
              <c:multiLvlStrCache>
                <c:ptCount val="6"/>
                <c:lvl>
                  <c:pt idx="0">
                    <c:v>Vans only · no Lyft</c:v>
                  </c:pt>
                  <c:pt idx="1">
                    <c:v>Wait ten minutes · 5.9 Lyft orders/night</c:v>
                  </c:pt>
                  <c:pt idx="2">
                    <c:v>Wait fifteen minutes · 3.1 Lyft orders/night</c:v>
                  </c:pt>
                  <c:pt idx="3">
                    <c:v>Unassigned for ten minutes · 0.2 Lyft orders/night</c:v>
                  </c:pt>
                  <c:pt idx="4">
                    <c:v>Predicted total wait exceeds fifteen minutes · 9.3 Lyft orders/night</c:v>
                  </c:pt>
                  <c:pt idx="5">
                    <c:v>Lyft arrives sooner · 10.5 Lyft orders/night</c:v>
                  </c:pt>
                </c:lvl>
              </c:multiLvlStrCache>
            </c:multiLvlStrRef>
          </c:cat>
          <c:val>
            <c:numRef>
              <c:f>Sheet1!$B$2:$B$7</c:f>
              <c:numCache>
                <c:formatCode>General</c:formatCode>
                <c:ptCount val="6"/>
                <c:pt idx="0">
                  <c:v>0.47738</c:v>
                </c:pt>
                <c:pt idx="1">
                  <c:v>0.51429</c:v>
                </c:pt>
                <c:pt idx="2">
                  <c:v>0.49524</c:v>
                </c:pt>
                <c:pt idx="3">
                  <c:v>0.47619</c:v>
                </c:pt>
                <c:pt idx="4">
                  <c:v>0.73452</c:v>
                </c:pt>
                <c:pt idx="5">
                  <c:v>0.75</c:v>
                </c:pt>
              </c:numCache>
            </c:numRef>
          </c:val>
        </c:ser>
        <c:dLbls>
          <c:numFmt formatCode="0%" sourceLinked="0"/>
          <c:txPr>
            <a:bodyPr/>
            <a:lstStyle/>
            <a:p>
              <a:pPr>
                <a:defRPr b="0" i="0" strike="noStrike" sz="1300" u="none">
                  <a:solidFill>
                    <a:srgbClr val="1E2933"/>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3E6E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67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933"/>
                </a:solidFill>
                <a:latin typeface="+mn-lt"/>
              </a:defRPr>
            </a:pPr>
            <a:r>
              <a:rPr sz="1200" b="0" i="0" u="none" strike="noStrike">
                <a:solidFill>
                  <a:srgbClr val="1E2933"/>
                </a:solidFill>
                <a:latin typeface="+mn-lt"/>
              </a:rPr>
              <a:t>Outcome of each transferred request (n = transfers, totals over 30 nights)</a:t>
            </a:r>
          </a:p>
        </c:rich>
      </c:tx>
      <c:layout/>
      <c:overlay val="0"/>
    </c:title>
    <c:autoTitleDeleted val="0"/>
    <c:plotArea>
      <c:layout/>
      <c:barChart>
        <c:barDir val="bar"/>
        <c:grouping val="percentStacked"/>
        <c:varyColors val="0"/>
        <c:ser>
          <c:idx val="0"/>
          <c:order val="0"/>
          <c:tx>
            <c:strRef>
              <c:f>Sheet1!$B$1</c:f>
              <c:strCache>
                <c:ptCount val="1"/>
                <c:pt idx="0">
                  <c:v>Lyft completed</c:v>
                </c:pt>
              </c:strCache>
            </c:strRef>
          </c:tx>
          <c:spPr>
            <a:solidFill>
              <a:srgbClr val="1BAF7A"/>
            </a:solidFill>
            <a:effectLst/>
          </c:spPr>
          <c:invertIfNegative val="0"/>
          <c:dLbls>
            <c:numFmt formatCode="#,##0" sourceLinked="0"/>
            <c:txPr>
              <a:bodyPr/>
              <a:lstStyle/>
              <a:p>
                <a:pPr>
                  <a:defRPr b="0" i="0" strike="noStrike" sz="1000" u="none">
                    <a:solidFill>
                      <a:srgbClr val="1E2933"/>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Wait ten minutes (n = 196)</c:v>
                  </c:pt>
                  <c:pt idx="1">
                    <c:v>Wait fifteen minutes (n = 104)</c:v>
                  </c:pt>
                  <c:pt idx="2">
                    <c:v>Unassigned for ten minutes (n = 8: too few to compare)</c:v>
                  </c:pt>
                  <c:pt idx="3">
                    <c:v>Predicted total wait exceeds fifteen minutes (n = 294)</c:v>
                  </c:pt>
                  <c:pt idx="4">
                    <c:v>Lyft arrives sooner (n = 330)</c:v>
                  </c:pt>
                </c:lvl>
              </c:multiLvlStrCache>
            </c:multiLvlStrRef>
          </c:cat>
          <c:val>
            <c:numRef>
              <c:f>Sheet1!$B$2:$B$6</c:f>
              <c:numCache>
                <c:formatCode>General</c:formatCode>
                <c:ptCount val="5"/>
                <c:pt idx="0">
                  <c:v>94</c:v>
                </c:pt>
                <c:pt idx="1">
                  <c:v>55</c:v>
                </c:pt>
                <c:pt idx="2">
                  <c:v>4</c:v>
                </c:pt>
                <c:pt idx="3">
                  <c:v>187</c:v>
                </c:pt>
                <c:pt idx="4">
                  <c:v>211</c:v>
                </c:pt>
              </c:numCache>
            </c:numRef>
          </c:val>
        </c:ser>
        <c:ser>
          <c:idx val="1"/>
          <c:order val="1"/>
          <c:tx>
            <c:strRef>
              <c:f>Sheet1!$C$1</c:f>
              <c:strCache>
                <c:ptCount val="1"/>
                <c:pt idx="0">
                  <c:v>Lyft no-show</c:v>
                </c:pt>
              </c:strCache>
            </c:strRef>
          </c:tx>
          <c:spPr>
            <a:solidFill>
              <a:srgbClr val="EDA100"/>
            </a:solidFill>
            <a:effectLst/>
          </c:spPr>
          <c:invertIfNegative val="0"/>
          <c:dLbls>
            <c:numFmt formatCode="#,##0" sourceLinked="0"/>
            <c:txPr>
              <a:bodyPr/>
              <a:lstStyle/>
              <a:p>
                <a:pPr>
                  <a:defRPr b="0" i="0" strike="noStrike" sz="1000" u="none">
                    <a:solidFill>
                      <a:srgbClr val="1E2933"/>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Wait ten minutes (n = 196)</c:v>
                  </c:pt>
                  <c:pt idx="1">
                    <c:v>Wait fifteen minutes (n = 104)</c:v>
                  </c:pt>
                  <c:pt idx="2">
                    <c:v>Unassigned for ten minutes (n = 8: too few to compare)</c:v>
                  </c:pt>
                  <c:pt idx="3">
                    <c:v>Predicted total wait exceeds fifteen minutes (n = 294)</c:v>
                  </c:pt>
                  <c:pt idx="4">
                    <c:v>Lyft arrives sooner (n = 330)</c:v>
                  </c:pt>
                </c:lvl>
              </c:multiLvlStrCache>
            </c:multiLvlStrRef>
          </c:cat>
          <c:val>
            <c:numRef>
              <c:f>Sheet1!$C$2:$C$6</c:f>
              <c:numCache>
                <c:formatCode>General</c:formatCode>
                <c:ptCount val="5"/>
                <c:pt idx="0">
                  <c:v>7</c:v>
                </c:pt>
                <c:pt idx="1">
                  <c:v>4</c:v>
                </c:pt>
                <c:pt idx="2">
                  <c:v>0</c:v>
                </c:pt>
                <c:pt idx="3">
                  <c:v>14</c:v>
                </c:pt>
                <c:pt idx="4">
                  <c:v>15</c:v>
                </c:pt>
              </c:numCache>
            </c:numRef>
          </c:val>
        </c:ser>
        <c:ser>
          <c:idx val="2"/>
          <c:order val="2"/>
          <c:tx>
            <c:strRef>
              <c:f>Sheet1!$D$1</c:f>
              <c:strCache>
                <c:ptCount val="1"/>
                <c:pt idx="0">
                  <c:v>Cancelled during the 2-min ordering lag</c:v>
                </c:pt>
              </c:strCache>
            </c:strRef>
          </c:tx>
          <c:spPr>
            <a:solidFill>
              <a:srgbClr val="E87BA4"/>
            </a:solidFill>
            <a:effectLst/>
          </c:spPr>
          <c:invertIfNegative val="0"/>
          <c:dLbls>
            <c:numFmt formatCode="#,##0" sourceLinked="0"/>
            <c:txPr>
              <a:bodyPr/>
              <a:lstStyle/>
              <a:p>
                <a:pPr>
                  <a:defRPr b="0" i="0" strike="noStrike" sz="1000" u="none">
                    <a:solidFill>
                      <a:srgbClr val="1E2933"/>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Wait ten minutes (n = 196)</c:v>
                  </c:pt>
                  <c:pt idx="1">
                    <c:v>Wait fifteen minutes (n = 104)</c:v>
                  </c:pt>
                  <c:pt idx="2">
                    <c:v>Unassigned for ten minutes (n = 8: too few to compare)</c:v>
                  </c:pt>
                  <c:pt idx="3">
                    <c:v>Predicted total wait exceeds fifteen minutes (n = 294)</c:v>
                  </c:pt>
                  <c:pt idx="4">
                    <c:v>Lyft arrives sooner (n = 330)</c:v>
                  </c:pt>
                </c:lvl>
              </c:multiLvlStrCache>
            </c:multiLvlStrRef>
          </c:cat>
          <c:val>
            <c:numRef>
              <c:f>Sheet1!$D$2:$D$6</c:f>
              <c:numCache>
                <c:formatCode>General</c:formatCode>
                <c:ptCount val="5"/>
                <c:pt idx="0">
                  <c:v>18</c:v>
                </c:pt>
                <c:pt idx="1">
                  <c:v>11</c:v>
                </c:pt>
                <c:pt idx="2">
                  <c:v>1</c:v>
                </c:pt>
                <c:pt idx="3">
                  <c:v>14</c:v>
                </c:pt>
                <c:pt idx="4">
                  <c:v>16</c:v>
                </c:pt>
              </c:numCache>
            </c:numRef>
          </c:val>
        </c:ser>
        <c:ser>
          <c:idx val="3"/>
          <c:order val="3"/>
          <c:tx>
            <c:strRef>
              <c:f>Sheet1!$E$1</c:f>
              <c:strCache>
                <c:ptCount val="1"/>
                <c:pt idx="0">
                  <c:v>Cancelled after the Lyft was ordered</c:v>
                </c:pt>
              </c:strCache>
            </c:strRef>
          </c:tx>
          <c:spPr>
            <a:solidFill>
              <a:srgbClr val="EB6834"/>
            </a:solidFill>
            <a:effectLst/>
          </c:spPr>
          <c:invertIfNegative val="0"/>
          <c:dLbls>
            <c:numFmt formatCode="#,##0" sourceLinked="0"/>
            <c:txPr>
              <a:bodyPr/>
              <a:lstStyle/>
              <a:p>
                <a:pPr>
                  <a:defRPr b="0" i="0" strike="noStrike" sz="1000" u="none">
                    <a:solidFill>
                      <a:srgbClr val="1E2933"/>
                    </a:solidFill>
                    <a:latin typeface="+mn-lt"/>
                  </a:defRPr>
                </a:pPr>
              </a:p>
            </c:txPr>
            <c:dLblPos val="ctr"/>
            <c:showLegendKey val="0"/>
            <c:showVal val="1"/>
            <c:showCatName val="0"/>
            <c:showSerName val="0"/>
            <c:showPercent val="0"/>
            <c:showBubbleSize val="0"/>
            <c:showLeaderLines val="0"/>
          </c:dLbls>
          <c:cat>
            <c:multiLvlStrRef>
              <c:f>Sheet1!$A$2:$A$6</c:f>
              <c:multiLvlStrCache>
                <c:ptCount val="5"/>
                <c:lvl>
                  <c:pt idx="0">
                    <c:v>Wait ten minutes (n = 196)</c:v>
                  </c:pt>
                  <c:pt idx="1">
                    <c:v>Wait fifteen minutes (n = 104)</c:v>
                  </c:pt>
                  <c:pt idx="2">
                    <c:v>Unassigned for ten minutes (n = 8: too few to compare)</c:v>
                  </c:pt>
                  <c:pt idx="3">
                    <c:v>Predicted total wait exceeds fifteen minutes (n = 294)</c:v>
                  </c:pt>
                  <c:pt idx="4">
                    <c:v>Lyft arrives sooner (n = 330)</c:v>
                  </c:pt>
                </c:lvl>
              </c:multiLvlStrCache>
            </c:multiLvlStrRef>
          </c:cat>
          <c:val>
            <c:numRef>
              <c:f>Sheet1!$E$2:$E$6</c:f>
              <c:numCache>
                <c:formatCode>General</c:formatCode>
                <c:ptCount val="5"/>
                <c:pt idx="0">
                  <c:v>77</c:v>
                </c:pt>
                <c:pt idx="1">
                  <c:v>34</c:v>
                </c:pt>
                <c:pt idx="2">
                  <c:v>3</c:v>
                </c:pt>
                <c:pt idx="3">
                  <c:v>79</c:v>
                </c:pt>
                <c:pt idx="4">
                  <c:v>88</c:v>
                </c:pt>
              </c:numCache>
            </c:numRef>
          </c:val>
        </c:ser>
        <c:dLbls>
          <c:numFmt formatCode="#,##0" sourceLinked="0"/>
          <c:txPr>
            <a:bodyPr/>
            <a:lstStyle/>
            <a:p>
              <a:pPr>
                <a:defRPr b="0" i="0" strike="noStrike" sz="1000" u="none">
                  <a:solidFill>
                    <a:srgbClr val="1E2933"/>
                  </a:solidFill>
                  <a:latin typeface="+mn-lt"/>
                </a:defRPr>
              </a:pPr>
            </a:p>
          </c:txPr>
          <c:dLblPos val="ctr"/>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670"/>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6E9"/>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6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speaking_script.md#s01. Handbook: slide_explanations.md#s01.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speaking_script.md#s02. Handbook: slide_explanations.md#s02. Scope: Homewood Night Ride including the Peabody area (D-23, D-27).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speaking_script.md#s03. Handbook: slide_explanations.md#s03. Original slides 10 and 11 of the September proposal deck (committed version), reproduced as images; the dashboard map is masked.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speaking_script.md#s04. Handbook: slide_explanations.md#s04. Original slides 7 and 8, with correction markers. The map is masked (restricted dashboard imagery).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speaking_script.md#s05. Handbook: slide_explanations.md#s05. Scope choice, not a claim that synthetic algorithm comparisons are invalid. Dispatcher modelled on TransLoc's published 2016 design (transloc_operations.md); current Hopkins practice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speaking_script.md#s06. Handbook: slide_explanations.md#s06. Restricted source: digitized aggregates only, no screenshots.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speaking_script.md#s07. Handbook: slide_explanations.md#s07. D-35, D-36, D-49.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speaking_script.md#s08. Handbook: slide_explanations.md#s08. L5 pilot: D-56 settings, D-57 batch.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speaking_script.md#s09. Handbook: slide_explanations.md#s09. Gravity prior + iterative proportional fitting, D-18.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speaking_script.md#s10. Handbook: slide_explanations.md#s10. D-38 (shares), D-33 (XL for a party of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speaking_script.md#s11. Handbook: slide_explanations.md#s11. Patience: Weibull shape 1.5, median 18 min, placeholder (D-39); share of 'Cancelled' that is abandonment, 50-75% range (D-49).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speaking_script.md#s12. Handbook: slide_explanations.md#s12. D-40, D-48; methodology Appendix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speaking_script.md#s13. Handbook: slide_explanations.md#s13. Every input is frozen and hash-checked before any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speaking_script.md#s14. Handbook: slide_explanations.md#s14. Simulator = engine.py; van optimizer = dispatch.py (restricted route-selection MILP, HiGHS); transfer rule = lyft.py.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speaking_script.md#s15. Handbook: slide_explanations.md#s15. engine.py:305-351. One rule pass per decision moment; at most one re-plan; at most one decision moment per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speaking_script.md#s16. Handbook: slide_explanations.md#s16. Full formulation and M bound: B2. Weights D-29; guardrail D-47; postponement price D-53.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speaking_script.md#s17. Handbook: slide_explanations.md#s17. Codes: R0, R1(10), R1(15), R1u(10), R2(15), R3(2) — key in B1. lyft.py:13-30.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speaking_script.md#s18. Handbook: slide_explanations.md#s18. Designed evening L4 under R3(2), request R011, decision epoch at 1,020 s; Lyft delay fixed at 8 min by design; acceptance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speaking_script.md#s19. Handbook: slide_explanations.md#s19. Original pending price vs A (adopted, provisional) vs route-based B; D-53. Example from the math review of 21 Oct,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speaking_script.md#s20. Handbook: slide_explanations.md#s20. Paired design: D-57 batch_L5_v1.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speaking_script.md#s21. Handbook: slide_explanations.md#s21. Diagnostics in B8. AI use logged in docs/ai_use_log.md.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speaking_script.md#s22. Handbook: slide_explanations.md#s22. Full table B6. Reached = vehicle curb arrival within 15 min of the request, over all 28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speaking_script.md#s23. Handbook: slide_explanations.md#s23. Fates are totals over 30 nights. Elapsed wait at transfer: median 629 s / 932 s (waiting-time rules) vs 0 s (prediction rules); technical review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speaking_script.md#s24. Handbook: slide_explanations.md#s24. Nondominance computed in src/sim/tradeoff.py; per-night counts in 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speaking_script.md#s25. Handbook: slide_explanations.md#s25. Bilevel terminology: Colson, Marcotte &amp; Savard (2007); Dempe (2002). Technical review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speaking_script.md#s26. Handbook: slide_explanations.md#s26. 36 ride-time excess events (16 distinct requests, 10 nights) are in B8 and the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speaking_script.md#s27. Handbook: slide_explanations.md#s27. Proposed next steps only; not run in this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speaking_script.md#s28. Handbook: slide_explanations.md#s28. Closing slide; questions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divider. Each backup links back to the main slide that uses it. Type a slide number and Enter to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speaking_script.md#s30. Handbook: slide_explanations.md#s30. Backup 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speaking_script.md#s31. Handbook: slide_explanations.md#s31. Backup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speaking_script.md#s32. Handbook: slide_explanations.md#s32. Backup B3.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speaking_script.md#s33. Handbook: slide_explanations.md#s33. Backup 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speaking_script.md#s34. Handbook: slide_explanations.md#s34. Backup B5.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speaking_script.md#s35. Handbook: slide_explanations.md#s35. Backup B6.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speaking_script.md#s36. Handbook: slide_explanations.md#s36. Backup 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speaking_script.md#s37. Handbook: slide_explanations.md#s37. Backup B8.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speaking_script.md#s38. Handbook: slide_explanations.md#s38. Backup B9.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E293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10881360" cy="1371600"/>
          </a:xfrm>
          <a:prstGeom prst="rect">
            <a:avLst/>
          </a:prstGeom>
          <a:noFill/>
          <a:ln/>
        </p:spPr>
        <p:txBody>
          <a:bodyPr wrap="square" rtlCol="0"/>
          <a:lstStyle>
            <a:lvl1pPr algn="l" indent="0" marL="0">
              <a:buNone/>
              <a:defRPr lang="en-US" sz="3800" b="1" dirty="0">
                <a:solidFill>
                  <a:srgbClr val="FFFFFF"/>
                </a:solidFill>
              </a:defRPr>
            </a:lvl1pPr>
          </a:lstStyle>
          <a:p>
            <a:pPr algn="l" indent="0" marL="0">
              <a:buNone/>
            </a:pPr>
            <a:endParaRPr lang="en-US" sz="3800" dirty="0"/>
          </a:p>
        </p:txBody>
      </p:sp>
      <p:sp>
        <p:nvSpPr>
          <p:cNvPr id="3" name="Text 0"/>
          <p:cNvSpPr/>
          <p:nvPr>
            <p:ph idx="101" type="body" hasCustomPrompt="1"/>
          </p:nvPr>
        </p:nvSpPr>
        <p:spPr>
          <a:xfrm>
            <a:off x="640080" y="2240280"/>
            <a:ext cx="10881360" cy="822960"/>
          </a:xfrm>
          <a:prstGeom prst="rect">
            <a:avLst/>
          </a:prstGeom>
          <a:noFill/>
          <a:ln/>
        </p:spPr>
        <p:txBody>
          <a:bodyPr wrap="square" rtlCol="0"/>
          <a:lstStyle>
            <a:lvl1pPr algn="l" indent="0" marL="0">
              <a:buNone/>
              <a:defRPr lang="en-US" sz="1900" dirty="0">
                <a:solidFill>
                  <a:srgbClr val="C9D1D8"/>
                </a:solidFill>
              </a:defRPr>
            </a:lvl1pPr>
          </a:lstStyle>
          <a:p>
            <a:pPr algn="l" indent="0" marL="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lstStyle>
            <a:lvl1pPr algn="l" indent="0" marL="0">
              <a:buNone/>
              <a:defRPr lang="en-US" sz="2800" b="1" dirty="0">
                <a:solidFill>
                  <a:srgbClr val="1E2933"/>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EEF1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097280"/>
          </a:xfrm>
          <a:prstGeom prst="rect">
            <a:avLst/>
          </a:prstGeom>
          <a:noFill/>
          <a:ln/>
        </p:spPr>
        <p:txBody>
          <a:bodyPr wrap="square" rtlCol="0"/>
          <a:lstStyle>
            <a:lvl1pPr indent="0" marL="0">
              <a:buNone/>
              <a:defRPr lang="en-US" sz="3400" b="1" dirty="0">
                <a:solidFill>
                  <a:srgbClr val="1E2933"/>
                </a:solidFill>
              </a:defRPr>
            </a:lvl1pPr>
          </a:lstStyle>
          <a:p>
            <a:pPr indent="0" marL="0">
              <a:buNone/>
            </a:pPr>
            <a:endParaRPr lang="en-US" sz="3400" dirty="0"/>
          </a:p>
        </p:txBody>
      </p:sp>
      <p:sp>
        <p:nvSpPr>
          <p:cNvPr id="3" name="Text 0"/>
          <p:cNvSpPr/>
          <p:nvPr>
            <p:ph idx="101" type="body" hasCustomPrompt="1"/>
          </p:nvPr>
        </p:nvSpPr>
        <p:spPr>
          <a:xfrm>
            <a:off x="731520" y="3383280"/>
            <a:ext cx="10698480" cy="2377440"/>
          </a:xfrm>
          <a:prstGeom prst="rect">
            <a:avLst/>
          </a:prstGeom>
          <a:noFill/>
          <a:ln/>
        </p:spPr>
        <p:txBody>
          <a:bodyPr wrap="square" rtlCol="0"/>
          <a:lstStyle>
            <a:lvl1pPr indent="0" marL="0">
              <a:buNone/>
              <a:defRPr lang="en-US" sz="1600" dirty="0">
                <a:solidFill>
                  <a:srgbClr val="3A4750"/>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 Target="slide38.xm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 Target="slide38.xm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3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30.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37.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slide" Target="slide35.xml"/><Relationship Id="rId1"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36.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30.xml"/><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3.xml"/><Relationship Id="rId5" Type="http://schemas.openxmlformats.org/officeDocument/2006/relationships/slide" Target="slide34.xml"/><Relationship Id="rId6" Type="http://schemas.openxmlformats.org/officeDocument/2006/relationships/slide" Target="slide35.xml"/><Relationship Id="rId7" Type="http://schemas.openxmlformats.org/officeDocument/2006/relationships/slide" Target="slide36.xml"/><Relationship Id="rId8" Type="http://schemas.openxmlformats.org/officeDocument/2006/relationships/slide" Target="slide37.xml"/><Relationship Id="rId9" Type="http://schemas.openxmlformats.org/officeDocument/2006/relationships/slide" Target="slide38.xml"/><Relationship Id="rId10" Type="http://schemas.openxmlformats.org/officeDocument/2006/relationships/slideLayout" Target="../slideLayouts/slideLayout4.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Layout" Target="../slideLayouts/slideLayout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24.xml"/><Relationship Id="rId2" Type="http://schemas.openxmlformats.org/officeDocument/2006/relationships/slideLayout" Target="../slideLayouts/slideLayout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822960"/>
            <a:ext cx="10881360" cy="1371600"/>
          </a:xfrm>
          <a:prstGeom prst="rect">
            <a:avLst/>
          </a:prstGeom>
          <a:noFill/>
          <a:ln/>
        </p:spPr>
        <p:txBody>
          <a:bodyPr wrap="square" rtlCol="0" anchor="b"/>
          <a:lstStyle/>
          <a:p>
            <a:pPr algn="l" indent="0" marL="0">
              <a:buNone/>
            </a:pPr>
            <a:r>
              <a:rPr lang="en-US" sz="3800" b="1" dirty="0">
                <a:solidFill>
                  <a:srgbClr val="FFFFFF"/>
                </a:solidFill>
              </a:rPr>
              <a:t>When should Night Ride move a waiting request to Lyft?</a:t>
            </a:r>
            <a:endParaRPr lang="en-US" sz="3800" dirty="0"/>
          </a:p>
        </p:txBody>
      </p:sp>
      <p:sp>
        <p:nvSpPr>
          <p:cNvPr id="3" name="Text 0"/>
          <p:cNvSpPr/>
          <p:nvPr>
            <p:ph idx="101" type="body" hasCustomPrompt="1"/>
          </p:nvPr>
        </p:nvSpPr>
        <p:spPr>
          <a:xfrm>
            <a:off x="640080" y="2240280"/>
            <a:ext cx="10881360" cy="822960"/>
          </a:xfrm>
          <a:prstGeom prst="rect">
            <a:avLst/>
          </a:prstGeom>
          <a:noFill/>
          <a:ln/>
        </p:spPr>
        <p:txBody>
          <a:bodyPr wrap="square" rtlCol="0" anchor="t"/>
          <a:lstStyle/>
          <a:p>
            <a:pPr algn="l" indent="0" marL="0">
              <a:buNone/>
            </a:pPr>
            <a:r>
              <a:rPr lang="en-US" sz="1900" dirty="0">
                <a:solidFill>
                  <a:srgbClr val="C9D1D8"/>
                </a:solidFill>
              </a:rPr>
              <a:t>What April's aggregate data helped us build—and what our first simulations revealed.</a:t>
            </a:r>
            <a:endParaRPr lang="en-US" sz="1900" dirty="0"/>
          </a:p>
        </p:txBody>
      </p:sp>
      <p:sp>
        <p:nvSpPr>
          <p:cNvPr id="4" name="Shape 2"/>
          <p:cNvSpPr/>
          <p:nvPr/>
        </p:nvSpPr>
        <p:spPr>
          <a:xfrm>
            <a:off x="1828800" y="3886200"/>
            <a:ext cx="1371600" cy="1371600"/>
          </a:xfrm>
          <a:prstGeom prst="ellipse">
            <a:avLst/>
          </a:prstGeom>
          <a:solidFill>
            <a:srgbClr val="2E3B47"/>
          </a:solidFill>
          <a:ln w="19050">
            <a:solidFill>
              <a:srgbClr val="C9D1D8"/>
            </a:solidFill>
            <a:prstDash val="solid"/>
          </a:ln>
        </p:spPr>
      </p:sp>
      <p:sp>
        <p:nvSpPr>
          <p:cNvPr id="5" name="Text 3"/>
          <p:cNvSpPr txBox="1"/>
          <p:nvPr/>
        </p:nvSpPr>
        <p:spPr>
          <a:xfrm>
            <a:off x="1828800" y="3886200"/>
            <a:ext cx="1371600" cy="1371600"/>
          </a:xfrm>
          <a:prstGeom prst="rect">
            <a:avLst/>
          </a:prstGeom>
          <a:noFill/>
          <a:ln/>
        </p:spPr>
        <p:txBody>
          <a:bodyPr wrap="square" lIns="635" tIns="635" rIns="635" bIns="635"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Waiting request</a:t>
            </a:r>
            <a:endParaRPr lang="en-US" sz="1400" dirty="0"/>
          </a:p>
        </p:txBody>
      </p:sp>
      <p:sp>
        <p:nvSpPr>
          <p:cNvPr id="6" name="Shape 4"/>
          <p:cNvSpPr/>
          <p:nvPr/>
        </p:nvSpPr>
        <p:spPr>
          <a:xfrm flipV="1">
            <a:off x="3246120" y="3749040"/>
            <a:ext cx="2514600" cy="594360"/>
          </a:xfrm>
          <a:prstGeom prst="line">
            <a:avLst/>
          </a:prstGeom>
          <a:noFill/>
          <a:ln w="31750">
            <a:solidFill>
              <a:srgbClr val="8FB8EA"/>
            </a:solidFill>
            <a:prstDash val="solid"/>
            <a:tailEnd type="triangle"/>
          </a:ln>
        </p:spPr>
      </p:sp>
      <p:sp>
        <p:nvSpPr>
          <p:cNvPr id="7" name="Shape 5"/>
          <p:cNvSpPr/>
          <p:nvPr/>
        </p:nvSpPr>
        <p:spPr>
          <a:xfrm>
            <a:off x="3246120" y="4800600"/>
            <a:ext cx="2514600" cy="594360"/>
          </a:xfrm>
          <a:prstGeom prst="line">
            <a:avLst/>
          </a:prstGeom>
          <a:noFill/>
          <a:ln w="31750">
            <a:solidFill>
              <a:srgbClr val="F3A57E"/>
            </a:solidFill>
            <a:prstDash val="solid"/>
            <a:tailEnd type="triangle"/>
          </a:ln>
        </p:spPr>
      </p:sp>
      <p:sp>
        <p:nvSpPr>
          <p:cNvPr id="8" name="Shape 6"/>
          <p:cNvSpPr/>
          <p:nvPr/>
        </p:nvSpPr>
        <p:spPr>
          <a:xfrm>
            <a:off x="5852160" y="3429000"/>
            <a:ext cx="3017520" cy="685800"/>
          </a:xfrm>
          <a:prstGeom prst="roundRect">
            <a:avLst>
              <a:gd name="adj" fmla="val 9333"/>
            </a:avLst>
          </a:prstGeom>
          <a:solidFill>
            <a:srgbClr val="2A3F57"/>
          </a:solidFill>
          <a:ln w="15875">
            <a:solidFill>
              <a:srgbClr val="8FB8EA"/>
            </a:solidFill>
            <a:prstDash val="solid"/>
          </a:ln>
        </p:spPr>
      </p:sp>
      <p:sp>
        <p:nvSpPr>
          <p:cNvPr id="9" name="Text 7"/>
          <p:cNvSpPr txBox="1"/>
          <p:nvPr/>
        </p:nvSpPr>
        <p:spPr>
          <a:xfrm>
            <a:off x="5852160" y="3429000"/>
            <a:ext cx="3017520" cy="68580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Shared van</a:t>
            </a:r>
            <a:endParaRPr lang="en-US" sz="1800" dirty="0"/>
          </a:p>
        </p:txBody>
      </p:sp>
      <p:sp>
        <p:nvSpPr>
          <p:cNvPr id="10" name="Shape 8"/>
          <p:cNvSpPr/>
          <p:nvPr/>
        </p:nvSpPr>
        <p:spPr>
          <a:xfrm>
            <a:off x="5852160" y="5074920"/>
            <a:ext cx="3017520" cy="685800"/>
          </a:xfrm>
          <a:prstGeom prst="roundRect">
            <a:avLst>
              <a:gd name="adj" fmla="val 9333"/>
            </a:avLst>
          </a:prstGeom>
          <a:solidFill>
            <a:srgbClr val="4A3328"/>
          </a:solidFill>
          <a:ln w="15875">
            <a:solidFill>
              <a:srgbClr val="F3A57E"/>
            </a:solidFill>
            <a:prstDash val="solid"/>
          </a:ln>
        </p:spPr>
      </p:sp>
      <p:sp>
        <p:nvSpPr>
          <p:cNvPr id="11" name="Text 9"/>
          <p:cNvSpPr txBox="1"/>
          <p:nvPr/>
        </p:nvSpPr>
        <p:spPr>
          <a:xfrm>
            <a:off x="5852160" y="5074920"/>
            <a:ext cx="3017520" cy="685800"/>
          </a:xfrm>
          <a:prstGeom prst="rect">
            <a:avLst/>
          </a:prstGeom>
          <a:noFill/>
          <a:ln/>
        </p:spPr>
        <p:txBody>
          <a:bodyPr wrap="square" lIns="635" tIns="635" rIns="635" bIns="635"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Lyft</a:t>
            </a:r>
            <a:endParaRPr lang="en-US" sz="1800" dirty="0"/>
          </a:p>
        </p:txBody>
      </p:sp>
      <p:sp>
        <p:nvSpPr>
          <p:cNvPr id="12" name="Text 10"/>
          <p:cNvSpPr txBox="1"/>
          <p:nvPr/>
        </p:nvSpPr>
        <p:spPr>
          <a:xfrm>
            <a:off x="3931920" y="4160520"/>
            <a:ext cx="548640" cy="640080"/>
          </a:xfrm>
          <a:prstGeom prst="rect">
            <a:avLst/>
          </a:prstGeom>
          <a:noFill/>
          <a:ln/>
        </p:spPr>
        <p:txBody>
          <a:bodyPr wrap="square" lIns="635" tIns="635" rIns="635" bIns="635" rtlCol="0" anchor="ctr"/>
          <a:lstStyle/>
          <a:p>
            <a:pPr algn="ctr" indent="0" marL="0">
              <a:buNone/>
            </a:pPr>
            <a:r>
              <a:rPr lang="en-US" sz="3000" b="1" dirty="0">
                <a:solidFill>
                  <a:srgbClr val="EDA100"/>
                </a:solidFill>
                <a:latin typeface="Calibri" pitchFamily="34" charset="0"/>
                <a:ea typeface="Calibri" pitchFamily="34" charset="-122"/>
                <a:cs typeface="Calibri" pitchFamily="34" charset="-120"/>
              </a:rPr>
              <a:t>?</a:t>
            </a:r>
            <a:endParaRPr lang="en-US" sz="3000" dirty="0"/>
          </a:p>
        </p:txBody>
      </p:sp>
      <p:sp>
        <p:nvSpPr>
          <p:cNvPr id="13" name="Text 11"/>
          <p:cNvSpPr txBox="1"/>
          <p:nvPr/>
        </p:nvSpPr>
        <p:spPr>
          <a:xfrm>
            <a:off x="640080" y="6217920"/>
            <a:ext cx="10881360" cy="320040"/>
          </a:xfrm>
          <a:prstGeom prst="rect">
            <a:avLst/>
          </a:prstGeom>
          <a:noFill/>
          <a:ln/>
        </p:spPr>
        <p:txBody>
          <a:bodyPr wrap="square" lIns="635" tIns="635" rIns="635" bIns="635" rtlCol="0" anchor="t"/>
          <a:lstStyle/>
          <a:p>
            <a:pPr indent="0" marL="0">
              <a:buNone/>
            </a:pPr>
            <a:r>
              <a:rPr lang="en-US" sz="1200" dirty="0">
                <a:solidFill>
                  <a:srgbClr val="9AA5AF"/>
                </a:solidFill>
                <a:latin typeface="Calibri" pitchFamily="34" charset="0"/>
                <a:ea typeface="Calibri" pitchFamily="34" charset="-122"/>
                <a:cs typeface="Calibri" pitchFamily="34" charset="-120"/>
              </a:rPr>
              <a:t>Team FourSight · EN.553.602 Research and Design in Mathematics · Midterm, October 2026 · content draft v0.4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The service and one request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Homewood-area Night Ride pools requests in shared vans. A dispatcher can move waiting riders to Lyft. We are studying when that transfer should happen.</a:t>
            </a:r>
            <a:endParaRPr lang="en-US" sz="1700" dirty="0"/>
          </a:p>
        </p:txBody>
      </p:sp>
      <p:sp>
        <p:nvSpPr>
          <p:cNvPr id="6" name="Text 3"/>
          <p:cNvSpPr txBox="1"/>
          <p:nvPr/>
        </p:nvSpPr>
        <p:spPr>
          <a:xfrm>
            <a:off x="457200" y="1481328"/>
            <a:ext cx="11247120" cy="274320"/>
          </a:xfrm>
          <a:prstGeom prst="rect">
            <a:avLst/>
          </a:prstGeom>
          <a:noFill/>
          <a:ln/>
        </p:spPr>
        <p:txBody>
          <a:bodyPr wrap="square" lIns="635" tIns="635" rIns="635" bIns="635" rtlCol="0" anchor="t"/>
          <a:lstStyle/>
          <a:p>
            <a:pPr indent="0" marL="0">
              <a:buNone/>
            </a:pPr>
            <a:r>
              <a:rPr lang="en-US" sz="1200" dirty="0">
                <a:solidFill>
                  <a:srgbClr val="5B6670"/>
                </a:solidFill>
                <a:latin typeface="Calibri" pitchFamily="34" charset="0"/>
                <a:ea typeface="Calibri" pitchFamily="34" charset="-122"/>
                <a:cs typeface="Calibri" pitchFamily="34" charset="-120"/>
              </a:rPr>
              <a:t>Area: Homewood Night Ride, including the Peabody area; East Baltimore excluded.</a:t>
            </a:r>
            <a:endParaRPr lang="en-US" sz="1200" dirty="0"/>
          </a:p>
        </p:txBody>
      </p:sp>
      <p:sp>
        <p:nvSpPr>
          <p:cNvPr id="7" name="Shape 4"/>
          <p:cNvSpPr/>
          <p:nvPr/>
        </p:nvSpPr>
        <p:spPr>
          <a:xfrm>
            <a:off x="457200" y="2148840"/>
            <a:ext cx="1874520" cy="685800"/>
          </a:xfrm>
          <a:prstGeom prst="roundRect">
            <a:avLst>
              <a:gd name="adj" fmla="val 9333"/>
            </a:avLst>
          </a:prstGeom>
          <a:solidFill>
            <a:srgbClr val="EEF1F4"/>
          </a:solidFill>
          <a:ln w="9525">
            <a:solidFill>
              <a:srgbClr val="EEF1F4"/>
            </a:solidFill>
            <a:prstDash val="solid"/>
          </a:ln>
        </p:spPr>
      </p:sp>
      <p:sp>
        <p:nvSpPr>
          <p:cNvPr id="8" name="Text 5"/>
          <p:cNvSpPr txBox="1"/>
          <p:nvPr/>
        </p:nvSpPr>
        <p:spPr>
          <a:xfrm>
            <a:off x="457200" y="2148840"/>
            <a:ext cx="1874520" cy="685800"/>
          </a:xfrm>
          <a:prstGeom prst="rect">
            <a:avLst/>
          </a:prstGeom>
          <a:noFill/>
          <a:ln/>
        </p:spPr>
        <p:txBody>
          <a:bodyPr wrap="square" lIns="635" tIns="635" rIns="635" bIns="635" rtlCol="0" anchor="ctr"/>
          <a:lstStyle/>
          <a:p>
            <a:pPr algn="ctr" indent="0" marL="0">
              <a:buNone/>
            </a:pPr>
            <a:r>
              <a:rPr lang="en-US" sz="1500" b="1" dirty="0">
                <a:solidFill>
                  <a:srgbClr val="1E2933"/>
                </a:solidFill>
                <a:latin typeface="Calibri" pitchFamily="34" charset="0"/>
                <a:ea typeface="Calibri" pitchFamily="34" charset="-122"/>
                <a:cs typeface="Calibri" pitchFamily="34" charset="-120"/>
              </a:rPr>
              <a:t>Request</a:t>
            </a:r>
            <a:endParaRPr lang="en-US" sz="1500" dirty="0"/>
          </a:p>
        </p:txBody>
      </p:sp>
      <p:sp>
        <p:nvSpPr>
          <p:cNvPr id="9" name="Shape 6"/>
          <p:cNvSpPr/>
          <p:nvPr/>
        </p:nvSpPr>
        <p:spPr>
          <a:xfrm>
            <a:off x="2350008" y="2487168"/>
            <a:ext cx="329184" cy="914"/>
          </a:xfrm>
          <a:prstGeom prst="line">
            <a:avLst/>
          </a:prstGeom>
          <a:noFill/>
          <a:ln w="19050">
            <a:solidFill>
              <a:srgbClr val="1E2933"/>
            </a:solidFill>
            <a:prstDash val="solid"/>
            <a:tailEnd type="triangle"/>
          </a:ln>
        </p:spPr>
      </p:sp>
      <p:sp>
        <p:nvSpPr>
          <p:cNvPr id="10" name="Shape 7"/>
          <p:cNvSpPr/>
          <p:nvPr/>
        </p:nvSpPr>
        <p:spPr>
          <a:xfrm>
            <a:off x="2697480" y="2148840"/>
            <a:ext cx="1874520" cy="685800"/>
          </a:xfrm>
          <a:prstGeom prst="roundRect">
            <a:avLst>
              <a:gd name="adj" fmla="val 9333"/>
            </a:avLst>
          </a:prstGeom>
          <a:solidFill>
            <a:srgbClr val="E8F1FB"/>
          </a:solidFill>
          <a:ln w="15875">
            <a:solidFill>
              <a:srgbClr val="2A78D6"/>
            </a:solidFill>
            <a:prstDash val="solid"/>
          </a:ln>
        </p:spPr>
      </p:sp>
      <p:sp>
        <p:nvSpPr>
          <p:cNvPr id="11" name="Text 8"/>
          <p:cNvSpPr txBox="1"/>
          <p:nvPr/>
        </p:nvSpPr>
        <p:spPr>
          <a:xfrm>
            <a:off x="2697480" y="2148840"/>
            <a:ext cx="1874520" cy="685800"/>
          </a:xfrm>
          <a:prstGeom prst="rect">
            <a:avLst/>
          </a:prstGeom>
          <a:noFill/>
          <a:ln/>
        </p:spPr>
        <p:txBody>
          <a:bodyPr wrap="square" lIns="635" tIns="635" rIns="635" bIns="635" rtlCol="0" anchor="ctr"/>
          <a:lstStyle/>
          <a:p>
            <a:pPr algn="ctr" indent="0" marL="0">
              <a:buNone/>
            </a:pPr>
            <a:r>
              <a:rPr lang="en-US" sz="1500" b="1" dirty="0">
                <a:solidFill>
                  <a:srgbClr val="1E2933"/>
                </a:solidFill>
                <a:latin typeface="Calibri" pitchFamily="34" charset="0"/>
                <a:ea typeface="Calibri" pitchFamily="34" charset="-122"/>
                <a:cs typeface="Calibri" pitchFamily="34" charset="-120"/>
              </a:rPr>
              <a:t>Wait</a:t>
            </a:r>
            <a:endParaRPr lang="en-US" sz="1500" dirty="0"/>
          </a:p>
        </p:txBody>
      </p:sp>
      <p:sp>
        <p:nvSpPr>
          <p:cNvPr id="12" name="Shape 9"/>
          <p:cNvSpPr/>
          <p:nvPr/>
        </p:nvSpPr>
        <p:spPr>
          <a:xfrm>
            <a:off x="4590288" y="2487168"/>
            <a:ext cx="329184" cy="914"/>
          </a:xfrm>
          <a:prstGeom prst="line">
            <a:avLst/>
          </a:prstGeom>
          <a:noFill/>
          <a:ln w="19050">
            <a:solidFill>
              <a:srgbClr val="1E2933"/>
            </a:solidFill>
            <a:prstDash val="solid"/>
            <a:tailEnd type="triangle"/>
          </a:ln>
        </p:spPr>
      </p:sp>
      <p:sp>
        <p:nvSpPr>
          <p:cNvPr id="13" name="Shape 10"/>
          <p:cNvSpPr/>
          <p:nvPr/>
        </p:nvSpPr>
        <p:spPr>
          <a:xfrm>
            <a:off x="4937760" y="2148840"/>
            <a:ext cx="1874520" cy="685800"/>
          </a:xfrm>
          <a:prstGeom prst="roundRect">
            <a:avLst>
              <a:gd name="adj" fmla="val 9333"/>
            </a:avLst>
          </a:prstGeom>
          <a:solidFill>
            <a:srgbClr val="EEF1F4"/>
          </a:solidFill>
          <a:ln w="9525">
            <a:solidFill>
              <a:srgbClr val="EEF1F4"/>
            </a:solidFill>
            <a:prstDash val="solid"/>
          </a:ln>
        </p:spPr>
      </p:sp>
      <p:sp>
        <p:nvSpPr>
          <p:cNvPr id="14" name="Text 11"/>
          <p:cNvSpPr txBox="1"/>
          <p:nvPr/>
        </p:nvSpPr>
        <p:spPr>
          <a:xfrm>
            <a:off x="4937760" y="2148840"/>
            <a:ext cx="1874520" cy="685800"/>
          </a:xfrm>
          <a:prstGeom prst="rect">
            <a:avLst/>
          </a:prstGeom>
          <a:noFill/>
          <a:ln/>
        </p:spPr>
        <p:txBody>
          <a:bodyPr wrap="square" lIns="635" tIns="635" rIns="635" bIns="635" rtlCol="0" anchor="ctr"/>
          <a:lstStyle/>
          <a:p>
            <a:pPr algn="ctr" indent="0" marL="0">
              <a:buNone/>
            </a:pPr>
            <a:r>
              <a:rPr lang="en-US" sz="1500" b="1" dirty="0">
                <a:solidFill>
                  <a:srgbClr val="1E2933"/>
                </a:solidFill>
                <a:latin typeface="Calibri" pitchFamily="34" charset="0"/>
                <a:ea typeface="Calibri" pitchFamily="34" charset="-122"/>
                <a:cs typeface="Calibri" pitchFamily="34" charset="-120"/>
              </a:rPr>
              <a:t>Vehicle reaches curb</a:t>
            </a:r>
            <a:endParaRPr lang="en-US" sz="1500" dirty="0"/>
          </a:p>
        </p:txBody>
      </p:sp>
      <p:sp>
        <p:nvSpPr>
          <p:cNvPr id="15" name="Shape 12"/>
          <p:cNvSpPr/>
          <p:nvPr/>
        </p:nvSpPr>
        <p:spPr>
          <a:xfrm>
            <a:off x="6830568" y="2487168"/>
            <a:ext cx="329184" cy="914"/>
          </a:xfrm>
          <a:prstGeom prst="line">
            <a:avLst/>
          </a:prstGeom>
          <a:noFill/>
          <a:ln w="19050">
            <a:solidFill>
              <a:srgbClr val="1E2933"/>
            </a:solidFill>
            <a:prstDash val="solid"/>
            <a:tailEnd type="triangle"/>
          </a:ln>
        </p:spPr>
      </p:sp>
      <p:sp>
        <p:nvSpPr>
          <p:cNvPr id="16" name="Shape 13"/>
          <p:cNvSpPr/>
          <p:nvPr/>
        </p:nvSpPr>
        <p:spPr>
          <a:xfrm>
            <a:off x="7178040" y="2148840"/>
            <a:ext cx="1874520" cy="685800"/>
          </a:xfrm>
          <a:prstGeom prst="roundRect">
            <a:avLst>
              <a:gd name="adj" fmla="val 9333"/>
            </a:avLst>
          </a:prstGeom>
          <a:solidFill>
            <a:srgbClr val="EEF1F4"/>
          </a:solidFill>
          <a:ln w="9525">
            <a:solidFill>
              <a:srgbClr val="EEF1F4"/>
            </a:solidFill>
            <a:prstDash val="solid"/>
          </a:ln>
        </p:spPr>
      </p:sp>
      <p:sp>
        <p:nvSpPr>
          <p:cNvPr id="17" name="Text 14"/>
          <p:cNvSpPr txBox="1"/>
          <p:nvPr/>
        </p:nvSpPr>
        <p:spPr>
          <a:xfrm>
            <a:off x="7178040" y="2148840"/>
            <a:ext cx="1874520" cy="685800"/>
          </a:xfrm>
          <a:prstGeom prst="rect">
            <a:avLst/>
          </a:prstGeom>
          <a:noFill/>
          <a:ln/>
        </p:spPr>
        <p:txBody>
          <a:bodyPr wrap="square" lIns="635" tIns="635" rIns="635" bIns="635" rtlCol="0" anchor="ctr"/>
          <a:lstStyle/>
          <a:p>
            <a:pPr algn="ctr" indent="0" marL="0">
              <a:buNone/>
            </a:pPr>
            <a:r>
              <a:rPr lang="en-US" sz="1500" b="1" dirty="0">
                <a:solidFill>
                  <a:srgbClr val="1E2933"/>
                </a:solidFill>
                <a:latin typeface="Calibri" pitchFamily="34" charset="0"/>
                <a:ea typeface="Calibri" pitchFamily="34" charset="-122"/>
                <a:cs typeface="Calibri" pitchFamily="34" charset="-120"/>
              </a:rPr>
              <a:t>Boarding</a:t>
            </a:r>
            <a:endParaRPr lang="en-US" sz="1500" dirty="0"/>
          </a:p>
        </p:txBody>
      </p:sp>
      <p:sp>
        <p:nvSpPr>
          <p:cNvPr id="18" name="Shape 15"/>
          <p:cNvSpPr/>
          <p:nvPr/>
        </p:nvSpPr>
        <p:spPr>
          <a:xfrm>
            <a:off x="9070848" y="2487168"/>
            <a:ext cx="329184" cy="914"/>
          </a:xfrm>
          <a:prstGeom prst="line">
            <a:avLst/>
          </a:prstGeom>
          <a:noFill/>
          <a:ln w="19050">
            <a:solidFill>
              <a:srgbClr val="1E2933"/>
            </a:solidFill>
            <a:prstDash val="solid"/>
            <a:tailEnd type="triangle"/>
          </a:ln>
        </p:spPr>
      </p:sp>
      <p:sp>
        <p:nvSpPr>
          <p:cNvPr id="19" name="Shape 16"/>
          <p:cNvSpPr/>
          <p:nvPr/>
        </p:nvSpPr>
        <p:spPr>
          <a:xfrm>
            <a:off x="9418320" y="2148840"/>
            <a:ext cx="1874520" cy="685800"/>
          </a:xfrm>
          <a:prstGeom prst="roundRect">
            <a:avLst>
              <a:gd name="adj" fmla="val 9333"/>
            </a:avLst>
          </a:prstGeom>
          <a:solidFill>
            <a:srgbClr val="EEF1F4"/>
          </a:solidFill>
          <a:ln w="9525">
            <a:solidFill>
              <a:srgbClr val="EEF1F4"/>
            </a:solidFill>
            <a:prstDash val="solid"/>
          </a:ln>
        </p:spPr>
      </p:sp>
      <p:sp>
        <p:nvSpPr>
          <p:cNvPr id="20" name="Text 17"/>
          <p:cNvSpPr txBox="1"/>
          <p:nvPr/>
        </p:nvSpPr>
        <p:spPr>
          <a:xfrm>
            <a:off x="9418320" y="2148840"/>
            <a:ext cx="1874520" cy="685800"/>
          </a:xfrm>
          <a:prstGeom prst="rect">
            <a:avLst/>
          </a:prstGeom>
          <a:noFill/>
          <a:ln/>
        </p:spPr>
        <p:txBody>
          <a:bodyPr wrap="square" lIns="635" tIns="635" rIns="635" bIns="635" rtlCol="0" anchor="ctr"/>
          <a:lstStyle/>
          <a:p>
            <a:pPr algn="ctr" indent="0" marL="0">
              <a:buNone/>
            </a:pPr>
            <a:r>
              <a:rPr lang="en-US" sz="1500" b="1" dirty="0">
                <a:solidFill>
                  <a:srgbClr val="1E2933"/>
                </a:solidFill>
                <a:latin typeface="Calibri" pitchFamily="34" charset="0"/>
                <a:ea typeface="Calibri" pitchFamily="34" charset="-122"/>
                <a:cs typeface="Calibri" pitchFamily="34" charset="-120"/>
              </a:rPr>
              <a:t>Drop-off</a:t>
            </a:r>
            <a:endParaRPr lang="en-US" sz="1500" dirty="0"/>
          </a:p>
        </p:txBody>
      </p:sp>
      <p:sp>
        <p:nvSpPr>
          <p:cNvPr id="21" name="Shape 18"/>
          <p:cNvSpPr/>
          <p:nvPr/>
        </p:nvSpPr>
        <p:spPr>
          <a:xfrm>
            <a:off x="3630168" y="2852928"/>
            <a:ext cx="914" cy="438912"/>
          </a:xfrm>
          <a:prstGeom prst="line">
            <a:avLst/>
          </a:prstGeom>
          <a:noFill/>
          <a:ln w="19050">
            <a:solidFill>
              <a:srgbClr val="EB6834"/>
            </a:solidFill>
            <a:prstDash val="solid"/>
            <a:tailEnd type="triangle"/>
          </a:ln>
        </p:spPr>
      </p:sp>
      <p:sp>
        <p:nvSpPr>
          <p:cNvPr id="22" name="Shape 19"/>
          <p:cNvSpPr/>
          <p:nvPr/>
        </p:nvSpPr>
        <p:spPr>
          <a:xfrm>
            <a:off x="2743200" y="3310128"/>
            <a:ext cx="1783080" cy="502920"/>
          </a:xfrm>
          <a:prstGeom prst="roundRect">
            <a:avLst>
              <a:gd name="adj" fmla="val 12727"/>
            </a:avLst>
          </a:prstGeom>
          <a:solidFill>
            <a:srgbClr val="FFF4EC"/>
          </a:solidFill>
          <a:ln w="9525">
            <a:solidFill>
              <a:srgbClr val="FFF4EC"/>
            </a:solidFill>
            <a:prstDash val="solid"/>
          </a:ln>
        </p:spPr>
      </p:sp>
      <p:sp>
        <p:nvSpPr>
          <p:cNvPr id="23" name="Text 20"/>
          <p:cNvSpPr txBox="1"/>
          <p:nvPr/>
        </p:nvSpPr>
        <p:spPr>
          <a:xfrm>
            <a:off x="2743200" y="3310128"/>
            <a:ext cx="1783080" cy="502920"/>
          </a:xfrm>
          <a:prstGeom prst="rect">
            <a:avLst/>
          </a:prstGeom>
          <a:noFill/>
          <a:ln/>
        </p:spPr>
        <p:txBody>
          <a:bodyPr wrap="square" lIns="635" tIns="635" rIns="635" bIns="635" rtlCol="0" anchor="ctr"/>
          <a:lstStyle/>
          <a:p>
            <a:pPr algn="ctr" indent="0" marL="0">
              <a:buNone/>
            </a:pPr>
            <a:r>
              <a:rPr lang="en-US" sz="1150" dirty="0">
                <a:solidFill>
                  <a:srgbClr val="1E2933"/>
                </a:solidFill>
                <a:latin typeface="Calibri" pitchFamily="34" charset="0"/>
                <a:ea typeface="Calibri" pitchFamily="34" charset="-122"/>
                <a:cs typeface="Calibri" pitchFamily="34" charset="-120"/>
              </a:rPr>
              <a:t>Cancellation: rider gives up</a:t>
            </a:r>
            <a:endParaRPr lang="en-US" sz="1150" dirty="0"/>
          </a:p>
        </p:txBody>
      </p:sp>
      <p:sp>
        <p:nvSpPr>
          <p:cNvPr id="24" name="Shape 21"/>
          <p:cNvSpPr/>
          <p:nvPr/>
        </p:nvSpPr>
        <p:spPr>
          <a:xfrm>
            <a:off x="5870448" y="2852928"/>
            <a:ext cx="914" cy="438912"/>
          </a:xfrm>
          <a:prstGeom prst="line">
            <a:avLst/>
          </a:prstGeom>
          <a:noFill/>
          <a:ln w="19050">
            <a:solidFill>
              <a:srgbClr val="EB6834"/>
            </a:solidFill>
            <a:prstDash val="solid"/>
            <a:tailEnd type="triangle"/>
          </a:ln>
        </p:spPr>
      </p:sp>
      <p:sp>
        <p:nvSpPr>
          <p:cNvPr id="25" name="Shape 22"/>
          <p:cNvSpPr/>
          <p:nvPr/>
        </p:nvSpPr>
        <p:spPr>
          <a:xfrm>
            <a:off x="4983480" y="3310128"/>
            <a:ext cx="1783080" cy="502920"/>
          </a:xfrm>
          <a:prstGeom prst="roundRect">
            <a:avLst>
              <a:gd name="adj" fmla="val 12727"/>
            </a:avLst>
          </a:prstGeom>
          <a:solidFill>
            <a:srgbClr val="FFF4EC"/>
          </a:solidFill>
          <a:ln w="9525">
            <a:solidFill>
              <a:srgbClr val="FFF4EC"/>
            </a:solidFill>
            <a:prstDash val="solid"/>
          </a:ln>
        </p:spPr>
      </p:sp>
      <p:sp>
        <p:nvSpPr>
          <p:cNvPr id="26" name="Text 23"/>
          <p:cNvSpPr txBox="1"/>
          <p:nvPr/>
        </p:nvSpPr>
        <p:spPr>
          <a:xfrm>
            <a:off x="4983480" y="3310128"/>
            <a:ext cx="1783080" cy="502920"/>
          </a:xfrm>
          <a:prstGeom prst="rect">
            <a:avLst/>
          </a:prstGeom>
          <a:noFill/>
          <a:ln/>
        </p:spPr>
        <p:txBody>
          <a:bodyPr wrap="square" lIns="635" tIns="635" rIns="635" bIns="635" rtlCol="0" anchor="ctr"/>
          <a:lstStyle/>
          <a:p>
            <a:pPr algn="ctr" indent="0" marL="0">
              <a:buNone/>
            </a:pPr>
            <a:r>
              <a:rPr lang="en-US" sz="1150" dirty="0">
                <a:solidFill>
                  <a:srgbClr val="1E2933"/>
                </a:solidFill>
                <a:latin typeface="Calibri" pitchFamily="34" charset="0"/>
                <a:ea typeface="Calibri" pitchFamily="34" charset="-122"/>
                <a:cs typeface="Calibri" pitchFamily="34" charset="-120"/>
              </a:rPr>
              <a:t>No-show: absent after a 3-min curb wait</a:t>
            </a:r>
            <a:endParaRPr lang="en-US" sz="1150" dirty="0"/>
          </a:p>
        </p:txBody>
      </p:sp>
      <p:sp>
        <p:nvSpPr>
          <p:cNvPr id="27" name="Shape 24"/>
          <p:cNvSpPr/>
          <p:nvPr/>
        </p:nvSpPr>
        <p:spPr>
          <a:xfrm flipV="1">
            <a:off x="3630168" y="1810512"/>
            <a:ext cx="914" cy="320040"/>
          </a:xfrm>
          <a:prstGeom prst="line">
            <a:avLst/>
          </a:prstGeom>
          <a:noFill/>
          <a:ln w="19050">
            <a:solidFill>
              <a:srgbClr val="EB6834"/>
            </a:solidFill>
            <a:prstDash val="dash"/>
            <a:tailEnd type="triangle"/>
          </a:ln>
        </p:spPr>
      </p:sp>
      <p:sp>
        <p:nvSpPr>
          <p:cNvPr id="28" name="Text 25"/>
          <p:cNvSpPr txBox="1"/>
          <p:nvPr/>
        </p:nvSpPr>
        <p:spPr>
          <a:xfrm>
            <a:off x="3703320" y="1755648"/>
            <a:ext cx="5943600" cy="292608"/>
          </a:xfrm>
          <a:prstGeom prst="rect">
            <a:avLst/>
          </a:prstGeom>
          <a:noFill/>
          <a:ln/>
        </p:spPr>
        <p:txBody>
          <a:bodyPr wrap="square" lIns="635" tIns="635" rIns="635" bIns="635" rtlCol="0" anchor="t"/>
          <a:lstStyle/>
          <a:p>
            <a:pPr indent="0" marL="0">
              <a:buNone/>
            </a:pPr>
            <a:r>
              <a:rPr lang="en-US" sz="1150" i="1" dirty="0">
                <a:solidFill>
                  <a:srgbClr val="EB6834"/>
                </a:solidFill>
                <a:latin typeface="Calibri" pitchFamily="34" charset="0"/>
                <a:ea typeface="Calibri" pitchFamily="34" charset="-122"/>
                <a:cs typeface="Calibri" pitchFamily="34" charset="-120"/>
              </a:rPr>
              <a:t>transfer → a separate Lyft order; the rider can still cancel or be absent</a:t>
            </a:r>
            <a:endParaRPr lang="en-US" sz="1150" dirty="0"/>
          </a:p>
        </p:txBody>
      </p:sp>
      <p:sp>
        <p:nvSpPr>
          <p:cNvPr id="29" name="Shape 26"/>
          <p:cNvSpPr/>
          <p:nvPr/>
        </p:nvSpPr>
        <p:spPr>
          <a:xfrm>
            <a:off x="457200" y="4251960"/>
            <a:ext cx="2697480" cy="1234440"/>
          </a:xfrm>
          <a:prstGeom prst="roundRect">
            <a:avLst>
              <a:gd name="adj" fmla="val 5185"/>
            </a:avLst>
          </a:prstGeom>
          <a:solidFill>
            <a:srgbClr val="FFFFFF"/>
          </a:solidFill>
          <a:ln w="15875">
            <a:solidFill>
              <a:srgbClr val="D5DADF"/>
            </a:solidFill>
            <a:prstDash val="solid"/>
          </a:ln>
        </p:spPr>
      </p:sp>
      <p:sp>
        <p:nvSpPr>
          <p:cNvPr id="30" name="Text 27"/>
          <p:cNvSpPr txBox="1"/>
          <p:nvPr/>
        </p:nvSpPr>
        <p:spPr>
          <a:xfrm>
            <a:off x="566928" y="4315968"/>
            <a:ext cx="2514600" cy="1115568"/>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Booking</a:t>
            </a:r>
            <a:endParaRPr lang="en-US" sz="1600" dirty="0"/>
          </a:p>
          <a:p>
            <a:pPr indent="0" marL="0">
              <a:buNone/>
            </a:pPr>
            <a:r>
              <a:rPr lang="en-US" sz="1350" dirty="0">
                <a:solidFill>
                  <a:srgbClr val="5B6670"/>
                </a:solidFill>
                <a:latin typeface="Calibri" pitchFamily="34" charset="0"/>
                <a:ea typeface="Calibri" pitchFamily="34" charset="-122"/>
                <a:cs typeface="Calibri" pitchFamily="34" charset="-120"/>
              </a:rPr>
              <a:t>one Night Ride request, possibly with several passengers</a:t>
            </a:r>
            <a:endParaRPr lang="en-US" sz="1600" dirty="0"/>
          </a:p>
        </p:txBody>
      </p:sp>
      <p:sp>
        <p:nvSpPr>
          <p:cNvPr id="31" name="Shape 28"/>
          <p:cNvSpPr/>
          <p:nvPr/>
        </p:nvSpPr>
        <p:spPr>
          <a:xfrm>
            <a:off x="3291840" y="4251960"/>
            <a:ext cx="2697480" cy="1234440"/>
          </a:xfrm>
          <a:prstGeom prst="roundRect">
            <a:avLst>
              <a:gd name="adj" fmla="val 5185"/>
            </a:avLst>
          </a:prstGeom>
          <a:solidFill>
            <a:srgbClr val="FFFFFF"/>
          </a:solidFill>
          <a:ln w="15875">
            <a:solidFill>
              <a:srgbClr val="D5DADF"/>
            </a:solidFill>
            <a:prstDash val="solid"/>
          </a:ln>
        </p:spPr>
      </p:sp>
      <p:sp>
        <p:nvSpPr>
          <p:cNvPr id="32" name="Text 29"/>
          <p:cNvSpPr txBox="1"/>
          <p:nvPr/>
        </p:nvSpPr>
        <p:spPr>
          <a:xfrm>
            <a:off x="3401568" y="4315968"/>
            <a:ext cx="2514600" cy="1115568"/>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Lyft order</a:t>
            </a:r>
            <a:endParaRPr lang="en-US" sz="1600" dirty="0"/>
          </a:p>
          <a:p>
            <a:pPr indent="0" marL="0">
              <a:buNone/>
            </a:pPr>
            <a:r>
              <a:rPr lang="en-US" sz="1350" dirty="0">
                <a:solidFill>
                  <a:srgbClr val="5B6670"/>
                </a:solidFill>
                <a:latin typeface="Calibri" pitchFamily="34" charset="0"/>
                <a:ea typeface="Calibri" pitchFamily="34" charset="-122"/>
                <a:cs typeface="Calibri" pitchFamily="34" charset="-120"/>
              </a:rPr>
              <a:t>a separate order placed after a transfer decision</a:t>
            </a:r>
            <a:endParaRPr lang="en-US" sz="1600" dirty="0"/>
          </a:p>
        </p:txBody>
      </p:sp>
      <p:sp>
        <p:nvSpPr>
          <p:cNvPr id="33" name="Shape 30"/>
          <p:cNvSpPr/>
          <p:nvPr/>
        </p:nvSpPr>
        <p:spPr>
          <a:xfrm>
            <a:off x="6126480" y="4251960"/>
            <a:ext cx="2697480" cy="1234440"/>
          </a:xfrm>
          <a:prstGeom prst="roundRect">
            <a:avLst>
              <a:gd name="adj" fmla="val 5185"/>
            </a:avLst>
          </a:prstGeom>
          <a:solidFill>
            <a:srgbClr val="FFFFFF"/>
          </a:solidFill>
          <a:ln w="15875">
            <a:solidFill>
              <a:srgbClr val="D5DADF"/>
            </a:solidFill>
            <a:prstDash val="solid"/>
          </a:ln>
        </p:spPr>
      </p:sp>
      <p:sp>
        <p:nvSpPr>
          <p:cNvPr id="34" name="Text 31"/>
          <p:cNvSpPr txBox="1"/>
          <p:nvPr/>
        </p:nvSpPr>
        <p:spPr>
          <a:xfrm>
            <a:off x="6236208" y="4315968"/>
            <a:ext cx="2514600" cy="1115568"/>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Curb arrival</a:t>
            </a:r>
            <a:endParaRPr lang="en-US" sz="1600" dirty="0"/>
          </a:p>
          <a:p>
            <a:pPr indent="0" marL="0">
              <a:buNone/>
            </a:pPr>
            <a:r>
              <a:rPr lang="en-US" sz="1350" dirty="0">
                <a:solidFill>
                  <a:srgbClr val="5B6670"/>
                </a:solidFill>
                <a:latin typeface="Calibri" pitchFamily="34" charset="0"/>
                <a:ea typeface="Calibri" pitchFamily="34" charset="-122"/>
                <a:cs typeface="Calibri" pitchFamily="34" charset="-120"/>
              </a:rPr>
              <a:t>the vehicle reaches the pickup location</a:t>
            </a:r>
            <a:endParaRPr lang="en-US" sz="1600" dirty="0"/>
          </a:p>
        </p:txBody>
      </p:sp>
      <p:sp>
        <p:nvSpPr>
          <p:cNvPr id="35" name="Shape 32"/>
          <p:cNvSpPr/>
          <p:nvPr/>
        </p:nvSpPr>
        <p:spPr>
          <a:xfrm>
            <a:off x="8961120" y="4251960"/>
            <a:ext cx="2697480" cy="1234440"/>
          </a:xfrm>
          <a:prstGeom prst="roundRect">
            <a:avLst>
              <a:gd name="adj" fmla="val 5185"/>
            </a:avLst>
          </a:prstGeom>
          <a:solidFill>
            <a:srgbClr val="FFFFFF"/>
          </a:solidFill>
          <a:ln w="15875">
            <a:solidFill>
              <a:srgbClr val="D5DADF"/>
            </a:solidFill>
            <a:prstDash val="solid"/>
          </a:ln>
        </p:spPr>
      </p:sp>
      <p:sp>
        <p:nvSpPr>
          <p:cNvPr id="36" name="Text 33"/>
          <p:cNvSpPr txBox="1"/>
          <p:nvPr/>
        </p:nvSpPr>
        <p:spPr>
          <a:xfrm>
            <a:off x="9070848" y="4315968"/>
            <a:ext cx="2514600" cy="1115568"/>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Pickup</a:t>
            </a:r>
            <a:endParaRPr lang="en-US" sz="1600" dirty="0"/>
          </a:p>
          <a:p>
            <a:pPr indent="0" marL="0">
              <a:buNone/>
            </a:pPr>
            <a:r>
              <a:rPr lang="en-US" sz="1350" dirty="0">
                <a:solidFill>
                  <a:srgbClr val="5B6670"/>
                </a:solidFill>
                <a:latin typeface="Calibri" pitchFamily="34" charset="0"/>
                <a:ea typeface="Calibri" pitchFamily="34" charset="-122"/>
                <a:cs typeface="Calibri" pitchFamily="34" charset="-120"/>
              </a:rPr>
              <a:t>the rider boards</a:t>
            </a:r>
            <a:endParaRPr lang="en-US" sz="1600" dirty="0"/>
          </a:p>
        </p:txBody>
      </p:sp>
      <p:sp>
        <p:nvSpPr>
          <p:cNvPr id="37" name="Text 34"/>
          <p:cNvSpPr txBox="1"/>
          <p:nvPr/>
        </p:nvSpPr>
        <p:spPr>
          <a:xfrm>
            <a:off x="457200" y="5669280"/>
            <a:ext cx="11247120" cy="457200"/>
          </a:xfrm>
          <a:prstGeom prst="rect">
            <a:avLst/>
          </a:prstGeom>
          <a:noFill/>
          <a:ln/>
        </p:spPr>
        <p:txBody>
          <a:bodyPr wrap="square" lIns="635" tIns="635" rIns="635" bIns="635" rtlCol="0" anchor="t"/>
          <a:lstStyle/>
          <a:p>
            <a:pPr indent="0" marL="0">
              <a:buNone/>
            </a:pPr>
            <a:r>
              <a:rPr lang="en-US" sz="1350" dirty="0">
                <a:solidFill>
                  <a:srgbClr val="5B6670"/>
                </a:solidFill>
                <a:latin typeface="Calibri" pitchFamily="34" charset="0"/>
                <a:ea typeface="Calibri" pitchFamily="34" charset="-122"/>
                <a:cs typeface="Calibri" pitchFamily="34" charset="-120"/>
              </a:rPr>
              <a:t>Waiting time runs from the request to curb arrival. Each Lyft order is an extra trip Hopkins pays for (its cost is unknown to us), so moving riders to Lyft has a price.</a:t>
            </a:r>
            <a:endParaRPr lang="en-US" sz="1350" dirty="0"/>
          </a:p>
        </p:txBody>
      </p:sp>
      <p:sp>
        <p:nvSpPr>
          <p:cNvPr id="38" name="Text 35"/>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docs/technical/decision_log.md D-23, D-27; scenario_spec.md v0.8 §5–§6; JHU Night Ride page (3-min curb wait).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Where we started</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a:t>
            </a:r>
            <a:endParaRPr lang="en-US" sz="1000" dirty="0"/>
          </a:p>
        </p:txBody>
      </p:sp>
      <p:pic>
        <p:nvPicPr>
          <p:cNvPr id="5" name="Image 0" descr="/Users/vigneshrbabu/Documents/Git/bluejay-night-ride-optimizer/docs/presentations/midterm/v0.4/figures/proposal_slide10.png">    </p:cNvPr>
          <p:cNvPicPr>
            <a:picLocks noChangeAspect="1"/>
          </p:cNvPicPr>
          <p:nvPr/>
        </p:nvPicPr>
        <p:blipFill>
          <a:blip r:embed="rId1"/>
          <a:stretch>
            <a:fillRect/>
          </a:stretch>
        </p:blipFill>
        <p:spPr>
          <a:xfrm>
            <a:off x="457200" y="1325880"/>
            <a:ext cx="5486400" cy="3085399"/>
          </a:xfrm>
          <a:prstGeom prst="rect">
            <a:avLst/>
          </a:prstGeom>
        </p:spPr>
      </p:pic>
      <p:sp>
        <p:nvSpPr>
          <p:cNvPr id="6" name="Shape 2"/>
          <p:cNvSpPr/>
          <p:nvPr/>
        </p:nvSpPr>
        <p:spPr>
          <a:xfrm>
            <a:off x="457200" y="1325880"/>
            <a:ext cx="5486400" cy="3085399"/>
          </a:xfrm>
          <a:prstGeom prst="rect">
            <a:avLst/>
          </a:prstGeom>
          <a:ln w="19050">
            <a:solidFill>
              <a:srgbClr val="C9A227"/>
            </a:solidFill>
            <a:prstDash val="solid"/>
          </a:ln>
        </p:spPr>
      </p:sp>
      <p:sp>
        <p:nvSpPr>
          <p:cNvPr id="7" name="evidence-ORIGINAL PROPOSAL"/>
          <p:cNvSpPr/>
          <p:nvPr/>
        </p:nvSpPr>
        <p:spPr>
          <a:xfrm>
            <a:off x="457200" y="1005840"/>
            <a:ext cx="1828800" cy="256032"/>
          </a:xfrm>
          <a:prstGeom prst="roundRect">
            <a:avLst>
              <a:gd name="adj" fmla="val 50000"/>
            </a:avLst>
          </a:prstGeom>
          <a:solidFill>
            <a:srgbClr val="FFF1C9"/>
          </a:solidFill>
          <a:ln w="12700">
            <a:solidFill>
              <a:srgbClr val="FFF1C9"/>
            </a:solidFill>
            <a:prstDash val="solid"/>
          </a:ln>
        </p:spPr>
      </p:sp>
      <p:sp>
        <p:nvSpPr>
          <p:cNvPr id="8" name="Text 4"/>
          <p:cNvSpPr txBox="1"/>
          <p:nvPr/>
        </p:nvSpPr>
        <p:spPr>
          <a:xfrm>
            <a:off x="457200" y="1005840"/>
            <a:ext cx="1828800" cy="256032"/>
          </a:xfrm>
          <a:prstGeom prst="rect">
            <a:avLst/>
          </a:prstGeom>
          <a:noFill/>
          <a:ln/>
        </p:spPr>
        <p:txBody>
          <a:bodyPr wrap="square" lIns="0" tIns="0" rIns="0" bIns="0" rtlCol="0" anchor="ctr"/>
          <a:lstStyle/>
          <a:p>
            <a:pPr algn="ctr" indent="0" marL="0">
              <a:buNone/>
            </a:pPr>
            <a:r>
              <a:rPr lang="en-US" sz="950" b="1" dirty="0">
                <a:solidFill>
                  <a:srgbClr val="6B4E00"/>
                </a:solidFill>
                <a:latin typeface="Calibri" pitchFamily="34" charset="0"/>
                <a:ea typeface="Calibri" pitchFamily="34" charset="-122"/>
                <a:cs typeface="Calibri" pitchFamily="34" charset="-120"/>
              </a:rPr>
              <a:t>ORIGINAL PROPOSAL</a:t>
            </a:r>
            <a:endParaRPr lang="en-US" sz="950" dirty="0"/>
          </a:p>
        </p:txBody>
      </p:sp>
      <p:pic>
        <p:nvPicPr>
          <p:cNvPr id="9" name="Image 1" descr="/Users/vigneshrbabu/Documents/Git/bluejay-night-ride-optimizer/docs/presentations/midterm/v0.4/figures/proposal_slide11.png">    </p:cNvPr>
          <p:cNvPicPr>
            <a:picLocks noChangeAspect="1"/>
          </p:cNvPicPr>
          <p:nvPr/>
        </p:nvPicPr>
        <p:blipFill>
          <a:blip r:embed="rId2"/>
          <a:stretch>
            <a:fillRect/>
          </a:stretch>
        </p:blipFill>
        <p:spPr>
          <a:xfrm>
            <a:off x="6245352" y="1325880"/>
            <a:ext cx="5486400" cy="3085399"/>
          </a:xfrm>
          <a:prstGeom prst="rect">
            <a:avLst/>
          </a:prstGeom>
        </p:spPr>
      </p:pic>
      <p:sp>
        <p:nvSpPr>
          <p:cNvPr id="10" name="Shape 5"/>
          <p:cNvSpPr/>
          <p:nvPr/>
        </p:nvSpPr>
        <p:spPr>
          <a:xfrm>
            <a:off x="6245352" y="1325880"/>
            <a:ext cx="5486400" cy="3085399"/>
          </a:xfrm>
          <a:prstGeom prst="rect">
            <a:avLst/>
          </a:prstGeom>
          <a:ln w="19050">
            <a:solidFill>
              <a:srgbClr val="C9A227"/>
            </a:solidFill>
            <a:prstDash val="solid"/>
          </a:ln>
        </p:spPr>
      </p:sp>
      <p:sp>
        <p:nvSpPr>
          <p:cNvPr id="11" name="evidence-ORIGINAL PROPOSAL"/>
          <p:cNvSpPr/>
          <p:nvPr/>
        </p:nvSpPr>
        <p:spPr>
          <a:xfrm>
            <a:off x="6245352" y="1005840"/>
            <a:ext cx="1828800" cy="256032"/>
          </a:xfrm>
          <a:prstGeom prst="roundRect">
            <a:avLst>
              <a:gd name="adj" fmla="val 50000"/>
            </a:avLst>
          </a:prstGeom>
          <a:solidFill>
            <a:srgbClr val="FFF1C9"/>
          </a:solidFill>
          <a:ln w="12700">
            <a:solidFill>
              <a:srgbClr val="FFF1C9"/>
            </a:solidFill>
            <a:prstDash val="solid"/>
          </a:ln>
        </p:spPr>
      </p:sp>
      <p:sp>
        <p:nvSpPr>
          <p:cNvPr id="12" name="Text 7"/>
          <p:cNvSpPr txBox="1"/>
          <p:nvPr/>
        </p:nvSpPr>
        <p:spPr>
          <a:xfrm>
            <a:off x="6245352" y="1005840"/>
            <a:ext cx="1828800" cy="256032"/>
          </a:xfrm>
          <a:prstGeom prst="rect">
            <a:avLst/>
          </a:prstGeom>
          <a:noFill/>
          <a:ln/>
        </p:spPr>
        <p:txBody>
          <a:bodyPr wrap="square" lIns="0" tIns="0" rIns="0" bIns="0" rtlCol="0" anchor="ctr"/>
          <a:lstStyle/>
          <a:p>
            <a:pPr algn="ctr" indent="0" marL="0">
              <a:buNone/>
            </a:pPr>
            <a:r>
              <a:rPr lang="en-US" sz="950" b="1" dirty="0">
                <a:solidFill>
                  <a:srgbClr val="6B4E00"/>
                </a:solidFill>
                <a:latin typeface="Calibri" pitchFamily="34" charset="0"/>
                <a:ea typeface="Calibri" pitchFamily="34" charset="-122"/>
                <a:cs typeface="Calibri" pitchFamily="34" charset="-120"/>
              </a:rPr>
              <a:t>ORIGINAL PROPOSAL</a:t>
            </a:r>
            <a:endParaRPr lang="en-US" sz="950" dirty="0"/>
          </a:p>
        </p:txBody>
      </p:sp>
      <p:sp>
        <p:nvSpPr>
          <p:cNvPr id="13" name="Text 8"/>
          <p:cNvSpPr txBox="1"/>
          <p:nvPr/>
        </p:nvSpPr>
        <p:spPr>
          <a:xfrm>
            <a:off x="457200" y="4456999"/>
            <a:ext cx="5486400" cy="502920"/>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Original proposal, slide 10: trip-level extracts were expected, to replay actual service nights</a:t>
            </a:r>
            <a:endParaRPr lang="en-US" sz="1300" dirty="0"/>
          </a:p>
        </p:txBody>
      </p:sp>
      <p:sp>
        <p:nvSpPr>
          <p:cNvPr id="14" name="Text 9"/>
          <p:cNvSpPr txBox="1"/>
          <p:nvPr/>
        </p:nvSpPr>
        <p:spPr>
          <a:xfrm>
            <a:off x="6245352" y="4456999"/>
            <a:ext cx="5486400" cy="502920"/>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Original proposal, slide 11: compare heuristics, a rolling-horizon MILP and a hybrid on the same request stream</a:t>
            </a:r>
            <a:endParaRPr lang="en-US" sz="1300" dirty="0"/>
          </a:p>
        </p:txBody>
      </p:sp>
      <p:sp>
        <p:nvSpPr>
          <p:cNvPr id="15" name="Shape 10"/>
          <p:cNvSpPr/>
          <p:nvPr/>
        </p:nvSpPr>
        <p:spPr>
          <a:xfrm>
            <a:off x="457200" y="5120640"/>
            <a:ext cx="11274552" cy="1005840"/>
          </a:xfrm>
          <a:prstGeom prst="roundRect">
            <a:avLst>
              <a:gd name="adj" fmla="val 6364"/>
            </a:avLst>
          </a:prstGeom>
          <a:solidFill>
            <a:srgbClr val="FFF4EC"/>
          </a:solidFill>
          <a:ln w="9525">
            <a:solidFill>
              <a:srgbClr val="FFF4EC"/>
            </a:solidFill>
            <a:prstDash val="solid"/>
          </a:ln>
        </p:spPr>
      </p:sp>
      <p:sp>
        <p:nvSpPr>
          <p:cNvPr id="16" name="Text 11"/>
          <p:cNvSpPr txBox="1"/>
          <p:nvPr/>
        </p:nvSpPr>
        <p:spPr>
          <a:xfrm>
            <a:off x="640080" y="5166360"/>
            <a:ext cx="10881360" cy="914400"/>
          </a:xfrm>
          <a:prstGeom prst="rect">
            <a:avLst/>
          </a:prstGeom>
          <a:noFill/>
          <a:ln/>
        </p:spPr>
        <p:txBody>
          <a:bodyPr wrap="square" lIns="635" tIns="635" rIns="635" bIns="635" rtlCol="0" anchor="ctr"/>
          <a:lstStyle/>
          <a:p>
            <a:pPr indent="0" marL="0">
              <a:buNone/>
            </a:pPr>
            <a:r>
              <a:rPr lang="en-US" sz="1500" b="1" dirty="0">
                <a:solidFill>
                  <a:srgbClr val="1E2933"/>
                </a:solidFill>
                <a:latin typeface="Calibri" pitchFamily="34" charset="0"/>
                <a:ea typeface="Calibri" pitchFamily="34" charset="-122"/>
                <a:cs typeface="Calibri" pitchFamily="34" charset="-120"/>
              </a:rPr>
              <a:t>What changed: </a:t>
            </a:r>
            <a:pPr indent="0" marL="0">
              <a:buNone/>
            </a:pPr>
            <a:r>
              <a:rPr lang="en-US" sz="1500" dirty="0">
                <a:solidFill>
                  <a:srgbClr val="1E2933"/>
                </a:solidFill>
                <a:latin typeface="Calibri" pitchFamily="34" charset="0"/>
                <a:ea typeface="Calibri" pitchFamily="34" charset="-122"/>
                <a:cs typeface="Calibri" pitchFamily="34" charset="-120"/>
              </a:rPr>
              <a:t>the trip-level extracts never arrived, so real nights could not be replayed. The data we have are April's aggregate dashboards. We also narrowed the question (next slides).</a:t>
            </a:r>
            <a:endParaRPr lang="en-US" sz="1500" dirty="0"/>
          </a:p>
        </p:txBody>
      </p:sp>
      <p:sp>
        <p:nvSpPr>
          <p:cNvPr id="17" name="Text 12"/>
          <p:cNvSpPr txBox="1"/>
          <p:nvPr/>
        </p:nvSpPr>
        <p:spPr>
          <a:xfrm>
            <a:off x="8961120" y="6400800"/>
            <a:ext cx="2103120" cy="274320"/>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3" action="ppaction://hlinksldjump" tooltip="Go to slide 38">
                  <a:extLst>
                    <a:ext uri="{A12FA001-AC4F-418D-AE19-62706E023703}">
                      <ahyp:hlinkClr xmlns:ahyp="http://schemas.microsoft.com/office/drawing/2018/hyperlinkcolor" val="tx"/>
                    </a:ext>
                  </a:extLst>
                </a:hlinkClick>
              </a:rPr>
              <a:t>All proposal corrections: B9 →</a:t>
            </a:r>
            <a:endParaRPr lang="en-US" sz="1000" dirty="0"/>
          </a:p>
        </p:txBody>
      </p:sp>
      <p:sp>
        <p:nvSpPr>
          <p:cNvPr id="18" name="Text 1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BlueJayNightRide_Proposal.pptx (September, committed version), slides 10–11.</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Where we started: numbers we later corrected</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4</a:t>
            </a:r>
            <a:endParaRPr lang="en-US" sz="1000" dirty="0"/>
          </a:p>
        </p:txBody>
      </p:sp>
      <p:pic>
        <p:nvPicPr>
          <p:cNvPr id="5" name="Image 0" descr="/Users/vigneshrbabu/Documents/Git/bluejay-night-ride-optimizer/docs/presentations/midterm/v0.4/figures/proposal_slide07.png">    </p:cNvPr>
          <p:cNvPicPr>
            <a:picLocks noChangeAspect="1"/>
          </p:cNvPicPr>
          <p:nvPr/>
        </p:nvPicPr>
        <p:blipFill>
          <a:blip r:embed="rId1"/>
          <a:stretch>
            <a:fillRect/>
          </a:stretch>
        </p:blipFill>
        <p:spPr>
          <a:xfrm>
            <a:off x="457200" y="1325880"/>
            <a:ext cx="5486400" cy="3085399"/>
          </a:xfrm>
          <a:prstGeom prst="rect">
            <a:avLst/>
          </a:prstGeom>
        </p:spPr>
      </p:pic>
      <p:sp>
        <p:nvSpPr>
          <p:cNvPr id="6" name="Shape 2"/>
          <p:cNvSpPr/>
          <p:nvPr/>
        </p:nvSpPr>
        <p:spPr>
          <a:xfrm>
            <a:off x="457200" y="1325880"/>
            <a:ext cx="5486400" cy="3085399"/>
          </a:xfrm>
          <a:prstGeom prst="rect">
            <a:avLst/>
          </a:prstGeom>
          <a:ln w="19050">
            <a:solidFill>
              <a:srgbClr val="C9A227"/>
            </a:solidFill>
            <a:prstDash val="solid"/>
          </a:ln>
        </p:spPr>
      </p:sp>
      <p:sp>
        <p:nvSpPr>
          <p:cNvPr id="7" name="evidence-ORIGINAL PROPOSAL"/>
          <p:cNvSpPr/>
          <p:nvPr/>
        </p:nvSpPr>
        <p:spPr>
          <a:xfrm>
            <a:off x="457200" y="1005840"/>
            <a:ext cx="1828800" cy="256032"/>
          </a:xfrm>
          <a:prstGeom prst="roundRect">
            <a:avLst>
              <a:gd name="adj" fmla="val 50000"/>
            </a:avLst>
          </a:prstGeom>
          <a:solidFill>
            <a:srgbClr val="FFF1C9"/>
          </a:solidFill>
          <a:ln w="12700">
            <a:solidFill>
              <a:srgbClr val="FFF1C9"/>
            </a:solidFill>
            <a:prstDash val="solid"/>
          </a:ln>
        </p:spPr>
      </p:sp>
      <p:sp>
        <p:nvSpPr>
          <p:cNvPr id="8" name="Text 4"/>
          <p:cNvSpPr txBox="1"/>
          <p:nvPr/>
        </p:nvSpPr>
        <p:spPr>
          <a:xfrm>
            <a:off x="457200" y="1005840"/>
            <a:ext cx="1828800" cy="256032"/>
          </a:xfrm>
          <a:prstGeom prst="rect">
            <a:avLst/>
          </a:prstGeom>
          <a:noFill/>
          <a:ln/>
        </p:spPr>
        <p:txBody>
          <a:bodyPr wrap="square" lIns="0" tIns="0" rIns="0" bIns="0" rtlCol="0" anchor="ctr"/>
          <a:lstStyle/>
          <a:p>
            <a:pPr algn="ctr" indent="0" marL="0">
              <a:buNone/>
            </a:pPr>
            <a:r>
              <a:rPr lang="en-US" sz="950" b="1" dirty="0">
                <a:solidFill>
                  <a:srgbClr val="6B4E00"/>
                </a:solidFill>
                <a:latin typeface="Calibri" pitchFamily="34" charset="0"/>
                <a:ea typeface="Calibri" pitchFamily="34" charset="-122"/>
                <a:cs typeface="Calibri" pitchFamily="34" charset="-120"/>
              </a:rPr>
              <a:t>ORIGINAL PROPOSAL</a:t>
            </a:r>
            <a:endParaRPr lang="en-US" sz="950" dirty="0"/>
          </a:p>
        </p:txBody>
      </p:sp>
      <p:pic>
        <p:nvPicPr>
          <p:cNvPr id="9" name="Image 1" descr="/Users/vigneshrbabu/Documents/Git/bluejay-night-ride-optimizer/docs/presentations/midterm/v0.4/figures/proposal_slide08.png">    </p:cNvPr>
          <p:cNvPicPr>
            <a:picLocks noChangeAspect="1"/>
          </p:cNvPicPr>
          <p:nvPr/>
        </p:nvPicPr>
        <p:blipFill>
          <a:blip r:embed="rId2"/>
          <a:stretch>
            <a:fillRect/>
          </a:stretch>
        </p:blipFill>
        <p:spPr>
          <a:xfrm>
            <a:off x="6245352" y="1325880"/>
            <a:ext cx="5486400" cy="3085399"/>
          </a:xfrm>
          <a:prstGeom prst="rect">
            <a:avLst/>
          </a:prstGeom>
        </p:spPr>
      </p:pic>
      <p:sp>
        <p:nvSpPr>
          <p:cNvPr id="10" name="Shape 5"/>
          <p:cNvSpPr/>
          <p:nvPr/>
        </p:nvSpPr>
        <p:spPr>
          <a:xfrm>
            <a:off x="6245352" y="1325880"/>
            <a:ext cx="5486400" cy="3085399"/>
          </a:xfrm>
          <a:prstGeom prst="rect">
            <a:avLst/>
          </a:prstGeom>
          <a:ln w="19050">
            <a:solidFill>
              <a:srgbClr val="C9A227"/>
            </a:solidFill>
            <a:prstDash val="solid"/>
          </a:ln>
        </p:spPr>
      </p:sp>
      <p:sp>
        <p:nvSpPr>
          <p:cNvPr id="11" name="evidence-ORIGINAL PROPOSAL"/>
          <p:cNvSpPr/>
          <p:nvPr/>
        </p:nvSpPr>
        <p:spPr>
          <a:xfrm>
            <a:off x="6245352" y="1005840"/>
            <a:ext cx="1828800" cy="256032"/>
          </a:xfrm>
          <a:prstGeom prst="roundRect">
            <a:avLst>
              <a:gd name="adj" fmla="val 50000"/>
            </a:avLst>
          </a:prstGeom>
          <a:solidFill>
            <a:srgbClr val="FFF1C9"/>
          </a:solidFill>
          <a:ln w="12700">
            <a:solidFill>
              <a:srgbClr val="FFF1C9"/>
            </a:solidFill>
            <a:prstDash val="solid"/>
          </a:ln>
        </p:spPr>
      </p:sp>
      <p:sp>
        <p:nvSpPr>
          <p:cNvPr id="12" name="Text 7"/>
          <p:cNvSpPr txBox="1"/>
          <p:nvPr/>
        </p:nvSpPr>
        <p:spPr>
          <a:xfrm>
            <a:off x="6245352" y="1005840"/>
            <a:ext cx="1828800" cy="256032"/>
          </a:xfrm>
          <a:prstGeom prst="rect">
            <a:avLst/>
          </a:prstGeom>
          <a:noFill/>
          <a:ln/>
        </p:spPr>
        <p:txBody>
          <a:bodyPr wrap="square" lIns="0" tIns="0" rIns="0" bIns="0" rtlCol="0" anchor="ctr"/>
          <a:lstStyle/>
          <a:p>
            <a:pPr algn="ctr" indent="0" marL="0">
              <a:buNone/>
            </a:pPr>
            <a:r>
              <a:rPr lang="en-US" sz="950" b="1" dirty="0">
                <a:solidFill>
                  <a:srgbClr val="6B4E00"/>
                </a:solidFill>
                <a:latin typeface="Calibri" pitchFamily="34" charset="0"/>
                <a:ea typeface="Calibri" pitchFamily="34" charset="-122"/>
                <a:cs typeface="Calibri" pitchFamily="34" charset="-120"/>
              </a:rPr>
              <a:t>ORIGINAL PROPOSAL</a:t>
            </a:r>
            <a:endParaRPr lang="en-US" sz="950" dirty="0"/>
          </a:p>
        </p:txBody>
      </p:sp>
      <p:sp>
        <p:nvSpPr>
          <p:cNvPr id="13" name="Shape 8"/>
          <p:cNvSpPr/>
          <p:nvPr/>
        </p:nvSpPr>
        <p:spPr>
          <a:xfrm>
            <a:off x="2871216" y="2025200"/>
            <a:ext cx="329184" cy="329184"/>
          </a:xfrm>
          <a:prstGeom prst="ellipse">
            <a:avLst/>
          </a:prstGeom>
          <a:solidFill>
            <a:srgbClr val="B23A3A"/>
          </a:solidFill>
          <a:ln w="15875">
            <a:solidFill>
              <a:srgbClr val="B23A3A"/>
            </a:solidFill>
            <a:prstDash val="solid"/>
          </a:ln>
        </p:spPr>
      </p:sp>
      <p:sp>
        <p:nvSpPr>
          <p:cNvPr id="14" name="Text 9"/>
          <p:cNvSpPr txBox="1"/>
          <p:nvPr/>
        </p:nvSpPr>
        <p:spPr>
          <a:xfrm>
            <a:off x="2871216" y="202520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0"/>
          <p:cNvSpPr/>
          <p:nvPr/>
        </p:nvSpPr>
        <p:spPr>
          <a:xfrm>
            <a:off x="1499616" y="2272032"/>
            <a:ext cx="329184" cy="329184"/>
          </a:xfrm>
          <a:prstGeom prst="ellipse">
            <a:avLst/>
          </a:prstGeom>
          <a:solidFill>
            <a:srgbClr val="B23A3A"/>
          </a:solidFill>
          <a:ln w="15875">
            <a:solidFill>
              <a:srgbClr val="B23A3A"/>
            </a:solidFill>
            <a:prstDash val="solid"/>
          </a:ln>
        </p:spPr>
      </p:sp>
      <p:sp>
        <p:nvSpPr>
          <p:cNvPr id="16" name="Text 11"/>
          <p:cNvSpPr txBox="1"/>
          <p:nvPr/>
        </p:nvSpPr>
        <p:spPr>
          <a:xfrm>
            <a:off x="1499616" y="227203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Shape 12"/>
          <p:cNvSpPr/>
          <p:nvPr/>
        </p:nvSpPr>
        <p:spPr>
          <a:xfrm>
            <a:off x="1115568" y="2488009"/>
            <a:ext cx="329184" cy="329184"/>
          </a:xfrm>
          <a:prstGeom prst="ellipse">
            <a:avLst/>
          </a:prstGeom>
          <a:solidFill>
            <a:srgbClr val="B23A3A"/>
          </a:solidFill>
          <a:ln w="15875">
            <a:solidFill>
              <a:srgbClr val="B23A3A"/>
            </a:solidFill>
            <a:prstDash val="solid"/>
          </a:ln>
        </p:spPr>
      </p:sp>
      <p:sp>
        <p:nvSpPr>
          <p:cNvPr id="18" name="Text 13"/>
          <p:cNvSpPr txBox="1"/>
          <p:nvPr/>
        </p:nvSpPr>
        <p:spPr>
          <a:xfrm>
            <a:off x="1115568" y="2488009"/>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Shape 14"/>
          <p:cNvSpPr/>
          <p:nvPr/>
        </p:nvSpPr>
        <p:spPr>
          <a:xfrm>
            <a:off x="10030968" y="3321067"/>
            <a:ext cx="329184" cy="329184"/>
          </a:xfrm>
          <a:prstGeom prst="ellipse">
            <a:avLst/>
          </a:prstGeom>
          <a:solidFill>
            <a:srgbClr val="B23A3A"/>
          </a:solidFill>
          <a:ln w="15875">
            <a:solidFill>
              <a:srgbClr val="B23A3A"/>
            </a:solidFill>
            <a:prstDash val="solid"/>
          </a:ln>
        </p:spPr>
      </p:sp>
      <p:sp>
        <p:nvSpPr>
          <p:cNvPr id="20" name="Text 15"/>
          <p:cNvSpPr txBox="1"/>
          <p:nvPr/>
        </p:nvSpPr>
        <p:spPr>
          <a:xfrm>
            <a:off x="10030968" y="332106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Shape 16"/>
          <p:cNvSpPr/>
          <p:nvPr/>
        </p:nvSpPr>
        <p:spPr>
          <a:xfrm>
            <a:off x="457200" y="4754880"/>
            <a:ext cx="5486400" cy="658368"/>
          </a:xfrm>
          <a:prstGeom prst="roundRect">
            <a:avLst>
              <a:gd name="adj" fmla="val 9722"/>
            </a:avLst>
          </a:prstGeom>
          <a:solidFill>
            <a:srgbClr val="FFF4EC"/>
          </a:solidFill>
          <a:ln w="9525">
            <a:solidFill>
              <a:srgbClr val="FFF4EC"/>
            </a:solidFill>
            <a:prstDash val="solid"/>
          </a:ln>
        </p:spPr>
      </p:sp>
      <p:sp>
        <p:nvSpPr>
          <p:cNvPr id="22" name="Shape 17"/>
          <p:cNvSpPr/>
          <p:nvPr/>
        </p:nvSpPr>
        <p:spPr>
          <a:xfrm>
            <a:off x="566928" y="4919472"/>
            <a:ext cx="329184" cy="329184"/>
          </a:xfrm>
          <a:prstGeom prst="ellipse">
            <a:avLst/>
          </a:prstGeom>
          <a:solidFill>
            <a:srgbClr val="B23A3A"/>
          </a:solidFill>
          <a:ln w="15875">
            <a:solidFill>
              <a:srgbClr val="B23A3A"/>
            </a:solidFill>
            <a:prstDash val="solid"/>
          </a:ln>
        </p:spPr>
      </p:sp>
      <p:sp>
        <p:nvSpPr>
          <p:cNvPr id="23" name="Text 18"/>
          <p:cNvSpPr txBox="1"/>
          <p:nvPr/>
        </p:nvSpPr>
        <p:spPr>
          <a:xfrm>
            <a:off x="566928" y="4919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4" name="Text 19"/>
          <p:cNvSpPr txBox="1"/>
          <p:nvPr/>
        </p:nvSpPr>
        <p:spPr>
          <a:xfrm>
            <a:off x="1005840" y="4754880"/>
            <a:ext cx="4846320" cy="658368"/>
          </a:xfrm>
          <a:prstGeom prst="rect">
            <a:avLst/>
          </a:prstGeom>
          <a:noFill/>
          <a:ln/>
        </p:spPr>
        <p:txBody>
          <a:bodyPr wrap="square" lIns="635" tIns="635" rIns="635" bIns="635" rtlCol="0" anchor="ctr"/>
          <a:lstStyle/>
          <a:p>
            <a:pPr indent="0" marL="0">
              <a:buNone/>
            </a:pPr>
            <a:r>
              <a:rPr lang="en-US" sz="1250" b="1" dirty="0">
                <a:solidFill>
                  <a:srgbClr val="1E2933"/>
                </a:solidFill>
                <a:latin typeface="Calibri" pitchFamily="34" charset="0"/>
                <a:ea typeface="Calibri" pitchFamily="34" charset="-122"/>
                <a:cs typeface="Calibri" pitchFamily="34" charset="-120"/>
              </a:rPr>
              <a:t>“about 5,100 rides per hour” at 6 pm  →  </a:t>
            </a:r>
            <a:pPr indent="0" marL="0">
              <a:buNone/>
            </a:pPr>
            <a:r>
              <a:rPr lang="en-US" sz="1250" dirty="0">
                <a:solidFill>
                  <a:srgbClr val="1E2933"/>
                </a:solidFill>
                <a:latin typeface="Calibri" pitchFamily="34" charset="0"/>
                <a:ea typeface="Calibri" pitchFamily="34" charset="-122"/>
                <a:cs typeface="Calibri" pitchFamily="34" charset="-120"/>
              </a:rPr>
              <a:t>a 30-day total: about 170 completed rides in one evening's 6 pm hour</a:t>
            </a:r>
            <a:endParaRPr lang="en-US" sz="1250" dirty="0"/>
          </a:p>
        </p:txBody>
      </p:sp>
      <p:sp>
        <p:nvSpPr>
          <p:cNvPr id="25" name="Shape 20"/>
          <p:cNvSpPr/>
          <p:nvPr/>
        </p:nvSpPr>
        <p:spPr>
          <a:xfrm>
            <a:off x="6099048" y="4754880"/>
            <a:ext cx="5486400" cy="658368"/>
          </a:xfrm>
          <a:prstGeom prst="roundRect">
            <a:avLst>
              <a:gd name="adj" fmla="val 9722"/>
            </a:avLst>
          </a:prstGeom>
          <a:solidFill>
            <a:srgbClr val="FFF4EC"/>
          </a:solidFill>
          <a:ln w="9525">
            <a:solidFill>
              <a:srgbClr val="FFF4EC"/>
            </a:solidFill>
            <a:prstDash val="solid"/>
          </a:ln>
        </p:spPr>
      </p:sp>
      <p:sp>
        <p:nvSpPr>
          <p:cNvPr id="26" name="Shape 21"/>
          <p:cNvSpPr/>
          <p:nvPr/>
        </p:nvSpPr>
        <p:spPr>
          <a:xfrm>
            <a:off x="6208776" y="4919472"/>
            <a:ext cx="329184" cy="329184"/>
          </a:xfrm>
          <a:prstGeom prst="ellipse">
            <a:avLst/>
          </a:prstGeom>
          <a:solidFill>
            <a:srgbClr val="B23A3A"/>
          </a:solidFill>
          <a:ln w="15875">
            <a:solidFill>
              <a:srgbClr val="B23A3A"/>
            </a:solidFill>
            <a:prstDash val="solid"/>
          </a:ln>
        </p:spPr>
      </p:sp>
      <p:sp>
        <p:nvSpPr>
          <p:cNvPr id="27" name="Text 22"/>
          <p:cNvSpPr txBox="1"/>
          <p:nvPr/>
        </p:nvSpPr>
        <p:spPr>
          <a:xfrm>
            <a:off x="6208776" y="49194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8" name="Text 23"/>
          <p:cNvSpPr txBox="1"/>
          <p:nvPr/>
        </p:nvSpPr>
        <p:spPr>
          <a:xfrm>
            <a:off x="6647688" y="4754880"/>
            <a:ext cx="4846320" cy="658368"/>
          </a:xfrm>
          <a:prstGeom prst="rect">
            <a:avLst/>
          </a:prstGeom>
          <a:noFill/>
          <a:ln/>
        </p:spPr>
        <p:txBody>
          <a:bodyPr wrap="square" lIns="635" tIns="635" rIns="635" bIns="635" rtlCol="0" anchor="ctr"/>
          <a:lstStyle/>
          <a:p>
            <a:pPr indent="0" marL="0">
              <a:buNone/>
            </a:pPr>
            <a:r>
              <a:rPr lang="en-US" sz="1250" b="1" dirty="0">
                <a:solidFill>
                  <a:srgbClr val="1E2933"/>
                </a:solidFill>
                <a:latin typeface="Calibri" pitchFamily="34" charset="0"/>
                <a:ea typeface="Calibri" pitchFamily="34" charset="-122"/>
                <a:cs typeface="Calibri" pitchFamily="34" charset="-120"/>
              </a:rPr>
              <a:t>“about 28 vans in service”  →  </a:t>
            </a:r>
            <a:pPr indent="0" marL="0">
              <a:buNone/>
            </a:pPr>
            <a:r>
              <a:rPr lang="en-US" sz="1250" dirty="0">
                <a:solidFill>
                  <a:srgbClr val="1E2933"/>
                </a:solidFill>
                <a:latin typeface="Calibri" pitchFamily="34" charset="0"/>
                <a:ea typeface="Calibri" pitchFamily="34" charset="-122"/>
                <a:cs typeface="Calibri" pitchFamily="34" charset="-120"/>
              </a:rPr>
              <a:t>the “All services” average (27.6 at 6 pm), not a Homewood-only count</a:t>
            </a:r>
            <a:endParaRPr lang="en-US" sz="1250" dirty="0"/>
          </a:p>
        </p:txBody>
      </p:sp>
      <p:sp>
        <p:nvSpPr>
          <p:cNvPr id="29" name="Shape 24"/>
          <p:cNvSpPr/>
          <p:nvPr/>
        </p:nvSpPr>
        <p:spPr>
          <a:xfrm>
            <a:off x="457200" y="5504688"/>
            <a:ext cx="5486400" cy="658368"/>
          </a:xfrm>
          <a:prstGeom prst="roundRect">
            <a:avLst>
              <a:gd name="adj" fmla="val 9722"/>
            </a:avLst>
          </a:prstGeom>
          <a:solidFill>
            <a:srgbClr val="FFF4EC"/>
          </a:solidFill>
          <a:ln w="9525">
            <a:solidFill>
              <a:srgbClr val="FFF4EC"/>
            </a:solidFill>
            <a:prstDash val="solid"/>
          </a:ln>
        </p:spPr>
      </p:sp>
      <p:sp>
        <p:nvSpPr>
          <p:cNvPr id="30" name="Shape 25"/>
          <p:cNvSpPr/>
          <p:nvPr/>
        </p:nvSpPr>
        <p:spPr>
          <a:xfrm>
            <a:off x="566928" y="5669280"/>
            <a:ext cx="329184" cy="329184"/>
          </a:xfrm>
          <a:prstGeom prst="ellipse">
            <a:avLst/>
          </a:prstGeom>
          <a:solidFill>
            <a:srgbClr val="B23A3A"/>
          </a:solidFill>
          <a:ln w="15875">
            <a:solidFill>
              <a:srgbClr val="B23A3A"/>
            </a:solidFill>
            <a:prstDash val="solid"/>
          </a:ln>
        </p:spPr>
      </p:sp>
      <p:sp>
        <p:nvSpPr>
          <p:cNvPr id="31" name="Text 26"/>
          <p:cNvSpPr txBox="1"/>
          <p:nvPr/>
        </p:nvSpPr>
        <p:spPr>
          <a:xfrm>
            <a:off x="566928" y="5669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2" name="Text 27"/>
          <p:cNvSpPr txBox="1"/>
          <p:nvPr/>
        </p:nvSpPr>
        <p:spPr>
          <a:xfrm>
            <a:off x="1005840" y="5504688"/>
            <a:ext cx="4846320" cy="658368"/>
          </a:xfrm>
          <a:prstGeom prst="rect">
            <a:avLst/>
          </a:prstGeom>
          <a:noFill/>
          <a:ln/>
        </p:spPr>
        <p:txBody>
          <a:bodyPr wrap="square" lIns="635" tIns="635" rIns="635" bIns="635" rtlCol="0" anchor="ctr"/>
          <a:lstStyle/>
          <a:p>
            <a:pPr indent="0" marL="0">
              <a:buNone/>
            </a:pPr>
            <a:r>
              <a:rPr lang="en-US" sz="1250" b="1" dirty="0">
                <a:solidFill>
                  <a:srgbClr val="1E2933"/>
                </a:solidFill>
                <a:latin typeface="Calibri" pitchFamily="34" charset="0"/>
                <a:ea typeface="Calibri" pitchFamily="34" charset="-122"/>
                <a:cs typeface="Calibri" pitchFamily="34" charset="-120"/>
              </a:rPr>
              <a:t>7 pm bar “4,900”  →  </a:t>
            </a:r>
            <a:pPr indent="0" marL="0">
              <a:buNone/>
            </a:pPr>
            <a:r>
              <a:rPr lang="en-US" sz="1250" dirty="0">
                <a:solidFill>
                  <a:srgbClr val="1E2933"/>
                </a:solidFill>
                <a:latin typeface="Calibri" pitchFamily="34" charset="0"/>
                <a:ea typeface="Calibri" pitchFamily="34" charset="-122"/>
                <a:cs typeface="Calibri" pitchFamily="34" charset="-120"/>
              </a:rPr>
              <a:t>our digitized value is 3,957 (also a 30-day total)</a:t>
            </a:r>
            <a:endParaRPr lang="en-US" sz="1250" dirty="0"/>
          </a:p>
        </p:txBody>
      </p:sp>
      <p:sp>
        <p:nvSpPr>
          <p:cNvPr id="33" name="Shape 28"/>
          <p:cNvSpPr/>
          <p:nvPr/>
        </p:nvSpPr>
        <p:spPr>
          <a:xfrm>
            <a:off x="6099048" y="5504688"/>
            <a:ext cx="5486400" cy="658368"/>
          </a:xfrm>
          <a:prstGeom prst="roundRect">
            <a:avLst>
              <a:gd name="adj" fmla="val 9722"/>
            </a:avLst>
          </a:prstGeom>
          <a:solidFill>
            <a:srgbClr val="FFF4EC"/>
          </a:solidFill>
          <a:ln w="9525">
            <a:solidFill>
              <a:srgbClr val="FFF4EC"/>
            </a:solidFill>
            <a:prstDash val="solid"/>
          </a:ln>
        </p:spPr>
      </p:sp>
      <p:sp>
        <p:nvSpPr>
          <p:cNvPr id="34" name="Shape 29"/>
          <p:cNvSpPr/>
          <p:nvPr/>
        </p:nvSpPr>
        <p:spPr>
          <a:xfrm>
            <a:off x="6208776" y="5669280"/>
            <a:ext cx="329184" cy="329184"/>
          </a:xfrm>
          <a:prstGeom prst="ellipse">
            <a:avLst/>
          </a:prstGeom>
          <a:solidFill>
            <a:srgbClr val="B23A3A"/>
          </a:solidFill>
          <a:ln w="15875">
            <a:solidFill>
              <a:srgbClr val="B23A3A"/>
            </a:solidFill>
            <a:prstDash val="solid"/>
          </a:ln>
        </p:spPr>
      </p:sp>
      <p:sp>
        <p:nvSpPr>
          <p:cNvPr id="35" name="Text 30"/>
          <p:cNvSpPr txBox="1"/>
          <p:nvPr/>
        </p:nvSpPr>
        <p:spPr>
          <a:xfrm>
            <a:off x="6208776" y="56692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6" name="Text 31"/>
          <p:cNvSpPr txBox="1"/>
          <p:nvPr/>
        </p:nvSpPr>
        <p:spPr>
          <a:xfrm>
            <a:off x="6647688" y="5504688"/>
            <a:ext cx="4846320" cy="658368"/>
          </a:xfrm>
          <a:prstGeom prst="rect">
            <a:avLst/>
          </a:prstGeom>
          <a:noFill/>
          <a:ln/>
        </p:spPr>
        <p:txBody>
          <a:bodyPr wrap="square" lIns="635" tIns="635" rIns="635" bIns="635" rtlCol="0" anchor="ctr"/>
          <a:lstStyle/>
          <a:p>
            <a:pPr indent="0" marL="0">
              <a:buNone/>
            </a:pPr>
            <a:r>
              <a:rPr lang="en-US" sz="1250" b="1" dirty="0">
                <a:solidFill>
                  <a:srgbClr val="1E2933"/>
                </a:solidFill>
                <a:latin typeface="Calibri" pitchFamily="34" charset="0"/>
                <a:ea typeface="Calibri" pitchFamily="34" charset="-122"/>
                <a:cs typeface="Calibri" pitchFamily="34" charset="-120"/>
              </a:rPr>
              <a:t>“~1 in 4 trips overflow to Lyft”  →  </a:t>
            </a:r>
            <a:pPr indent="0" marL="0">
              <a:buNone/>
            </a:pPr>
            <a:r>
              <a:rPr lang="en-US" sz="1250" dirty="0">
                <a:solidFill>
                  <a:srgbClr val="1E2933"/>
                </a:solidFill>
                <a:latin typeface="Calibri" pitchFamily="34" charset="0"/>
                <a:ea typeface="Calibri" pitchFamily="34" charset="-122"/>
                <a:cs typeface="Calibri" pitchFamily="34" charset="-120"/>
              </a:rPr>
              <a:t>24.5% of riders rode Lyft: a share of riders, not of trips or requests</a:t>
            </a:r>
            <a:endParaRPr lang="en-US" sz="1250" dirty="0"/>
          </a:p>
        </p:txBody>
      </p:sp>
      <p:sp>
        <p:nvSpPr>
          <p:cNvPr id="37" name="Text 3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Proposal slides 7–8; April dashboards (digitized aggregates); methodology v1.5 §1a. Details: B9.</a:t>
            </a:r>
            <a:endParaRPr lang="en-US" sz="950" dirty="0"/>
          </a:p>
        </p:txBody>
      </p:sp>
      <p:sp>
        <p:nvSpPr>
          <p:cNvPr id="38" name="Text 33"/>
          <p:cNvSpPr txBox="1"/>
          <p:nvPr/>
        </p:nvSpPr>
        <p:spPr>
          <a:xfrm>
            <a:off x="9418320" y="6400800"/>
            <a:ext cx="1645920" cy="274320"/>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3" action="ppaction://hlinksldjump" tooltip="Go to slide 38">
                  <a:extLst>
                    <a:ext uri="{A12FA001-AC4F-418D-AE19-62706E023703}">
                      <ahyp:hlinkClr xmlns:ahyp="http://schemas.microsoft.com/office/drawing/2018/hyperlinkcolor" val="tx"/>
                    </a:ext>
                  </a:extLst>
                </a:hlinkClick>
              </a:rPr>
              <a:t>Details: B9 →</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We narrowed the question to one controllable decision</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5</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We now hold one specified van dispatcher fixed and change only the Lyft transfer rule.</a:t>
            </a:r>
            <a:endParaRPr lang="en-US" sz="1700" dirty="0"/>
          </a:p>
        </p:txBody>
      </p:sp>
      <p:sp>
        <p:nvSpPr>
          <p:cNvPr id="6" name="Shape 3"/>
          <p:cNvSpPr/>
          <p:nvPr/>
        </p:nvSpPr>
        <p:spPr>
          <a:xfrm>
            <a:off x="457200" y="1691640"/>
            <a:ext cx="3520440" cy="3017520"/>
          </a:xfrm>
          <a:prstGeom prst="roundRect">
            <a:avLst>
              <a:gd name="adj" fmla="val 2121"/>
            </a:avLst>
          </a:prstGeom>
          <a:solidFill>
            <a:srgbClr val="EEF1F4"/>
          </a:solidFill>
          <a:ln w="9525">
            <a:solidFill>
              <a:srgbClr val="EEF1F4"/>
            </a:solidFill>
            <a:prstDash val="solid"/>
          </a:ln>
        </p:spPr>
      </p:sp>
      <p:sp>
        <p:nvSpPr>
          <p:cNvPr id="7" name="Text 4"/>
          <p:cNvSpPr txBox="1"/>
          <p:nvPr/>
        </p:nvSpPr>
        <p:spPr>
          <a:xfrm>
            <a:off x="594360" y="1783080"/>
            <a:ext cx="3246120" cy="411480"/>
          </a:xfrm>
          <a:prstGeom prst="rect">
            <a:avLst/>
          </a:prstGeom>
          <a:noFill/>
          <a:ln/>
        </p:spPr>
        <p:txBody>
          <a:bodyPr wrap="square" lIns="635" tIns="635" rIns="635" bIns="635" rtlCol="0" anchor="t"/>
          <a:lstStyle/>
          <a:p>
            <a:pPr indent="0" marL="0">
              <a:buNone/>
            </a:pPr>
            <a:r>
              <a:rPr lang="en-US" sz="1800" b="1" dirty="0">
                <a:solidFill>
                  <a:srgbClr val="1E2933"/>
                </a:solidFill>
                <a:latin typeface="Calibri" pitchFamily="34" charset="0"/>
                <a:ea typeface="Calibri" pitchFamily="34" charset="-122"/>
                <a:cs typeface="Calibri" pitchFamily="34" charset="-120"/>
              </a:rPr>
              <a:t>Original ambition</a:t>
            </a:r>
            <a:endParaRPr lang="en-US" sz="1800" dirty="0"/>
          </a:p>
        </p:txBody>
      </p:sp>
      <p:sp>
        <p:nvSpPr>
          <p:cNvPr id="8" name="Text 5"/>
          <p:cNvSpPr txBox="1"/>
          <p:nvPr/>
        </p:nvSpPr>
        <p:spPr>
          <a:xfrm>
            <a:off x="594360" y="2240280"/>
            <a:ext cx="3291840" cy="2377440"/>
          </a:xfrm>
          <a:prstGeom prst="rect">
            <a:avLst/>
          </a:prstGeom>
          <a:noFill/>
          <a:ln/>
        </p:spPr>
        <p:txBody>
          <a:bodyPr wrap="square" lIns="635" tIns="635" rIns="635" bIns="635" rtlCol="0" anchor="t"/>
          <a:lstStyle/>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Replay real service nights</a:t>
            </a:r>
            <a:endParaRPr lang="en-US" sz="1450" dirty="0"/>
          </a:p>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Compare dispatch methods head to head</a:t>
            </a:r>
            <a:endParaRPr lang="en-US" sz="1450" dirty="0"/>
          </a:p>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Lyft use decided inside the optimizer itself</a:t>
            </a:r>
            <a:endParaRPr lang="en-US" sz="1450" dirty="0"/>
          </a:p>
        </p:txBody>
      </p:sp>
      <p:sp>
        <p:nvSpPr>
          <p:cNvPr id="9" name="Shape 6"/>
          <p:cNvSpPr/>
          <p:nvPr/>
        </p:nvSpPr>
        <p:spPr>
          <a:xfrm>
            <a:off x="3995928" y="3200400"/>
            <a:ext cx="283464" cy="914"/>
          </a:xfrm>
          <a:prstGeom prst="line">
            <a:avLst/>
          </a:prstGeom>
          <a:noFill/>
          <a:ln w="25400">
            <a:solidFill>
              <a:srgbClr val="1E2933"/>
            </a:solidFill>
            <a:prstDash val="solid"/>
            <a:tailEnd type="triangle"/>
          </a:ln>
        </p:spPr>
      </p:sp>
      <p:sp>
        <p:nvSpPr>
          <p:cNvPr id="10" name="Shape 7"/>
          <p:cNvSpPr/>
          <p:nvPr/>
        </p:nvSpPr>
        <p:spPr>
          <a:xfrm>
            <a:off x="4297680" y="1691640"/>
            <a:ext cx="3520440" cy="3017520"/>
          </a:xfrm>
          <a:prstGeom prst="roundRect">
            <a:avLst>
              <a:gd name="adj" fmla="val 2121"/>
            </a:avLst>
          </a:prstGeom>
          <a:solidFill>
            <a:srgbClr val="FFF4EC"/>
          </a:solidFill>
          <a:ln w="9525">
            <a:solidFill>
              <a:srgbClr val="FFF4EC"/>
            </a:solidFill>
            <a:prstDash val="solid"/>
          </a:ln>
        </p:spPr>
      </p:sp>
      <p:sp>
        <p:nvSpPr>
          <p:cNvPr id="11" name="Text 8"/>
          <p:cNvSpPr txBox="1"/>
          <p:nvPr/>
        </p:nvSpPr>
        <p:spPr>
          <a:xfrm>
            <a:off x="4434840" y="1783080"/>
            <a:ext cx="3246120" cy="411480"/>
          </a:xfrm>
          <a:prstGeom prst="rect">
            <a:avLst/>
          </a:prstGeom>
          <a:noFill/>
          <a:ln/>
        </p:spPr>
        <p:txBody>
          <a:bodyPr wrap="square" lIns="635" tIns="635" rIns="635" bIns="635" rtlCol="0" anchor="t"/>
          <a:lstStyle/>
          <a:p>
            <a:pPr indent="0" marL="0">
              <a:buNone/>
            </a:pPr>
            <a:r>
              <a:rPr lang="en-US" sz="1800" b="1" dirty="0">
                <a:solidFill>
                  <a:srgbClr val="1E2933"/>
                </a:solidFill>
                <a:latin typeface="Calibri" pitchFamily="34" charset="0"/>
                <a:ea typeface="Calibri" pitchFamily="34" charset="-122"/>
                <a:cs typeface="Calibri" pitchFamily="34" charset="-120"/>
              </a:rPr>
              <a:t>Evidence available</a:t>
            </a:r>
            <a:endParaRPr lang="en-US" sz="1800" dirty="0"/>
          </a:p>
        </p:txBody>
      </p:sp>
      <p:sp>
        <p:nvSpPr>
          <p:cNvPr id="12" name="Text 9"/>
          <p:cNvSpPr txBox="1"/>
          <p:nvPr/>
        </p:nvSpPr>
        <p:spPr>
          <a:xfrm>
            <a:off x="4434840" y="2240280"/>
            <a:ext cx="3291840" cy="2377440"/>
          </a:xfrm>
          <a:prstGeom prst="rect">
            <a:avLst/>
          </a:prstGeom>
          <a:noFill/>
          <a:ln/>
        </p:spPr>
        <p:txBody>
          <a:bodyPr wrap="square" lIns="635" tIns="635" rIns="635" bIns="635" rtlCol="0" anchor="t"/>
          <a:lstStyle/>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Aggregate April dashboards only</a:t>
            </a:r>
            <a:endParaRPr lang="en-US" sz="1450" dirty="0"/>
          </a:p>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No individual journeys</a:t>
            </a:r>
            <a:endParaRPr lang="en-US" sz="1450" dirty="0"/>
          </a:p>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Hopkins' current dispatcher internals not verified</a:t>
            </a:r>
            <a:endParaRPr lang="en-US" sz="1450" dirty="0"/>
          </a:p>
        </p:txBody>
      </p:sp>
      <p:sp>
        <p:nvSpPr>
          <p:cNvPr id="13" name="Shape 10"/>
          <p:cNvSpPr/>
          <p:nvPr/>
        </p:nvSpPr>
        <p:spPr>
          <a:xfrm>
            <a:off x="7836408" y="3200400"/>
            <a:ext cx="283464" cy="914"/>
          </a:xfrm>
          <a:prstGeom prst="line">
            <a:avLst/>
          </a:prstGeom>
          <a:noFill/>
          <a:ln w="25400">
            <a:solidFill>
              <a:srgbClr val="1E2933"/>
            </a:solidFill>
            <a:prstDash val="solid"/>
            <a:tailEnd type="triangle"/>
          </a:ln>
        </p:spPr>
      </p:sp>
      <p:sp>
        <p:nvSpPr>
          <p:cNvPr id="14" name="Shape 11"/>
          <p:cNvSpPr/>
          <p:nvPr/>
        </p:nvSpPr>
        <p:spPr>
          <a:xfrm>
            <a:off x="8138160" y="1691640"/>
            <a:ext cx="3520440" cy="3017520"/>
          </a:xfrm>
          <a:prstGeom prst="roundRect">
            <a:avLst>
              <a:gd name="adj" fmla="val 2121"/>
            </a:avLst>
          </a:prstGeom>
          <a:solidFill>
            <a:srgbClr val="E8F1FB"/>
          </a:solidFill>
          <a:ln w="9525">
            <a:solidFill>
              <a:srgbClr val="E8F1FB"/>
            </a:solidFill>
            <a:prstDash val="solid"/>
          </a:ln>
        </p:spPr>
      </p:sp>
      <p:sp>
        <p:nvSpPr>
          <p:cNvPr id="15" name="Text 12"/>
          <p:cNvSpPr txBox="1"/>
          <p:nvPr/>
        </p:nvSpPr>
        <p:spPr>
          <a:xfrm>
            <a:off x="8275320" y="1783080"/>
            <a:ext cx="3246120" cy="411480"/>
          </a:xfrm>
          <a:prstGeom prst="rect">
            <a:avLst/>
          </a:prstGeom>
          <a:noFill/>
          <a:ln/>
        </p:spPr>
        <p:txBody>
          <a:bodyPr wrap="square" lIns="635" tIns="635" rIns="635" bIns="635" rtlCol="0" anchor="t"/>
          <a:lstStyle/>
          <a:p>
            <a:pPr indent="0" marL="0">
              <a:buNone/>
            </a:pPr>
            <a:r>
              <a:rPr lang="en-US" sz="1800" b="1" dirty="0">
                <a:solidFill>
                  <a:srgbClr val="1E2933"/>
                </a:solidFill>
                <a:latin typeface="Calibri" pitchFamily="34" charset="0"/>
                <a:ea typeface="Calibri" pitchFamily="34" charset="-122"/>
                <a:cs typeface="Calibri" pitchFamily="34" charset="-120"/>
              </a:rPr>
              <a:t>Current controlled experiment</a:t>
            </a:r>
            <a:endParaRPr lang="en-US" sz="1800" dirty="0"/>
          </a:p>
        </p:txBody>
      </p:sp>
      <p:sp>
        <p:nvSpPr>
          <p:cNvPr id="16" name="Text 13"/>
          <p:cNvSpPr txBox="1"/>
          <p:nvPr/>
        </p:nvSpPr>
        <p:spPr>
          <a:xfrm>
            <a:off x="8275320" y="2240280"/>
            <a:ext cx="3291840" cy="2377440"/>
          </a:xfrm>
          <a:prstGeom prst="rect">
            <a:avLst/>
          </a:prstGeom>
          <a:noFill/>
          <a:ln/>
        </p:spPr>
        <p:txBody>
          <a:bodyPr wrap="square" lIns="635" tIns="635" rIns="635" bIns="635" rtlCol="0" anchor="t"/>
          <a:lstStyle/>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One specified van dispatcher, held fixed</a:t>
            </a:r>
            <a:endParaRPr lang="en-US" sz="1450" dirty="0"/>
          </a:p>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Change only the Lyft transfer rule</a:t>
            </a:r>
            <a:endParaRPr lang="en-US" sz="1450" dirty="0"/>
          </a:p>
          <a:p>
            <a:pPr marL="342900" indent="-342900">
              <a:spcAft>
                <a:spcPts val="500"/>
              </a:spcAft>
              <a:buSzPct val="100000"/>
              <a:buChar char="•"/>
            </a:pPr>
            <a:r>
              <a:rPr lang="en-US" sz="1450" dirty="0">
                <a:solidFill>
                  <a:srgbClr val="1E2933"/>
                </a:solidFill>
                <a:latin typeface="Calibri" pitchFamily="34" charset="0"/>
                <a:ea typeface="Calibri" pitchFamily="34" charset="-122"/>
                <a:cs typeface="Calibri" pitchFamily="34" charset="-120"/>
              </a:rPr>
              <a:t>Same constructed nights for every rule</a:t>
            </a:r>
            <a:endParaRPr lang="en-US" sz="1450" dirty="0"/>
          </a:p>
        </p:txBody>
      </p:sp>
      <p:sp>
        <p:nvSpPr>
          <p:cNvPr id="17" name="Text 14"/>
          <p:cNvSpPr txBox="1"/>
          <p:nvPr/>
        </p:nvSpPr>
        <p:spPr>
          <a:xfrm>
            <a:off x="457200" y="4892040"/>
            <a:ext cx="11247120" cy="411480"/>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This lets us study how the timing and information used by that rule change service and Lyft use.</a:t>
            </a:r>
            <a:endParaRPr lang="en-US" sz="1600" dirty="0"/>
          </a:p>
        </p:txBody>
      </p:sp>
      <p:sp>
        <p:nvSpPr>
          <p:cNvPr id="18" name="Shape 15"/>
          <p:cNvSpPr/>
          <p:nvPr/>
        </p:nvSpPr>
        <p:spPr>
          <a:xfrm>
            <a:off x="457200" y="5394960"/>
            <a:ext cx="11247120" cy="777240"/>
          </a:xfrm>
          <a:prstGeom prst="roundRect">
            <a:avLst>
              <a:gd name="adj" fmla="val 8235"/>
            </a:avLst>
          </a:prstGeom>
          <a:solidFill>
            <a:srgbClr val="EEF1F4"/>
          </a:solidFill>
          <a:ln w="9525">
            <a:solidFill>
              <a:srgbClr val="EEF1F4"/>
            </a:solidFill>
            <a:prstDash val="solid"/>
          </a:ln>
        </p:spPr>
      </p:sp>
      <p:sp>
        <p:nvSpPr>
          <p:cNvPr id="19" name="Text 16"/>
          <p:cNvSpPr txBox="1"/>
          <p:nvPr/>
        </p:nvSpPr>
        <p:spPr>
          <a:xfrm>
            <a:off x="594360" y="5422392"/>
            <a:ext cx="10972800" cy="731520"/>
          </a:xfrm>
          <a:prstGeom prst="rect">
            <a:avLst/>
          </a:prstGeom>
          <a:noFill/>
          <a:ln/>
        </p:spPr>
        <p:txBody>
          <a:bodyPr wrap="square" lIns="635" tIns="635" rIns="635" bIns="635" rtlCol="0" anchor="ctr"/>
          <a:lstStyle/>
          <a:p>
            <a:pPr indent="0" marL="0">
              <a:buNone/>
            </a:pPr>
            <a:r>
              <a:rPr lang="en-US" sz="1300" dirty="0">
                <a:solidFill>
                  <a:srgbClr val="1E2933"/>
                </a:solidFill>
                <a:latin typeface="Calibri" pitchFamily="34" charset="0"/>
                <a:ea typeface="Calibri" pitchFamily="34" charset="-122"/>
                <a:cs typeface="Calibri" pitchFamily="34" charset="-120"/>
              </a:rPr>
              <a:t>Why: it is the question we chose, the real dispatcher's internals are not known to us, and a controlled comparison needs everything else held fixed. Our van dispatcher re-plans every 2 minutes and at each new request, cancellation or no-show while waiting, or van coming on duty: modelled on TransLoc's (the vendor's dispatch software) published 2016 design, not verified current Hopkins practice.</a:t>
            </a:r>
            <a:endParaRPr lang="en-US" sz="1300" dirty="0"/>
          </a:p>
        </p:txBody>
      </p:sp>
      <p:sp>
        <p:nvSpPr>
          <p:cNvPr id="20" name="Text 17"/>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docs/technical/scenario_methodology.md v1.5 §1a; decision_log.md D-25, D-51; transloc_operations.md.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April describes totals—not individual journeys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6</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We know how many requests ended in each status, where pickups and drop-offs accumulated, and how activity varied by hour. We cannot reconstruct each rider's journey.</a:t>
            </a:r>
            <a:endParaRPr lang="en-US" sz="1700" dirty="0"/>
          </a:p>
        </p:txBody>
      </p:sp>
      <p:sp>
        <p:nvSpPr>
          <p:cNvPr id="6" name="Shape 3"/>
          <p:cNvSpPr/>
          <p:nvPr/>
        </p:nvSpPr>
        <p:spPr>
          <a:xfrm>
            <a:off x="457200" y="1691640"/>
            <a:ext cx="5532120" cy="3337560"/>
          </a:xfrm>
          <a:prstGeom prst="roundRect">
            <a:avLst>
              <a:gd name="adj" fmla="val 1918"/>
            </a:avLst>
          </a:prstGeom>
          <a:solidFill>
            <a:srgbClr val="E9F7F1"/>
          </a:solidFill>
          <a:ln w="9525">
            <a:solidFill>
              <a:srgbClr val="E9F7F1"/>
            </a:solidFill>
            <a:prstDash val="solid"/>
          </a:ln>
        </p:spPr>
      </p:sp>
      <p:sp>
        <p:nvSpPr>
          <p:cNvPr id="7" name="Text 4"/>
          <p:cNvSpPr txBox="1"/>
          <p:nvPr/>
        </p:nvSpPr>
        <p:spPr>
          <a:xfrm>
            <a:off x="640080" y="1755648"/>
            <a:ext cx="5120640" cy="365760"/>
          </a:xfrm>
          <a:prstGeom prst="rect">
            <a:avLst/>
          </a:prstGeom>
          <a:noFill/>
          <a:ln/>
        </p:spPr>
        <p:txBody>
          <a:bodyPr wrap="square" lIns="635" tIns="635" rIns="635" bIns="635" rtlCol="0" anchor="t"/>
          <a:lstStyle/>
          <a:p>
            <a:pPr indent="0" marL="0">
              <a:buNone/>
            </a:pPr>
            <a:r>
              <a:rPr lang="en-US" sz="1700" b="1" dirty="0">
                <a:solidFill>
                  <a:srgbClr val="0F7A57"/>
                </a:solidFill>
                <a:latin typeface="Calibri" pitchFamily="34" charset="0"/>
                <a:ea typeface="Calibri" pitchFamily="34" charset="-122"/>
                <a:cs typeface="Calibri" pitchFamily="34" charset="-120"/>
              </a:rPr>
              <a:t>Observed: totals and shares</a:t>
            </a:r>
            <a:endParaRPr lang="en-US" sz="1700" dirty="0"/>
          </a:p>
        </p:txBody>
      </p:sp>
      <p:sp>
        <p:nvSpPr>
          <p:cNvPr id="8" name="Text 5"/>
          <p:cNvSpPr txBox="1"/>
          <p:nvPr/>
        </p:nvSpPr>
        <p:spPr>
          <a:xfrm>
            <a:off x="640080" y="2148840"/>
            <a:ext cx="5212080" cy="283464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Requests by final status: 50,297 in the month</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Completed rides by hour (30-day totals)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Vehicles on duty by hour (27.6 at 6 pm, all services)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Pickup and drop-off counts at 188 map places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Wait-time percentiles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Riders by van and by Lyft (44,374; 24.5% by Lyft)</a:t>
            </a:r>
            <a:endParaRPr lang="en-US" sz="1400" dirty="0"/>
          </a:p>
        </p:txBody>
      </p:sp>
      <p:sp>
        <p:nvSpPr>
          <p:cNvPr id="9" name="Shape 6"/>
          <p:cNvSpPr/>
          <p:nvPr/>
        </p:nvSpPr>
        <p:spPr>
          <a:xfrm>
            <a:off x="6217920" y="1691640"/>
            <a:ext cx="5486400" cy="3337560"/>
          </a:xfrm>
          <a:prstGeom prst="roundRect">
            <a:avLst>
              <a:gd name="adj" fmla="val 1918"/>
            </a:avLst>
          </a:prstGeom>
          <a:solidFill>
            <a:srgbClr val="FFF4EC"/>
          </a:solidFill>
          <a:ln w="9525">
            <a:solidFill>
              <a:srgbClr val="FFF4EC"/>
            </a:solidFill>
            <a:prstDash val="solid"/>
          </a:ln>
        </p:spPr>
      </p:sp>
      <p:sp>
        <p:nvSpPr>
          <p:cNvPr id="10" name="Text 7"/>
          <p:cNvSpPr txBox="1"/>
          <p:nvPr/>
        </p:nvSpPr>
        <p:spPr>
          <a:xfrm>
            <a:off x="6400800" y="1755648"/>
            <a:ext cx="5120640" cy="365760"/>
          </a:xfrm>
          <a:prstGeom prst="rect">
            <a:avLst/>
          </a:prstGeom>
          <a:noFill/>
          <a:ln/>
        </p:spPr>
        <p:txBody>
          <a:bodyPr wrap="square" lIns="635" tIns="635" rIns="635" bIns="635" rtlCol="0" anchor="t"/>
          <a:lstStyle/>
          <a:p>
            <a:pPr indent="0" marL="0">
              <a:buNone/>
            </a:pPr>
            <a:r>
              <a:rPr lang="en-US" sz="1700" b="1" dirty="0">
                <a:solidFill>
                  <a:srgbClr val="EB6834"/>
                </a:solidFill>
                <a:latin typeface="Calibri" pitchFamily="34" charset="0"/>
                <a:ea typeface="Calibri" pitchFamily="34" charset="-122"/>
                <a:cs typeface="Calibri" pitchFamily="34" charset="-120"/>
              </a:rPr>
              <a:t>Missing: any single journey</a:t>
            </a:r>
            <a:endParaRPr lang="en-US" sz="1700" dirty="0"/>
          </a:p>
        </p:txBody>
      </p:sp>
      <p:sp>
        <p:nvSpPr>
          <p:cNvPr id="11" name="Text 8"/>
          <p:cNvSpPr txBox="1"/>
          <p:nvPr/>
        </p:nvSpPr>
        <p:spPr>
          <a:xfrm>
            <a:off x="6400800" y="2148840"/>
            <a:ext cx="5120640" cy="283464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When each request was made</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Which pickup went with which drop-off</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How long that rider waited</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Whether they boarded, gave up or were moved to Lyft</a:t>
            </a:r>
            <a:endParaRPr lang="en-US" sz="1400" dirty="0"/>
          </a:p>
        </p:txBody>
      </p:sp>
      <p:sp>
        <p:nvSpPr>
          <p:cNvPr id="12" name="evidence-OBSERVED"/>
          <p:cNvSpPr/>
          <p:nvPr/>
        </p:nvSpPr>
        <p:spPr>
          <a:xfrm>
            <a:off x="457200" y="5230368"/>
            <a:ext cx="1097280" cy="256032"/>
          </a:xfrm>
          <a:prstGeom prst="roundRect">
            <a:avLst>
              <a:gd name="adj" fmla="val 50000"/>
            </a:avLst>
          </a:prstGeom>
          <a:solidFill>
            <a:srgbClr val="E3E8EE"/>
          </a:solidFill>
          <a:ln w="12700">
            <a:solidFill>
              <a:srgbClr val="E3E8EE"/>
            </a:solidFill>
            <a:prstDash val="solid"/>
          </a:ln>
        </p:spPr>
      </p:sp>
      <p:sp>
        <p:nvSpPr>
          <p:cNvPr id="13" name="Text 10"/>
          <p:cNvSpPr txBox="1"/>
          <p:nvPr/>
        </p:nvSpPr>
        <p:spPr>
          <a:xfrm>
            <a:off x="457200" y="5230368"/>
            <a:ext cx="1097280" cy="256032"/>
          </a:xfrm>
          <a:prstGeom prst="rect">
            <a:avLst/>
          </a:prstGeom>
          <a:noFill/>
          <a:ln/>
        </p:spPr>
        <p:txBody>
          <a:bodyPr wrap="square" lIns="0" tIns="0" rIns="0" bIns="0" rtlCol="0" anchor="ctr"/>
          <a:lstStyle/>
          <a:p>
            <a:pPr algn="ctr" indent="0" marL="0">
              <a:buNone/>
            </a:pPr>
            <a:r>
              <a:rPr lang="en-US" sz="950" b="1" dirty="0">
                <a:solidFill>
                  <a:srgbClr val="1E2933"/>
                </a:solidFill>
                <a:latin typeface="Calibri" pitchFamily="34" charset="0"/>
                <a:ea typeface="Calibri" pitchFamily="34" charset="-122"/>
                <a:cs typeface="Calibri" pitchFamily="34" charset="-120"/>
              </a:rPr>
              <a:t>OBSERVED</a:t>
            </a:r>
            <a:endParaRPr lang="en-US" sz="950" dirty="0"/>
          </a:p>
        </p:txBody>
      </p:sp>
      <p:sp>
        <p:nvSpPr>
          <p:cNvPr id="14" name="Text 11"/>
          <p:cNvSpPr txBox="1"/>
          <p:nvPr/>
        </p:nvSpPr>
        <p:spPr>
          <a:xfrm>
            <a:off x="1600200" y="5184648"/>
            <a:ext cx="1645920" cy="411480"/>
          </a:xfrm>
          <a:prstGeom prst="rect">
            <a:avLst/>
          </a:prstGeom>
          <a:noFill/>
          <a:ln/>
        </p:spPr>
        <p:txBody>
          <a:bodyPr wrap="square" lIns="635" tIns="635" rIns="635" bIns="635" rtlCol="0" anchor="ctr"/>
          <a:lstStyle/>
          <a:p>
            <a:pPr indent="0" marL="0">
              <a:buNone/>
            </a:pPr>
            <a:r>
              <a:rPr lang="en-US" sz="1150" dirty="0">
                <a:solidFill>
                  <a:srgbClr val="1E2933"/>
                </a:solidFill>
                <a:latin typeface="Calibri" pitchFamily="34" charset="0"/>
                <a:ea typeface="Calibri" pitchFamily="34" charset="-122"/>
                <a:cs typeface="Calibri" pitchFamily="34" charset="-120"/>
              </a:rPr>
              <a:t>read from April's dashboards</a:t>
            </a:r>
            <a:endParaRPr lang="en-US" sz="1150" dirty="0"/>
          </a:p>
        </p:txBody>
      </p:sp>
      <p:sp>
        <p:nvSpPr>
          <p:cNvPr id="15" name="evidence-DERIVED"/>
          <p:cNvSpPr/>
          <p:nvPr/>
        </p:nvSpPr>
        <p:spPr>
          <a:xfrm>
            <a:off x="3291840" y="5230368"/>
            <a:ext cx="1097280" cy="256032"/>
          </a:xfrm>
          <a:prstGeom prst="roundRect">
            <a:avLst>
              <a:gd name="adj" fmla="val 50000"/>
            </a:avLst>
          </a:prstGeom>
          <a:solidFill>
            <a:srgbClr val="DCEBFA"/>
          </a:solidFill>
          <a:ln w="12700">
            <a:solidFill>
              <a:srgbClr val="DCEBFA"/>
            </a:solidFill>
            <a:prstDash val="solid"/>
          </a:ln>
        </p:spPr>
      </p:sp>
      <p:sp>
        <p:nvSpPr>
          <p:cNvPr id="16" name="Text 13"/>
          <p:cNvSpPr txBox="1"/>
          <p:nvPr/>
        </p:nvSpPr>
        <p:spPr>
          <a:xfrm>
            <a:off x="3291840" y="5230368"/>
            <a:ext cx="1097280" cy="256032"/>
          </a:xfrm>
          <a:prstGeom prst="rect">
            <a:avLst/>
          </a:prstGeom>
          <a:noFill/>
          <a:ln/>
        </p:spPr>
        <p:txBody>
          <a:bodyPr wrap="square" lIns="0" tIns="0" rIns="0" bIns="0" rtlCol="0" anchor="ctr"/>
          <a:lstStyle/>
          <a:p>
            <a:pPr algn="ctr" indent="0" marL="0">
              <a:buNone/>
            </a:pPr>
            <a:r>
              <a:rPr lang="en-US" sz="950" b="1" dirty="0">
                <a:solidFill>
                  <a:srgbClr val="1B4F8A"/>
                </a:solidFill>
                <a:latin typeface="Calibri" pitchFamily="34" charset="0"/>
                <a:ea typeface="Calibri" pitchFamily="34" charset="-122"/>
                <a:cs typeface="Calibri" pitchFamily="34" charset="-120"/>
              </a:rPr>
              <a:t>DERIVED</a:t>
            </a:r>
            <a:endParaRPr lang="en-US" sz="950" dirty="0"/>
          </a:p>
        </p:txBody>
      </p:sp>
      <p:sp>
        <p:nvSpPr>
          <p:cNvPr id="17" name="Text 14"/>
          <p:cNvSpPr txBox="1"/>
          <p:nvPr/>
        </p:nvSpPr>
        <p:spPr>
          <a:xfrm>
            <a:off x="4434840" y="5184648"/>
            <a:ext cx="1645920" cy="411480"/>
          </a:xfrm>
          <a:prstGeom prst="rect">
            <a:avLst/>
          </a:prstGeom>
          <a:noFill/>
          <a:ln/>
        </p:spPr>
        <p:txBody>
          <a:bodyPr wrap="square" lIns="635" tIns="635" rIns="635" bIns="635" rtlCol="0" anchor="ctr"/>
          <a:lstStyle/>
          <a:p>
            <a:pPr indent="0" marL="0">
              <a:buNone/>
            </a:pPr>
            <a:r>
              <a:rPr lang="en-US" sz="1150" dirty="0">
                <a:solidFill>
                  <a:srgbClr val="1E2933"/>
                </a:solidFill>
                <a:latin typeface="Calibri" pitchFamily="34" charset="0"/>
                <a:ea typeface="Calibri" pitchFamily="34" charset="-122"/>
                <a:cs typeface="Calibri" pitchFamily="34" charset="-120"/>
              </a:rPr>
              <a:t>computed from observed numbers</a:t>
            </a:r>
            <a:endParaRPr lang="en-US" sz="1150" dirty="0"/>
          </a:p>
        </p:txBody>
      </p:sp>
      <p:sp>
        <p:nvSpPr>
          <p:cNvPr id="18" name="evidence-ASSUMED"/>
          <p:cNvSpPr/>
          <p:nvPr/>
        </p:nvSpPr>
        <p:spPr>
          <a:xfrm>
            <a:off x="6126480" y="5230368"/>
            <a:ext cx="1097280" cy="256032"/>
          </a:xfrm>
          <a:prstGeom prst="roundRect">
            <a:avLst>
              <a:gd name="adj" fmla="val 50000"/>
            </a:avLst>
          </a:prstGeom>
          <a:solidFill>
            <a:srgbClr val="FDE3D3"/>
          </a:solidFill>
          <a:ln w="12700">
            <a:solidFill>
              <a:srgbClr val="FDE3D3"/>
            </a:solidFill>
            <a:prstDash val="solid"/>
          </a:ln>
        </p:spPr>
      </p:sp>
      <p:sp>
        <p:nvSpPr>
          <p:cNvPr id="19" name="Text 16"/>
          <p:cNvSpPr txBox="1"/>
          <p:nvPr/>
        </p:nvSpPr>
        <p:spPr>
          <a:xfrm>
            <a:off x="6126480" y="5230368"/>
            <a:ext cx="109728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20" name="Text 17"/>
          <p:cNvSpPr txBox="1"/>
          <p:nvPr/>
        </p:nvSpPr>
        <p:spPr>
          <a:xfrm>
            <a:off x="7269480" y="5184648"/>
            <a:ext cx="1645920" cy="411480"/>
          </a:xfrm>
          <a:prstGeom prst="rect">
            <a:avLst/>
          </a:prstGeom>
          <a:noFill/>
          <a:ln/>
        </p:spPr>
        <p:txBody>
          <a:bodyPr wrap="square" lIns="635" tIns="635" rIns="635" bIns="635" rtlCol="0" anchor="ctr"/>
          <a:lstStyle/>
          <a:p>
            <a:pPr indent="0" marL="0">
              <a:buNone/>
            </a:pPr>
            <a:r>
              <a:rPr lang="en-US" sz="1150" dirty="0">
                <a:solidFill>
                  <a:srgbClr val="1E2933"/>
                </a:solidFill>
                <a:latin typeface="Calibri" pitchFamily="34" charset="0"/>
                <a:ea typeface="Calibri" pitchFamily="34" charset="-122"/>
                <a:cs typeface="Calibri" pitchFamily="34" charset="-120"/>
              </a:rPr>
              <a:t>our modelling choice, to be tested</a:t>
            </a:r>
            <a:endParaRPr lang="en-US" sz="1150" dirty="0"/>
          </a:p>
        </p:txBody>
      </p:sp>
      <p:sp>
        <p:nvSpPr>
          <p:cNvPr id="21" name="evidence-DESIGNED"/>
          <p:cNvSpPr/>
          <p:nvPr/>
        </p:nvSpPr>
        <p:spPr>
          <a:xfrm>
            <a:off x="8961120" y="5230368"/>
            <a:ext cx="1097280" cy="256032"/>
          </a:xfrm>
          <a:prstGeom prst="roundRect">
            <a:avLst>
              <a:gd name="adj" fmla="val 50000"/>
            </a:avLst>
          </a:prstGeom>
          <a:solidFill>
            <a:srgbClr val="E8E4FA"/>
          </a:solidFill>
          <a:ln w="12700">
            <a:solidFill>
              <a:srgbClr val="E8E4FA"/>
            </a:solidFill>
            <a:prstDash val="solid"/>
          </a:ln>
        </p:spPr>
      </p:sp>
      <p:sp>
        <p:nvSpPr>
          <p:cNvPr id="22" name="Text 19"/>
          <p:cNvSpPr txBox="1"/>
          <p:nvPr/>
        </p:nvSpPr>
        <p:spPr>
          <a:xfrm>
            <a:off x="8961120" y="5230368"/>
            <a:ext cx="1097280" cy="256032"/>
          </a:xfrm>
          <a:prstGeom prst="rect">
            <a:avLst/>
          </a:prstGeom>
          <a:noFill/>
          <a:ln/>
        </p:spPr>
        <p:txBody>
          <a:bodyPr wrap="square" lIns="0" tIns="0" rIns="0" bIns="0" rtlCol="0" anchor="ctr"/>
          <a:lstStyle/>
          <a:p>
            <a:pPr algn="ctr" indent="0" marL="0">
              <a:buNone/>
            </a:pPr>
            <a:r>
              <a:rPr lang="en-US" sz="950" b="1" dirty="0">
                <a:solidFill>
                  <a:srgbClr val="3F2F9E"/>
                </a:solidFill>
                <a:latin typeface="Calibri" pitchFamily="34" charset="0"/>
                <a:ea typeface="Calibri" pitchFamily="34" charset="-122"/>
                <a:cs typeface="Calibri" pitchFamily="34" charset="-120"/>
              </a:rPr>
              <a:t>DESIGNED</a:t>
            </a:r>
            <a:endParaRPr lang="en-US" sz="950" dirty="0"/>
          </a:p>
        </p:txBody>
      </p:sp>
      <p:sp>
        <p:nvSpPr>
          <p:cNvPr id="23" name="Text 20"/>
          <p:cNvSpPr txBox="1"/>
          <p:nvPr/>
        </p:nvSpPr>
        <p:spPr>
          <a:xfrm>
            <a:off x="10104120" y="5184648"/>
            <a:ext cx="1645920" cy="411480"/>
          </a:xfrm>
          <a:prstGeom prst="rect">
            <a:avLst/>
          </a:prstGeom>
          <a:noFill/>
          <a:ln/>
        </p:spPr>
        <p:txBody>
          <a:bodyPr wrap="square" lIns="635" tIns="635" rIns="635" bIns="635" rtlCol="0" anchor="ctr"/>
          <a:lstStyle/>
          <a:p>
            <a:pPr indent="0" marL="0">
              <a:buNone/>
            </a:pPr>
            <a:r>
              <a:rPr lang="en-US" sz="1150" dirty="0">
                <a:solidFill>
                  <a:srgbClr val="1E2933"/>
                </a:solidFill>
                <a:latin typeface="Calibri" pitchFamily="34" charset="0"/>
                <a:ea typeface="Calibri" pitchFamily="34" charset="-122"/>
                <a:cs typeface="Calibri" pitchFamily="34" charset="-120"/>
              </a:rPr>
              <a:t>an experiment setting we chose</a:t>
            </a:r>
            <a:endParaRPr lang="en-US" sz="1150" dirty="0"/>
          </a:p>
        </p:txBody>
      </p:sp>
      <p:sp>
        <p:nvSpPr>
          <p:cNvPr id="24" name="Text 21"/>
          <p:cNvSpPr txBox="1"/>
          <p:nvPr/>
        </p:nvSpPr>
        <p:spPr>
          <a:xfrm>
            <a:off x="457200" y="5715000"/>
            <a:ext cx="11247120" cy="411480"/>
          </a:xfrm>
          <a:prstGeom prst="rect">
            <a:avLst/>
          </a:prstGeom>
          <a:noFill/>
          <a:ln/>
        </p:spPr>
        <p:txBody>
          <a:bodyPr wrap="square" lIns="635" tIns="635" rIns="635" bIns="635" rtlCol="0" anchor="t"/>
          <a:lstStyle/>
          <a:p>
            <a:pPr indent="0" marL="0">
              <a:buNone/>
            </a:pPr>
            <a:r>
              <a:rPr lang="en-US" sz="1500" i="1" dirty="0">
                <a:solidFill>
                  <a:srgbClr val="1E2933"/>
                </a:solidFill>
                <a:latin typeface="Calibri" pitchFamily="34" charset="0"/>
                <a:ea typeface="Calibri" pitchFamily="34" charset="-122"/>
                <a:cs typeface="Calibri" pitchFamily="34" charset="-120"/>
              </a:rPr>
              <a:t>We therefore built plausible evenings from the evidence, while keeping the missing pieces visible.</a:t>
            </a:r>
            <a:endParaRPr lang="en-US" sz="1500" dirty="0"/>
          </a:p>
        </p:txBody>
      </p:sp>
      <p:sp>
        <p:nvSpPr>
          <p:cNvPr id="25" name="Text 2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April 2026 operations dashboards (restricted; digitized aggregates in data/processed); docs/technical/scenario_methodology.md §3.</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How busy should a constructed evening be?</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7</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We estimated a workload from April's completed rides, request-to-completion ratio and reported vehicle availability.</a:t>
            </a:r>
            <a:endParaRPr lang="en-US" sz="1700" dirty="0"/>
          </a:p>
        </p:txBody>
      </p:sp>
      <p:sp>
        <p:nvSpPr>
          <p:cNvPr id="6" name="Shape 3"/>
          <p:cNvSpPr/>
          <p:nvPr/>
        </p:nvSpPr>
        <p:spPr>
          <a:xfrm>
            <a:off x="457200" y="1691640"/>
            <a:ext cx="2651760" cy="1828800"/>
          </a:xfrm>
          <a:prstGeom prst="roundRect">
            <a:avLst>
              <a:gd name="adj" fmla="val 3500"/>
            </a:avLst>
          </a:prstGeom>
          <a:solidFill>
            <a:srgbClr val="EEF1F4"/>
          </a:solidFill>
          <a:ln w="9525">
            <a:solidFill>
              <a:srgbClr val="EEF1F4"/>
            </a:solidFill>
            <a:prstDash val="solid"/>
          </a:ln>
        </p:spPr>
      </p:sp>
      <p:sp>
        <p:nvSpPr>
          <p:cNvPr id="7" name="Text 4"/>
          <p:cNvSpPr txBox="1"/>
          <p:nvPr/>
        </p:nvSpPr>
        <p:spPr>
          <a:xfrm>
            <a:off x="566928" y="1737360"/>
            <a:ext cx="2468880" cy="45720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Completed rides, 6 pm hour</a:t>
            </a:r>
            <a:endParaRPr lang="en-US" sz="1350" dirty="0"/>
          </a:p>
        </p:txBody>
      </p:sp>
      <p:sp>
        <p:nvSpPr>
          <p:cNvPr id="8" name="Text 5"/>
          <p:cNvSpPr txBox="1"/>
          <p:nvPr/>
        </p:nvSpPr>
        <p:spPr>
          <a:xfrm>
            <a:off x="566928" y="2194560"/>
            <a:ext cx="2468880" cy="3657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 5,100 rides ÷ 30 days</a:t>
            </a:r>
            <a:endParaRPr lang="en-US" sz="1300" dirty="0"/>
          </a:p>
        </p:txBody>
      </p:sp>
      <p:sp>
        <p:nvSpPr>
          <p:cNvPr id="9" name="Text 6"/>
          <p:cNvSpPr txBox="1"/>
          <p:nvPr/>
        </p:nvSpPr>
        <p:spPr>
          <a:xfrm>
            <a:off x="566928" y="2578608"/>
            <a:ext cx="2468880" cy="45720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 170 rides / evening</a:t>
            </a:r>
            <a:endParaRPr lang="en-US" sz="1700" dirty="0"/>
          </a:p>
        </p:txBody>
      </p:sp>
      <p:sp>
        <p:nvSpPr>
          <p:cNvPr id="10" name="evidence-DERIVED"/>
          <p:cNvSpPr/>
          <p:nvPr/>
        </p:nvSpPr>
        <p:spPr>
          <a:xfrm>
            <a:off x="566928" y="3136392"/>
            <a:ext cx="1051560" cy="256032"/>
          </a:xfrm>
          <a:prstGeom prst="roundRect">
            <a:avLst>
              <a:gd name="adj" fmla="val 50000"/>
            </a:avLst>
          </a:prstGeom>
          <a:solidFill>
            <a:srgbClr val="DCEBFA"/>
          </a:solidFill>
          <a:ln w="12700">
            <a:solidFill>
              <a:srgbClr val="DCEBFA"/>
            </a:solidFill>
            <a:prstDash val="solid"/>
          </a:ln>
        </p:spPr>
      </p:sp>
      <p:sp>
        <p:nvSpPr>
          <p:cNvPr id="11" name="Text 8"/>
          <p:cNvSpPr txBox="1"/>
          <p:nvPr/>
        </p:nvSpPr>
        <p:spPr>
          <a:xfrm>
            <a:off x="566928" y="3136392"/>
            <a:ext cx="1051560" cy="256032"/>
          </a:xfrm>
          <a:prstGeom prst="rect">
            <a:avLst/>
          </a:prstGeom>
          <a:noFill/>
          <a:ln/>
        </p:spPr>
        <p:txBody>
          <a:bodyPr wrap="square" lIns="0" tIns="0" rIns="0" bIns="0" rtlCol="0" anchor="ctr"/>
          <a:lstStyle/>
          <a:p>
            <a:pPr algn="ctr" indent="0" marL="0">
              <a:buNone/>
            </a:pPr>
            <a:r>
              <a:rPr lang="en-US" sz="950" b="1" dirty="0">
                <a:solidFill>
                  <a:srgbClr val="1B4F8A"/>
                </a:solidFill>
                <a:latin typeface="Calibri" pitchFamily="34" charset="0"/>
                <a:ea typeface="Calibri" pitchFamily="34" charset="-122"/>
                <a:cs typeface="Calibri" pitchFamily="34" charset="-120"/>
              </a:rPr>
              <a:t>DERIVED</a:t>
            </a:r>
            <a:endParaRPr lang="en-US" sz="950" dirty="0"/>
          </a:p>
        </p:txBody>
      </p:sp>
      <p:sp>
        <p:nvSpPr>
          <p:cNvPr id="12" name="Shape 9"/>
          <p:cNvSpPr/>
          <p:nvPr/>
        </p:nvSpPr>
        <p:spPr>
          <a:xfrm>
            <a:off x="3127248" y="2606040"/>
            <a:ext cx="146304" cy="914"/>
          </a:xfrm>
          <a:prstGeom prst="line">
            <a:avLst/>
          </a:prstGeom>
          <a:noFill/>
          <a:ln w="19050">
            <a:solidFill>
              <a:srgbClr val="1E2933"/>
            </a:solidFill>
            <a:prstDash val="solid"/>
            <a:tailEnd type="triangle"/>
          </a:ln>
        </p:spPr>
      </p:sp>
      <p:sp>
        <p:nvSpPr>
          <p:cNvPr id="13" name="Shape 10"/>
          <p:cNvSpPr/>
          <p:nvPr/>
        </p:nvSpPr>
        <p:spPr>
          <a:xfrm>
            <a:off x="3291840" y="1691640"/>
            <a:ext cx="2651760" cy="1828800"/>
          </a:xfrm>
          <a:prstGeom prst="roundRect">
            <a:avLst>
              <a:gd name="adj" fmla="val 3500"/>
            </a:avLst>
          </a:prstGeom>
          <a:solidFill>
            <a:srgbClr val="EEF1F4"/>
          </a:solidFill>
          <a:ln w="9525">
            <a:solidFill>
              <a:srgbClr val="EEF1F4"/>
            </a:solidFill>
            <a:prstDash val="solid"/>
          </a:ln>
        </p:spPr>
      </p:sp>
      <p:sp>
        <p:nvSpPr>
          <p:cNvPr id="14" name="Text 11"/>
          <p:cNvSpPr txBox="1"/>
          <p:nvPr/>
        </p:nvSpPr>
        <p:spPr>
          <a:xfrm>
            <a:off x="3401568" y="1737360"/>
            <a:ext cx="2468880" cy="45720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Requests per completed ride</a:t>
            </a:r>
            <a:endParaRPr lang="en-US" sz="1350" dirty="0"/>
          </a:p>
        </p:txBody>
      </p:sp>
      <p:sp>
        <p:nvSpPr>
          <p:cNvPr id="15" name="Text 12"/>
          <p:cNvSpPr txBox="1"/>
          <p:nvPr/>
        </p:nvSpPr>
        <p:spPr>
          <a:xfrm>
            <a:off x="3401568" y="2194560"/>
            <a:ext cx="2468880" cy="3657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50,297 requests ÷ 24,095 completed</a:t>
            </a:r>
            <a:endParaRPr lang="en-US" sz="1300" dirty="0"/>
          </a:p>
        </p:txBody>
      </p:sp>
      <p:sp>
        <p:nvSpPr>
          <p:cNvPr id="16" name="Text 13"/>
          <p:cNvSpPr txBox="1"/>
          <p:nvPr/>
        </p:nvSpPr>
        <p:spPr>
          <a:xfrm>
            <a:off x="3401568" y="2578608"/>
            <a:ext cx="2468880" cy="45720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 2.09 requests / ride</a:t>
            </a:r>
            <a:endParaRPr lang="en-US" sz="1700" dirty="0"/>
          </a:p>
        </p:txBody>
      </p:sp>
      <p:sp>
        <p:nvSpPr>
          <p:cNvPr id="17" name="evidence-DERIVED"/>
          <p:cNvSpPr/>
          <p:nvPr/>
        </p:nvSpPr>
        <p:spPr>
          <a:xfrm>
            <a:off x="3401568" y="3136392"/>
            <a:ext cx="1051560" cy="256032"/>
          </a:xfrm>
          <a:prstGeom prst="roundRect">
            <a:avLst>
              <a:gd name="adj" fmla="val 50000"/>
            </a:avLst>
          </a:prstGeom>
          <a:solidFill>
            <a:srgbClr val="DCEBFA"/>
          </a:solidFill>
          <a:ln w="12700">
            <a:solidFill>
              <a:srgbClr val="DCEBFA"/>
            </a:solidFill>
            <a:prstDash val="solid"/>
          </a:ln>
        </p:spPr>
      </p:sp>
      <p:sp>
        <p:nvSpPr>
          <p:cNvPr id="18" name="Text 15"/>
          <p:cNvSpPr txBox="1"/>
          <p:nvPr/>
        </p:nvSpPr>
        <p:spPr>
          <a:xfrm>
            <a:off x="3401568" y="3136392"/>
            <a:ext cx="1051560" cy="256032"/>
          </a:xfrm>
          <a:prstGeom prst="rect">
            <a:avLst/>
          </a:prstGeom>
          <a:noFill/>
          <a:ln/>
        </p:spPr>
        <p:txBody>
          <a:bodyPr wrap="square" lIns="0" tIns="0" rIns="0" bIns="0" rtlCol="0" anchor="ctr"/>
          <a:lstStyle/>
          <a:p>
            <a:pPr algn="ctr" indent="0" marL="0">
              <a:buNone/>
            </a:pPr>
            <a:r>
              <a:rPr lang="en-US" sz="950" b="1" dirty="0">
                <a:solidFill>
                  <a:srgbClr val="1B4F8A"/>
                </a:solidFill>
                <a:latin typeface="Calibri" pitchFamily="34" charset="0"/>
                <a:ea typeface="Calibri" pitchFamily="34" charset="-122"/>
                <a:cs typeface="Calibri" pitchFamily="34" charset="-120"/>
              </a:rPr>
              <a:t>DERIVED</a:t>
            </a:r>
            <a:endParaRPr lang="en-US" sz="950" dirty="0"/>
          </a:p>
        </p:txBody>
      </p:sp>
      <p:sp>
        <p:nvSpPr>
          <p:cNvPr id="19" name="Shape 16"/>
          <p:cNvSpPr/>
          <p:nvPr/>
        </p:nvSpPr>
        <p:spPr>
          <a:xfrm>
            <a:off x="5961888" y="2606040"/>
            <a:ext cx="146304" cy="914"/>
          </a:xfrm>
          <a:prstGeom prst="line">
            <a:avLst/>
          </a:prstGeom>
          <a:noFill/>
          <a:ln w="19050">
            <a:solidFill>
              <a:srgbClr val="1E2933"/>
            </a:solidFill>
            <a:prstDash val="solid"/>
            <a:tailEnd type="triangle"/>
          </a:ln>
        </p:spPr>
      </p:sp>
      <p:sp>
        <p:nvSpPr>
          <p:cNvPr id="20" name="Shape 17"/>
          <p:cNvSpPr/>
          <p:nvPr/>
        </p:nvSpPr>
        <p:spPr>
          <a:xfrm>
            <a:off x="6126480" y="1691640"/>
            <a:ext cx="2651760" cy="1828800"/>
          </a:xfrm>
          <a:prstGeom prst="roundRect">
            <a:avLst>
              <a:gd name="adj" fmla="val 3500"/>
            </a:avLst>
          </a:prstGeom>
          <a:solidFill>
            <a:srgbClr val="EEF1F4"/>
          </a:solidFill>
          <a:ln w="9525">
            <a:solidFill>
              <a:srgbClr val="EEF1F4"/>
            </a:solidFill>
            <a:prstDash val="solid"/>
          </a:ln>
        </p:spPr>
      </p:sp>
      <p:sp>
        <p:nvSpPr>
          <p:cNvPr id="21" name="Text 18"/>
          <p:cNvSpPr txBox="1"/>
          <p:nvPr/>
        </p:nvSpPr>
        <p:spPr>
          <a:xfrm>
            <a:off x="6236208" y="1737360"/>
            <a:ext cx="2468880" cy="45720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Requests in that hour</a:t>
            </a:r>
            <a:endParaRPr lang="en-US" sz="1350" dirty="0"/>
          </a:p>
        </p:txBody>
      </p:sp>
      <p:sp>
        <p:nvSpPr>
          <p:cNvPr id="22" name="Text 19"/>
          <p:cNvSpPr txBox="1"/>
          <p:nvPr/>
        </p:nvSpPr>
        <p:spPr>
          <a:xfrm>
            <a:off x="6236208" y="2194560"/>
            <a:ext cx="2468880" cy="3657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170 rides × 2.09</a:t>
            </a:r>
            <a:endParaRPr lang="en-US" sz="1300" dirty="0"/>
          </a:p>
        </p:txBody>
      </p:sp>
      <p:sp>
        <p:nvSpPr>
          <p:cNvPr id="23" name="Text 20"/>
          <p:cNvSpPr txBox="1"/>
          <p:nvPr/>
        </p:nvSpPr>
        <p:spPr>
          <a:xfrm>
            <a:off x="6236208" y="2578608"/>
            <a:ext cx="2468880" cy="45720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 355 requests / hour</a:t>
            </a:r>
            <a:endParaRPr lang="en-US" sz="1700" dirty="0"/>
          </a:p>
        </p:txBody>
      </p:sp>
      <p:sp>
        <p:nvSpPr>
          <p:cNvPr id="24" name="evidence-DERIVED + ASSUMED"/>
          <p:cNvSpPr/>
          <p:nvPr/>
        </p:nvSpPr>
        <p:spPr>
          <a:xfrm>
            <a:off x="6236208" y="3136392"/>
            <a:ext cx="1645920" cy="256032"/>
          </a:xfrm>
          <a:prstGeom prst="roundRect">
            <a:avLst>
              <a:gd name="adj" fmla="val 50000"/>
            </a:avLst>
          </a:prstGeom>
          <a:solidFill>
            <a:srgbClr val="E6E3F0"/>
          </a:solidFill>
          <a:ln w="12700">
            <a:solidFill>
              <a:srgbClr val="E6E3F0"/>
            </a:solidFill>
            <a:prstDash val="solid"/>
          </a:ln>
        </p:spPr>
      </p:sp>
      <p:sp>
        <p:nvSpPr>
          <p:cNvPr id="25" name="Text 22"/>
          <p:cNvSpPr txBox="1"/>
          <p:nvPr/>
        </p:nvSpPr>
        <p:spPr>
          <a:xfrm>
            <a:off x="6236208" y="3136392"/>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26" name="Shape 23"/>
          <p:cNvSpPr/>
          <p:nvPr/>
        </p:nvSpPr>
        <p:spPr>
          <a:xfrm>
            <a:off x="8796528" y="2606040"/>
            <a:ext cx="146304" cy="914"/>
          </a:xfrm>
          <a:prstGeom prst="line">
            <a:avLst/>
          </a:prstGeom>
          <a:noFill/>
          <a:ln w="19050">
            <a:solidFill>
              <a:srgbClr val="1E2933"/>
            </a:solidFill>
            <a:prstDash val="solid"/>
            <a:tailEnd type="triangle"/>
          </a:ln>
        </p:spPr>
      </p:sp>
      <p:sp>
        <p:nvSpPr>
          <p:cNvPr id="27" name="Shape 24"/>
          <p:cNvSpPr/>
          <p:nvPr/>
        </p:nvSpPr>
        <p:spPr>
          <a:xfrm>
            <a:off x="8961120" y="1691640"/>
            <a:ext cx="2651760" cy="1828800"/>
          </a:xfrm>
          <a:prstGeom prst="roundRect">
            <a:avLst>
              <a:gd name="adj" fmla="val 3500"/>
            </a:avLst>
          </a:prstGeom>
          <a:solidFill>
            <a:srgbClr val="EEF1F4"/>
          </a:solidFill>
          <a:ln w="9525">
            <a:solidFill>
              <a:srgbClr val="EEF1F4"/>
            </a:solidFill>
            <a:prstDash val="solid"/>
          </a:ln>
        </p:spPr>
      </p:sp>
      <p:sp>
        <p:nvSpPr>
          <p:cNvPr id="28" name="Text 25"/>
          <p:cNvSpPr txBox="1"/>
          <p:nvPr/>
        </p:nvSpPr>
        <p:spPr>
          <a:xfrm>
            <a:off x="9070848" y="1737360"/>
            <a:ext cx="2468880" cy="45720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Per vehicle on duty</a:t>
            </a:r>
            <a:endParaRPr lang="en-US" sz="1350" dirty="0"/>
          </a:p>
        </p:txBody>
      </p:sp>
      <p:sp>
        <p:nvSpPr>
          <p:cNvPr id="29" name="Text 26"/>
          <p:cNvSpPr txBox="1"/>
          <p:nvPr/>
        </p:nvSpPr>
        <p:spPr>
          <a:xfrm>
            <a:off x="9070848" y="2194560"/>
            <a:ext cx="2468880" cy="3657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355 ÷ 27.6 vehicles</a:t>
            </a:r>
            <a:endParaRPr lang="en-US" sz="1300" dirty="0"/>
          </a:p>
        </p:txBody>
      </p:sp>
      <p:sp>
        <p:nvSpPr>
          <p:cNvPr id="30" name="Text 27"/>
          <p:cNvSpPr txBox="1"/>
          <p:nvPr/>
        </p:nvSpPr>
        <p:spPr>
          <a:xfrm>
            <a:off x="9070848" y="2578608"/>
            <a:ext cx="2468880" cy="45720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 12.85 requests / vehicle-hour</a:t>
            </a:r>
            <a:endParaRPr lang="en-US" sz="1700" dirty="0"/>
          </a:p>
        </p:txBody>
      </p:sp>
      <p:sp>
        <p:nvSpPr>
          <p:cNvPr id="31" name="evidence-DERIVED + ASSUMED"/>
          <p:cNvSpPr/>
          <p:nvPr/>
        </p:nvSpPr>
        <p:spPr>
          <a:xfrm>
            <a:off x="9070848" y="3136392"/>
            <a:ext cx="1645920" cy="256032"/>
          </a:xfrm>
          <a:prstGeom prst="roundRect">
            <a:avLst>
              <a:gd name="adj" fmla="val 50000"/>
            </a:avLst>
          </a:prstGeom>
          <a:solidFill>
            <a:srgbClr val="E6E3F0"/>
          </a:solidFill>
          <a:ln w="12700">
            <a:solidFill>
              <a:srgbClr val="E6E3F0"/>
            </a:solidFill>
            <a:prstDash val="solid"/>
          </a:ln>
        </p:spPr>
      </p:sp>
      <p:sp>
        <p:nvSpPr>
          <p:cNvPr id="32" name="Text 29"/>
          <p:cNvSpPr txBox="1"/>
          <p:nvPr/>
        </p:nvSpPr>
        <p:spPr>
          <a:xfrm>
            <a:off x="9070848" y="3136392"/>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33" name="Shape 30"/>
          <p:cNvSpPr/>
          <p:nvPr/>
        </p:nvSpPr>
        <p:spPr>
          <a:xfrm>
            <a:off x="457200" y="3703320"/>
            <a:ext cx="11247120" cy="868680"/>
          </a:xfrm>
          <a:prstGeom prst="roundRect">
            <a:avLst>
              <a:gd name="adj" fmla="val 7368"/>
            </a:avLst>
          </a:prstGeom>
          <a:solidFill>
            <a:srgbClr val="FFF4EC"/>
          </a:solidFill>
          <a:ln w="9525">
            <a:solidFill>
              <a:srgbClr val="FFF4EC"/>
            </a:solidFill>
            <a:prstDash val="solid"/>
          </a:ln>
        </p:spPr>
      </p:sp>
      <p:sp>
        <p:nvSpPr>
          <p:cNvPr id="34" name="evidence-ASSUMED"/>
          <p:cNvSpPr/>
          <p:nvPr/>
        </p:nvSpPr>
        <p:spPr>
          <a:xfrm>
            <a:off x="594360" y="3794760"/>
            <a:ext cx="1051560" cy="256032"/>
          </a:xfrm>
          <a:prstGeom prst="roundRect">
            <a:avLst>
              <a:gd name="adj" fmla="val 50000"/>
            </a:avLst>
          </a:prstGeom>
          <a:solidFill>
            <a:srgbClr val="FDE3D3"/>
          </a:solidFill>
          <a:ln w="12700">
            <a:solidFill>
              <a:srgbClr val="FDE3D3"/>
            </a:solidFill>
            <a:prstDash val="solid"/>
          </a:ln>
        </p:spPr>
      </p:sp>
      <p:sp>
        <p:nvSpPr>
          <p:cNvPr id="35" name="Text 32"/>
          <p:cNvSpPr txBox="1"/>
          <p:nvPr/>
        </p:nvSpPr>
        <p:spPr>
          <a:xfrm>
            <a:off x="594360" y="3794760"/>
            <a:ext cx="105156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36" name="Text 33"/>
          <p:cNvSpPr txBox="1"/>
          <p:nvPr/>
        </p:nvSpPr>
        <p:spPr>
          <a:xfrm>
            <a:off x="1783080" y="3730752"/>
            <a:ext cx="9829800" cy="822960"/>
          </a:xfrm>
          <a:prstGeom prst="rect">
            <a:avLst/>
          </a:prstGeom>
          <a:noFill/>
          <a:ln/>
        </p:spPr>
        <p:txBody>
          <a:bodyPr wrap="square" lIns="635" tIns="635" rIns="635" bIns="635" rtlCol="0" anchor="ctr"/>
          <a:lstStyle/>
          <a:p>
            <a:pPr indent="0" marL="0">
              <a:buNone/>
            </a:pPr>
            <a:r>
              <a:rPr lang="en-US" sz="1400" dirty="0">
                <a:solidFill>
                  <a:srgbClr val="1E2933"/>
                </a:solidFill>
                <a:latin typeface="Calibri" pitchFamily="34" charset="0"/>
                <a:ea typeface="Calibri" pitchFamily="34" charset="-122"/>
                <a:cs typeface="Calibri" pitchFamily="34" charset="-120"/>
              </a:rPr>
              <a:t>This assumes the monthly request-to-completion ratio applies within the hour, and uses vehicle availability reported across services. It is an estimated workload, not observed arrivals.</a:t>
            </a:r>
            <a:endParaRPr lang="en-US" sz="1400" dirty="0"/>
          </a:p>
        </p:txBody>
      </p:sp>
      <p:sp>
        <p:nvSpPr>
          <p:cNvPr id="37" name="Shape 34"/>
          <p:cNvSpPr/>
          <p:nvPr/>
        </p:nvSpPr>
        <p:spPr>
          <a:xfrm>
            <a:off x="457200" y="4754880"/>
            <a:ext cx="6766560" cy="1371600"/>
          </a:xfrm>
          <a:prstGeom prst="roundRect">
            <a:avLst>
              <a:gd name="adj" fmla="val 4667"/>
            </a:avLst>
          </a:prstGeom>
          <a:solidFill>
            <a:srgbClr val="FFFFFF"/>
          </a:solidFill>
          <a:ln w="15875">
            <a:solidFill>
              <a:srgbClr val="D5DADF"/>
            </a:solidFill>
            <a:prstDash val="solid"/>
          </a:ln>
        </p:spPr>
      </p:sp>
      <p:sp>
        <p:nvSpPr>
          <p:cNvPr id="38" name="Text 35"/>
          <p:cNvSpPr txBox="1"/>
          <p:nvPr/>
        </p:nvSpPr>
        <p:spPr>
          <a:xfrm>
            <a:off x="594360" y="4828032"/>
            <a:ext cx="6492240" cy="411480"/>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Five vans × hourly load → </a:t>
            </a:r>
            <a:pPr indent="0" marL="0">
              <a:buNone/>
            </a:pPr>
            <a:r>
              <a:rPr lang="en-US" sz="1600" b="1" dirty="0">
                <a:solidFill>
                  <a:srgbClr val="2A78D6"/>
                </a:solidFill>
                <a:latin typeface="Calibri" pitchFamily="34" charset="0"/>
                <a:ea typeface="Calibri" pitchFamily="34" charset="-122"/>
                <a:cs typeface="Calibri" pitchFamily="34" charset="-120"/>
              </a:rPr>
              <a:t>64 / 50 / 54 requests in three hours = 168</a:t>
            </a:r>
            <a:endParaRPr lang="en-US" sz="1600" dirty="0"/>
          </a:p>
        </p:txBody>
      </p:sp>
      <p:sp>
        <p:nvSpPr>
          <p:cNvPr id="39" name="Text 36"/>
          <p:cNvSpPr txBox="1"/>
          <p:nvPr/>
        </p:nvSpPr>
        <p:spPr>
          <a:xfrm>
            <a:off x="594360" y="5257800"/>
            <a:ext cx="6492240" cy="777240"/>
          </a:xfrm>
          <a:prstGeom prst="rect">
            <a:avLst/>
          </a:prstGeom>
          <a:noFill/>
          <a:ln/>
        </p:spPr>
        <p:txBody>
          <a:bodyPr wrap="square" lIns="635" tIns="635" rIns="635" bIns="635" rtlCol="0" anchor="t"/>
          <a:lstStyle/>
          <a:p>
            <a:pPr indent="0" marL="0">
              <a:buNone/>
            </a:pPr>
            <a:r>
              <a:rPr lang="en-US" sz="1250" dirty="0">
                <a:solidFill>
                  <a:srgbClr val="5B6670"/>
                </a:solidFill>
                <a:latin typeface="Calibri" pitchFamily="34" charset="0"/>
                <a:ea typeface="Calibri" pitchFamily="34" charset="-122"/>
                <a:cs typeface="Calibri" pitchFamily="34" charset="-120"/>
              </a:rPr>
              <a:t>Five vans is our planned evening (a team design choice). Each hour uses its own rides and vehicles on duty. Illustrative range about 150–260 (unknown Homewood share of vehicles, repeat requests).</a:t>
            </a:r>
            <a:endParaRPr lang="en-US" sz="1250" dirty="0"/>
          </a:p>
        </p:txBody>
      </p:sp>
      <p:sp>
        <p:nvSpPr>
          <p:cNvPr id="40" name="status-PLANNED"/>
          <p:cNvSpPr/>
          <p:nvPr/>
        </p:nvSpPr>
        <p:spPr>
          <a:xfrm>
            <a:off x="7498080" y="4800600"/>
            <a:ext cx="2926080" cy="292608"/>
          </a:xfrm>
          <a:prstGeom prst="rect">
            <a:avLst/>
          </a:prstGeom>
          <a:solidFill>
            <a:srgbClr val="FFFFFF"/>
          </a:solidFill>
          <a:ln w="19050">
            <a:solidFill>
              <a:srgbClr val="8A6400"/>
            </a:solidFill>
            <a:prstDash val="dash"/>
          </a:ln>
        </p:spPr>
      </p:sp>
      <p:sp>
        <p:nvSpPr>
          <p:cNvPr id="41" name="Text 38"/>
          <p:cNvSpPr txBox="1"/>
          <p:nvPr/>
        </p:nvSpPr>
        <p:spPr>
          <a:xfrm>
            <a:off x="7498080" y="4800600"/>
            <a:ext cx="2926080" cy="292608"/>
          </a:xfrm>
          <a:prstGeom prst="rect">
            <a:avLst/>
          </a:prstGeom>
          <a:noFill/>
          <a:ln/>
        </p:spPr>
        <p:txBody>
          <a:bodyPr wrap="square" lIns="0" tIns="0" rIns="0" bIns="0" rtlCol="0" anchor="ctr"/>
          <a:lstStyle/>
          <a:p>
            <a:pPr algn="ctr" indent="0" marL="0">
              <a:buNone/>
            </a:pPr>
            <a:r>
              <a:rPr lang="en-US" sz="1050" b="1" dirty="0">
                <a:solidFill>
                  <a:srgbClr val="8A6400"/>
                </a:solidFill>
                <a:latin typeface="Calibri" pitchFamily="34" charset="0"/>
                <a:ea typeface="Calibri" pitchFamily="34" charset="-122"/>
                <a:cs typeface="Calibri" pitchFamily="34" charset="-120"/>
              </a:rPr>
              <a:t>PLANNED — NOT YET RUN</a:t>
            </a:r>
            <a:endParaRPr lang="en-US" sz="1050" dirty="0"/>
          </a:p>
        </p:txBody>
      </p:sp>
      <p:sp>
        <p:nvSpPr>
          <p:cNvPr id="42" name="Text 39"/>
          <p:cNvSpPr txBox="1"/>
          <p:nvPr/>
        </p:nvSpPr>
        <p:spPr>
          <a:xfrm>
            <a:off x="7498080" y="5166360"/>
            <a:ext cx="4206240" cy="822960"/>
          </a:xfrm>
          <a:prstGeom prst="rect">
            <a:avLst/>
          </a:prstGeom>
          <a:noFill/>
          <a:ln/>
        </p:spPr>
        <p:txBody>
          <a:bodyPr wrap="square" lIns="635" tIns="635" rIns="635" bIns="635" rtlCol="0" anchor="t"/>
          <a:lstStyle/>
          <a:p>
            <a:pPr indent="0" marL="0">
              <a:buNone/>
            </a:pPr>
            <a:r>
              <a:rPr lang="en-US" sz="1350" dirty="0">
                <a:solidFill>
                  <a:srgbClr val="1E2933"/>
                </a:solidFill>
                <a:latin typeface="Calibri" pitchFamily="34" charset="0"/>
                <a:ea typeface="Calibri" pitchFamily="34" charset="-122"/>
                <a:cs typeface="Calibri" pitchFamily="34" charset="-120"/>
              </a:rPr>
              <a:t>The five-van, 168-request evening is designed but has not been run.</a:t>
            </a:r>
            <a:endParaRPr lang="en-US" sz="1350" dirty="0"/>
          </a:p>
        </p:txBody>
      </p:sp>
      <p:sp>
        <p:nvSpPr>
          <p:cNvPr id="43" name="Text 40"/>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April dashboards (rides by hour, status totals, vehicles on duty); docs/technical/decision_log.md D-35, D-36, D-49.</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We started with a smaller, deliberately demanding hour</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8</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current results come from two vans and 28 requests in one hour, repeated across 30 constructed nights.</a:t>
            </a:r>
            <a:endParaRPr lang="en-US" sz="1700" dirty="0"/>
          </a:p>
        </p:txBody>
      </p:sp>
      <p:sp>
        <p:nvSpPr>
          <p:cNvPr id="6" name="Shape 3"/>
          <p:cNvSpPr/>
          <p:nvPr/>
        </p:nvSpPr>
        <p:spPr>
          <a:xfrm>
            <a:off x="822960" y="2834640"/>
            <a:ext cx="6766560" cy="914"/>
          </a:xfrm>
          <a:prstGeom prst="line">
            <a:avLst/>
          </a:prstGeom>
          <a:noFill/>
          <a:ln w="19050">
            <a:solidFill>
              <a:srgbClr val="1E2933"/>
            </a:solidFill>
            <a:prstDash val="solid"/>
          </a:ln>
        </p:spPr>
      </p:sp>
      <p:sp>
        <p:nvSpPr>
          <p:cNvPr id="7" name="Shape 4"/>
          <p:cNvSpPr/>
          <p:nvPr/>
        </p:nvSpPr>
        <p:spPr>
          <a:xfrm>
            <a:off x="822960" y="2770632"/>
            <a:ext cx="914" cy="128016"/>
          </a:xfrm>
          <a:prstGeom prst="line">
            <a:avLst/>
          </a:prstGeom>
          <a:noFill/>
          <a:ln w="12700">
            <a:solidFill>
              <a:srgbClr val="1E2933"/>
            </a:solidFill>
            <a:prstDash val="solid"/>
          </a:ln>
        </p:spPr>
      </p:sp>
      <p:sp>
        <p:nvSpPr>
          <p:cNvPr id="8" name="Text 5"/>
          <p:cNvSpPr txBox="1"/>
          <p:nvPr/>
        </p:nvSpPr>
        <p:spPr>
          <a:xfrm>
            <a:off x="45720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18:00</a:t>
            </a:r>
            <a:endParaRPr lang="en-US" sz="1050" dirty="0"/>
          </a:p>
        </p:txBody>
      </p:sp>
      <p:sp>
        <p:nvSpPr>
          <p:cNvPr id="9" name="Shape 6"/>
          <p:cNvSpPr/>
          <p:nvPr/>
        </p:nvSpPr>
        <p:spPr>
          <a:xfrm>
            <a:off x="1950720" y="2770632"/>
            <a:ext cx="914" cy="128016"/>
          </a:xfrm>
          <a:prstGeom prst="line">
            <a:avLst/>
          </a:prstGeom>
          <a:noFill/>
          <a:ln w="12700">
            <a:solidFill>
              <a:srgbClr val="1E2933"/>
            </a:solidFill>
            <a:prstDash val="solid"/>
          </a:ln>
        </p:spPr>
      </p:sp>
      <p:sp>
        <p:nvSpPr>
          <p:cNvPr id="10" name="Text 7"/>
          <p:cNvSpPr txBox="1"/>
          <p:nvPr/>
        </p:nvSpPr>
        <p:spPr>
          <a:xfrm>
            <a:off x="158496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18:10</a:t>
            </a:r>
            <a:endParaRPr lang="en-US" sz="1050" dirty="0"/>
          </a:p>
        </p:txBody>
      </p:sp>
      <p:sp>
        <p:nvSpPr>
          <p:cNvPr id="11" name="Shape 8"/>
          <p:cNvSpPr/>
          <p:nvPr/>
        </p:nvSpPr>
        <p:spPr>
          <a:xfrm>
            <a:off x="3078480" y="2770632"/>
            <a:ext cx="914" cy="128016"/>
          </a:xfrm>
          <a:prstGeom prst="line">
            <a:avLst/>
          </a:prstGeom>
          <a:noFill/>
          <a:ln w="12700">
            <a:solidFill>
              <a:srgbClr val="1E2933"/>
            </a:solidFill>
            <a:prstDash val="solid"/>
          </a:ln>
        </p:spPr>
      </p:sp>
      <p:sp>
        <p:nvSpPr>
          <p:cNvPr id="12" name="Text 9"/>
          <p:cNvSpPr txBox="1"/>
          <p:nvPr/>
        </p:nvSpPr>
        <p:spPr>
          <a:xfrm>
            <a:off x="271272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18:20</a:t>
            </a:r>
            <a:endParaRPr lang="en-US" sz="1050" dirty="0"/>
          </a:p>
        </p:txBody>
      </p:sp>
      <p:sp>
        <p:nvSpPr>
          <p:cNvPr id="13" name="Shape 10"/>
          <p:cNvSpPr/>
          <p:nvPr/>
        </p:nvSpPr>
        <p:spPr>
          <a:xfrm>
            <a:off x="4206240" y="2770632"/>
            <a:ext cx="914" cy="128016"/>
          </a:xfrm>
          <a:prstGeom prst="line">
            <a:avLst/>
          </a:prstGeom>
          <a:noFill/>
          <a:ln w="12700">
            <a:solidFill>
              <a:srgbClr val="1E2933"/>
            </a:solidFill>
            <a:prstDash val="solid"/>
          </a:ln>
        </p:spPr>
      </p:sp>
      <p:sp>
        <p:nvSpPr>
          <p:cNvPr id="14" name="Text 11"/>
          <p:cNvSpPr txBox="1"/>
          <p:nvPr/>
        </p:nvSpPr>
        <p:spPr>
          <a:xfrm>
            <a:off x="384048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18:30</a:t>
            </a:r>
            <a:endParaRPr lang="en-US" sz="1050" dirty="0"/>
          </a:p>
        </p:txBody>
      </p:sp>
      <p:sp>
        <p:nvSpPr>
          <p:cNvPr id="15" name="Shape 12"/>
          <p:cNvSpPr/>
          <p:nvPr/>
        </p:nvSpPr>
        <p:spPr>
          <a:xfrm>
            <a:off x="5334000" y="2770632"/>
            <a:ext cx="914" cy="128016"/>
          </a:xfrm>
          <a:prstGeom prst="line">
            <a:avLst/>
          </a:prstGeom>
          <a:noFill/>
          <a:ln w="12700">
            <a:solidFill>
              <a:srgbClr val="1E2933"/>
            </a:solidFill>
            <a:prstDash val="solid"/>
          </a:ln>
        </p:spPr>
      </p:sp>
      <p:sp>
        <p:nvSpPr>
          <p:cNvPr id="16" name="Text 13"/>
          <p:cNvSpPr txBox="1"/>
          <p:nvPr/>
        </p:nvSpPr>
        <p:spPr>
          <a:xfrm>
            <a:off x="496824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18:40</a:t>
            </a:r>
            <a:endParaRPr lang="en-US" sz="1050" dirty="0"/>
          </a:p>
        </p:txBody>
      </p:sp>
      <p:sp>
        <p:nvSpPr>
          <p:cNvPr id="17" name="Shape 14"/>
          <p:cNvSpPr/>
          <p:nvPr/>
        </p:nvSpPr>
        <p:spPr>
          <a:xfrm>
            <a:off x="6461760" y="2770632"/>
            <a:ext cx="914" cy="128016"/>
          </a:xfrm>
          <a:prstGeom prst="line">
            <a:avLst/>
          </a:prstGeom>
          <a:noFill/>
          <a:ln w="12700">
            <a:solidFill>
              <a:srgbClr val="1E2933"/>
            </a:solidFill>
            <a:prstDash val="solid"/>
          </a:ln>
        </p:spPr>
      </p:sp>
      <p:sp>
        <p:nvSpPr>
          <p:cNvPr id="18" name="Text 15"/>
          <p:cNvSpPr txBox="1"/>
          <p:nvPr/>
        </p:nvSpPr>
        <p:spPr>
          <a:xfrm>
            <a:off x="609600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18:50</a:t>
            </a:r>
            <a:endParaRPr lang="en-US" sz="1050" dirty="0"/>
          </a:p>
        </p:txBody>
      </p:sp>
      <p:sp>
        <p:nvSpPr>
          <p:cNvPr id="19" name="Shape 16"/>
          <p:cNvSpPr/>
          <p:nvPr/>
        </p:nvSpPr>
        <p:spPr>
          <a:xfrm>
            <a:off x="7589520" y="2770632"/>
            <a:ext cx="914" cy="128016"/>
          </a:xfrm>
          <a:prstGeom prst="line">
            <a:avLst/>
          </a:prstGeom>
          <a:noFill/>
          <a:ln w="12700">
            <a:solidFill>
              <a:srgbClr val="1E2933"/>
            </a:solidFill>
            <a:prstDash val="solid"/>
          </a:ln>
        </p:spPr>
      </p:sp>
      <p:sp>
        <p:nvSpPr>
          <p:cNvPr id="20" name="Text 17"/>
          <p:cNvSpPr txBox="1"/>
          <p:nvPr/>
        </p:nvSpPr>
        <p:spPr>
          <a:xfrm>
            <a:off x="7223760" y="2926080"/>
            <a:ext cx="73152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19:00</a:t>
            </a:r>
            <a:endParaRPr lang="en-US" sz="1050" dirty="0"/>
          </a:p>
        </p:txBody>
      </p:sp>
      <p:sp>
        <p:nvSpPr>
          <p:cNvPr id="21" name="Shape 18"/>
          <p:cNvSpPr/>
          <p:nvPr/>
        </p:nvSpPr>
        <p:spPr>
          <a:xfrm>
            <a:off x="3078480" y="1965960"/>
            <a:ext cx="1127760" cy="777240"/>
          </a:xfrm>
          <a:prstGeom prst="rect">
            <a:avLst/>
          </a:prstGeom>
          <a:solidFill>
            <a:srgbClr val="EB6834">
              <a:alpha val="75000"/>
            </a:srgbClr>
          </a:solidFill>
          <a:ln w="12700">
            <a:solidFill>
              <a:srgbClr val="EB6834"/>
            </a:solidFill>
            <a:prstDash val="solid"/>
          </a:ln>
        </p:spPr>
      </p:sp>
      <p:sp>
        <p:nvSpPr>
          <p:cNvPr id="22" name="Text 19"/>
          <p:cNvSpPr txBox="1"/>
          <p:nvPr/>
        </p:nvSpPr>
        <p:spPr>
          <a:xfrm>
            <a:off x="2529840" y="1508760"/>
            <a:ext cx="2225040" cy="411480"/>
          </a:xfrm>
          <a:prstGeom prst="rect">
            <a:avLst/>
          </a:prstGeom>
          <a:noFill/>
          <a:ln/>
        </p:spPr>
        <p:txBody>
          <a:bodyPr wrap="square" lIns="635" tIns="635" rIns="635" bIns="635" rtlCol="0" anchor="t"/>
          <a:lstStyle/>
          <a:p>
            <a:pPr algn="ctr" indent="0" marL="0">
              <a:buNone/>
            </a:pPr>
            <a:r>
              <a:rPr lang="en-US" sz="1250" b="1" dirty="0">
                <a:solidFill>
                  <a:srgbClr val="8E3A0E"/>
                </a:solidFill>
                <a:latin typeface="Calibri" pitchFamily="34" charset="0"/>
                <a:ea typeface="Calibri" pitchFamily="34" charset="-122"/>
                <a:cs typeface="Calibri" pitchFamily="34" charset="-120"/>
              </a:rPr>
              <a:t>burst: 11 of 28 placed here</a:t>
            </a:r>
            <a:endParaRPr lang="en-US" sz="1250" dirty="0"/>
          </a:p>
        </p:txBody>
      </p:sp>
      <p:sp>
        <p:nvSpPr>
          <p:cNvPr id="23" name="Shape 20"/>
          <p:cNvSpPr/>
          <p:nvPr/>
        </p:nvSpPr>
        <p:spPr>
          <a:xfrm>
            <a:off x="822960" y="2487168"/>
            <a:ext cx="6766560" cy="256032"/>
          </a:xfrm>
          <a:prstGeom prst="rect">
            <a:avLst/>
          </a:prstGeom>
          <a:solidFill>
            <a:srgbClr val="2A78D6">
              <a:alpha val="30000"/>
            </a:srgbClr>
          </a:solidFill>
          <a:ln w="12700">
            <a:solidFill>
              <a:srgbClr val="2A78D6">
                <a:alpha val="30000"/>
              </a:srgbClr>
            </a:solidFill>
            <a:prstDash val="solid"/>
          </a:ln>
        </p:spPr>
      </p:sp>
      <p:sp>
        <p:nvSpPr>
          <p:cNvPr id="24" name="Text 21"/>
          <p:cNvSpPr txBox="1"/>
          <p:nvPr/>
        </p:nvSpPr>
        <p:spPr>
          <a:xfrm>
            <a:off x="914400" y="2176272"/>
            <a:ext cx="2377440" cy="292608"/>
          </a:xfrm>
          <a:prstGeom prst="rect">
            <a:avLst/>
          </a:prstGeom>
          <a:noFill/>
          <a:ln/>
        </p:spPr>
        <p:txBody>
          <a:bodyPr wrap="square" lIns="635" tIns="635" rIns="635" bIns="635" rtlCol="0" anchor="t"/>
          <a:lstStyle/>
          <a:p>
            <a:pPr indent="0" marL="0">
              <a:buNone/>
            </a:pPr>
            <a:r>
              <a:rPr lang="en-US" sz="1200" dirty="0">
                <a:solidFill>
                  <a:srgbClr val="2A78D6"/>
                </a:solidFill>
                <a:latin typeface="Calibri" pitchFamily="34" charset="0"/>
                <a:ea typeface="Calibri" pitchFamily="34" charset="-122"/>
                <a:cs typeface="Calibri" pitchFamily="34" charset="-120"/>
              </a:rPr>
              <a:t>17 spread over the hour</a:t>
            </a:r>
            <a:endParaRPr lang="en-US" sz="1200" dirty="0"/>
          </a:p>
        </p:txBody>
      </p:sp>
      <p:sp>
        <p:nvSpPr>
          <p:cNvPr id="25" name="Text 22"/>
          <p:cNvSpPr txBox="1"/>
          <p:nvPr/>
        </p:nvSpPr>
        <p:spPr>
          <a:xfrm>
            <a:off x="457200" y="3291840"/>
            <a:ext cx="7315200" cy="594360"/>
          </a:xfrm>
          <a:prstGeom prst="rect">
            <a:avLst/>
          </a:prstGeom>
          <a:noFill/>
          <a:ln/>
        </p:spPr>
        <p:txBody>
          <a:bodyPr wrap="square" lIns="635" tIns="635" rIns="635" bIns="635" rtlCol="0" anchor="t"/>
          <a:lstStyle/>
          <a:p>
            <a:pPr indent="0" marL="0">
              <a:buNone/>
            </a:pPr>
            <a:r>
              <a:rPr lang="en-US" sz="1250" dirty="0">
                <a:solidFill>
                  <a:srgbClr val="5B6670"/>
                </a:solidFill>
                <a:latin typeface="Calibri" pitchFamily="34" charset="0"/>
                <a:ea typeface="Calibri" pitchFamily="34" charset="-122"/>
                <a:cs typeface="Calibri" pitchFamily="34" charset="-120"/>
              </a:rPr>
              <a:t>Arrivals 18:00–19:00. Background requests can also fall in the burst window, so 11–17 requests (mean 13.7) arrive in 18:20–18:30 on a night; 34–51 passengers per night.</a:t>
            </a:r>
            <a:endParaRPr lang="en-US" sz="1250" dirty="0"/>
          </a:p>
        </p:txBody>
      </p:sp>
      <p:sp>
        <p:nvSpPr>
          <p:cNvPr id="26" name="Shape 23"/>
          <p:cNvSpPr/>
          <p:nvPr/>
        </p:nvSpPr>
        <p:spPr>
          <a:xfrm>
            <a:off x="8092440" y="1645920"/>
            <a:ext cx="1737360" cy="1005840"/>
          </a:xfrm>
          <a:prstGeom prst="roundRect">
            <a:avLst>
              <a:gd name="adj" fmla="val 6364"/>
            </a:avLst>
          </a:prstGeom>
          <a:solidFill>
            <a:srgbClr val="E8F1FB"/>
          </a:solidFill>
          <a:ln w="9525">
            <a:solidFill>
              <a:srgbClr val="E8F1FB"/>
            </a:solidFill>
            <a:prstDash val="solid"/>
          </a:ln>
        </p:spPr>
      </p:sp>
      <p:sp>
        <p:nvSpPr>
          <p:cNvPr id="27" name="Text 24"/>
          <p:cNvSpPr txBox="1"/>
          <p:nvPr/>
        </p:nvSpPr>
        <p:spPr>
          <a:xfrm>
            <a:off x="8138160" y="1691640"/>
            <a:ext cx="1645920" cy="914400"/>
          </a:xfrm>
          <a:prstGeom prst="rect">
            <a:avLst/>
          </a:prstGeom>
          <a:noFill/>
          <a:ln/>
        </p:spPr>
        <p:txBody>
          <a:bodyPr wrap="square" lIns="635" tIns="635" rIns="635" bIns="635" rtlCol="0" anchor="ctr"/>
          <a:lstStyle/>
          <a:p>
            <a:pPr algn="ctr" indent="0" marL="0">
              <a:buNone/>
            </a:pPr>
            <a:r>
              <a:rPr lang="en-US" sz="2000" b="1" dirty="0">
                <a:solidFill>
                  <a:srgbClr val="2A78D6"/>
                </a:solidFill>
                <a:latin typeface="Calibri" pitchFamily="34" charset="0"/>
                <a:ea typeface="Calibri" pitchFamily="34" charset="-122"/>
                <a:cs typeface="Calibri" pitchFamily="34" charset="-120"/>
              </a:rPr>
              <a:t>2 vans</a:t>
            </a:r>
            <a:endParaRPr lang="en-US" sz="1600" dirty="0"/>
          </a:p>
          <a:p>
            <a:pPr algn="ctr" indent="0" marL="0">
              <a:buNone/>
            </a:pPr>
            <a:r>
              <a:rPr lang="en-US" sz="1200" dirty="0">
                <a:solidFill>
                  <a:srgbClr val="1E2933"/>
                </a:solidFill>
                <a:latin typeface="Calibri" pitchFamily="34" charset="0"/>
                <a:ea typeface="Calibri" pitchFamily="34" charset="-122"/>
                <a:cs typeface="Calibri" pitchFamily="34" charset="-120"/>
              </a:rPr>
              <a:t>14 seats each</a:t>
            </a:r>
            <a:endParaRPr lang="en-US" sz="1600" dirty="0"/>
          </a:p>
        </p:txBody>
      </p:sp>
      <p:sp>
        <p:nvSpPr>
          <p:cNvPr id="28" name="Shape 25"/>
          <p:cNvSpPr/>
          <p:nvPr/>
        </p:nvSpPr>
        <p:spPr>
          <a:xfrm>
            <a:off x="9921240" y="1645920"/>
            <a:ext cx="1737360" cy="1005840"/>
          </a:xfrm>
          <a:prstGeom prst="roundRect">
            <a:avLst>
              <a:gd name="adj" fmla="val 6364"/>
            </a:avLst>
          </a:prstGeom>
          <a:solidFill>
            <a:srgbClr val="E8F1FB"/>
          </a:solidFill>
          <a:ln w="9525">
            <a:solidFill>
              <a:srgbClr val="E8F1FB"/>
            </a:solidFill>
            <a:prstDash val="solid"/>
          </a:ln>
        </p:spPr>
      </p:sp>
      <p:sp>
        <p:nvSpPr>
          <p:cNvPr id="29" name="Text 26"/>
          <p:cNvSpPr txBox="1"/>
          <p:nvPr/>
        </p:nvSpPr>
        <p:spPr>
          <a:xfrm>
            <a:off x="9966960" y="1691640"/>
            <a:ext cx="1645920" cy="914400"/>
          </a:xfrm>
          <a:prstGeom prst="rect">
            <a:avLst/>
          </a:prstGeom>
          <a:noFill/>
          <a:ln/>
        </p:spPr>
        <p:txBody>
          <a:bodyPr wrap="square" lIns="635" tIns="635" rIns="635" bIns="635" rtlCol="0" anchor="ctr"/>
          <a:lstStyle/>
          <a:p>
            <a:pPr algn="ctr" indent="0" marL="0">
              <a:buNone/>
            </a:pPr>
            <a:r>
              <a:rPr lang="en-US" sz="2000" b="1" dirty="0">
                <a:solidFill>
                  <a:srgbClr val="2A78D6"/>
                </a:solidFill>
                <a:latin typeface="Calibri" pitchFamily="34" charset="0"/>
                <a:ea typeface="Calibri" pitchFamily="34" charset="-122"/>
                <a:cs typeface="Calibri" pitchFamily="34" charset="-120"/>
              </a:rPr>
              <a:t>28 requests</a:t>
            </a:r>
            <a:endParaRPr lang="en-US" sz="1600" dirty="0"/>
          </a:p>
          <a:p>
            <a:pPr algn="ctr" indent="0" marL="0">
              <a:buNone/>
            </a:pPr>
            <a:r>
              <a:rPr lang="en-US" sz="1200" dirty="0">
                <a:solidFill>
                  <a:srgbClr val="1E2933"/>
                </a:solidFill>
                <a:latin typeface="Calibri" pitchFamily="34" charset="0"/>
                <a:ea typeface="Calibri" pitchFamily="34" charset="-122"/>
                <a:cs typeface="Calibri" pitchFamily="34" charset="-120"/>
              </a:rPr>
              <a:t>in one hour</a:t>
            </a:r>
            <a:endParaRPr lang="en-US" sz="1600" dirty="0"/>
          </a:p>
        </p:txBody>
      </p:sp>
      <p:sp>
        <p:nvSpPr>
          <p:cNvPr id="30" name="Shape 27"/>
          <p:cNvSpPr/>
          <p:nvPr/>
        </p:nvSpPr>
        <p:spPr>
          <a:xfrm>
            <a:off x="8092440" y="2788920"/>
            <a:ext cx="1737360" cy="1005840"/>
          </a:xfrm>
          <a:prstGeom prst="roundRect">
            <a:avLst>
              <a:gd name="adj" fmla="val 6364"/>
            </a:avLst>
          </a:prstGeom>
          <a:solidFill>
            <a:srgbClr val="E8F1FB"/>
          </a:solidFill>
          <a:ln w="9525">
            <a:solidFill>
              <a:srgbClr val="E8F1FB"/>
            </a:solidFill>
            <a:prstDash val="solid"/>
          </a:ln>
        </p:spPr>
      </p:sp>
      <p:sp>
        <p:nvSpPr>
          <p:cNvPr id="31" name="Text 28"/>
          <p:cNvSpPr txBox="1"/>
          <p:nvPr/>
        </p:nvSpPr>
        <p:spPr>
          <a:xfrm>
            <a:off x="8138160" y="2834640"/>
            <a:ext cx="1645920" cy="914400"/>
          </a:xfrm>
          <a:prstGeom prst="rect">
            <a:avLst/>
          </a:prstGeom>
          <a:noFill/>
          <a:ln/>
        </p:spPr>
        <p:txBody>
          <a:bodyPr wrap="square" lIns="635" tIns="635" rIns="635" bIns="635" rtlCol="0" anchor="ctr"/>
          <a:lstStyle/>
          <a:p>
            <a:pPr algn="ctr" indent="0" marL="0">
              <a:buNone/>
            </a:pPr>
            <a:r>
              <a:rPr lang="en-US" sz="2000" b="1" dirty="0">
                <a:solidFill>
                  <a:srgbClr val="2A78D6"/>
                </a:solidFill>
                <a:latin typeface="Calibri" pitchFamily="34" charset="0"/>
                <a:ea typeface="Calibri" pitchFamily="34" charset="-122"/>
                <a:cs typeface="Calibri" pitchFamily="34" charset="-120"/>
              </a:rPr>
              <a:t>30 nights</a:t>
            </a:r>
            <a:endParaRPr lang="en-US" sz="1600" dirty="0"/>
          </a:p>
          <a:p>
            <a:pPr algn="ctr" indent="0" marL="0">
              <a:buNone/>
            </a:pPr>
            <a:r>
              <a:rPr lang="en-US" sz="1200" dirty="0">
                <a:solidFill>
                  <a:srgbClr val="1E2933"/>
                </a:solidFill>
                <a:latin typeface="Calibri" pitchFamily="34" charset="0"/>
                <a:ea typeface="Calibri" pitchFamily="34" charset="-122"/>
                <a:cs typeface="Calibri" pitchFamily="34" charset="-120"/>
              </a:rPr>
              <a:t>distinct constructed nights</a:t>
            </a:r>
            <a:endParaRPr lang="en-US" sz="1600" dirty="0"/>
          </a:p>
        </p:txBody>
      </p:sp>
      <p:sp>
        <p:nvSpPr>
          <p:cNvPr id="32" name="Shape 29"/>
          <p:cNvSpPr/>
          <p:nvPr/>
        </p:nvSpPr>
        <p:spPr>
          <a:xfrm>
            <a:off x="9921240" y="2788920"/>
            <a:ext cx="1737360" cy="1005840"/>
          </a:xfrm>
          <a:prstGeom prst="roundRect">
            <a:avLst>
              <a:gd name="adj" fmla="val 6364"/>
            </a:avLst>
          </a:prstGeom>
          <a:solidFill>
            <a:srgbClr val="E8F1FB"/>
          </a:solidFill>
          <a:ln w="9525">
            <a:solidFill>
              <a:srgbClr val="E8F1FB"/>
            </a:solidFill>
            <a:prstDash val="solid"/>
          </a:ln>
        </p:spPr>
      </p:sp>
      <p:sp>
        <p:nvSpPr>
          <p:cNvPr id="33" name="Text 30"/>
          <p:cNvSpPr txBox="1"/>
          <p:nvPr/>
        </p:nvSpPr>
        <p:spPr>
          <a:xfrm>
            <a:off x="9966960" y="2834640"/>
            <a:ext cx="1645920" cy="914400"/>
          </a:xfrm>
          <a:prstGeom prst="rect">
            <a:avLst/>
          </a:prstGeom>
          <a:noFill/>
          <a:ln/>
        </p:spPr>
        <p:txBody>
          <a:bodyPr wrap="square" lIns="635" tIns="635" rIns="635" bIns="635" rtlCol="0" anchor="ctr"/>
          <a:lstStyle/>
          <a:p>
            <a:pPr algn="ctr" indent="0" marL="0">
              <a:buNone/>
            </a:pPr>
            <a:r>
              <a:rPr lang="en-US" sz="2000" b="1" dirty="0">
                <a:solidFill>
                  <a:srgbClr val="2A78D6"/>
                </a:solidFill>
                <a:latin typeface="Calibri" pitchFamily="34" charset="0"/>
                <a:ea typeface="Calibri" pitchFamily="34" charset="-122"/>
                <a:cs typeface="Calibri" pitchFamily="34" charset="-120"/>
              </a:rPr>
              <a:t>× 6 rules</a:t>
            </a:r>
            <a:endParaRPr lang="en-US" sz="1600" dirty="0"/>
          </a:p>
          <a:p>
            <a:pPr algn="ctr" indent="0" marL="0">
              <a:buNone/>
            </a:pPr>
            <a:r>
              <a:rPr lang="en-US" sz="1200" dirty="0">
                <a:solidFill>
                  <a:srgbClr val="1E2933"/>
                </a:solidFill>
                <a:latin typeface="Calibri" pitchFamily="34" charset="0"/>
                <a:ea typeface="Calibri" pitchFamily="34" charset="-122"/>
                <a:cs typeface="Calibri" pitchFamily="34" charset="-120"/>
              </a:rPr>
              <a:t>transfer rules, defined on slide 17</a:t>
            </a:r>
            <a:endParaRPr lang="en-US" sz="1600" dirty="0"/>
          </a:p>
        </p:txBody>
      </p:sp>
      <p:sp>
        <p:nvSpPr>
          <p:cNvPr id="34" name="status-TESTED"/>
          <p:cNvSpPr/>
          <p:nvPr/>
        </p:nvSpPr>
        <p:spPr>
          <a:xfrm>
            <a:off x="8092440" y="4023360"/>
            <a:ext cx="3566160" cy="292608"/>
          </a:xfrm>
          <a:prstGeom prst="rect">
            <a:avLst/>
          </a:prstGeom>
          <a:solidFill>
            <a:srgbClr val="FFFFFF"/>
          </a:solidFill>
          <a:ln w="19050">
            <a:solidFill>
              <a:srgbClr val="0F7A57"/>
            </a:solidFill>
            <a:prstDash val="solid"/>
          </a:ln>
        </p:spPr>
      </p:sp>
      <p:sp>
        <p:nvSpPr>
          <p:cNvPr id="35" name="Text 32"/>
          <p:cNvSpPr txBox="1"/>
          <p:nvPr/>
        </p:nvSpPr>
        <p:spPr>
          <a:xfrm>
            <a:off x="8092440" y="4023360"/>
            <a:ext cx="3566160" cy="292608"/>
          </a:xfrm>
          <a:prstGeom prst="rect">
            <a:avLst/>
          </a:prstGeom>
          <a:noFill/>
          <a:ln/>
        </p:spPr>
        <p:txBody>
          <a:bodyPr wrap="square" lIns="0" tIns="0" rIns="0" bIns="0" rtlCol="0" anchor="ctr"/>
          <a:lstStyle/>
          <a:p>
            <a:pPr algn="ctr" indent="0" marL="0">
              <a:buNone/>
            </a:pPr>
            <a:r>
              <a:rPr lang="en-US" sz="1050" b="1" dirty="0">
                <a:solidFill>
                  <a:srgbClr val="0F7A57"/>
                </a:solidFill>
                <a:latin typeface="Calibri" pitchFamily="34" charset="0"/>
                <a:ea typeface="Calibri" pitchFamily="34" charset="-122"/>
                <a:cs typeface="Calibri" pitchFamily="34" charset="-120"/>
              </a:rPr>
              <a:t>TESTED IN SIMULATION</a:t>
            </a:r>
            <a:endParaRPr lang="en-US" sz="1050" dirty="0"/>
          </a:p>
        </p:txBody>
      </p:sp>
      <p:sp>
        <p:nvSpPr>
          <p:cNvPr id="36" name="Shape 33"/>
          <p:cNvSpPr/>
          <p:nvPr/>
        </p:nvSpPr>
        <p:spPr>
          <a:xfrm>
            <a:off x="457200" y="4114800"/>
            <a:ext cx="7315200" cy="2057400"/>
          </a:xfrm>
          <a:prstGeom prst="roundRect">
            <a:avLst>
              <a:gd name="adj" fmla="val 3111"/>
            </a:avLst>
          </a:prstGeom>
          <a:solidFill>
            <a:srgbClr val="EEF1F4"/>
          </a:solidFill>
          <a:ln w="9525">
            <a:solidFill>
              <a:srgbClr val="EEF1F4"/>
            </a:solidFill>
            <a:prstDash val="solid"/>
          </a:ln>
        </p:spPr>
      </p:sp>
      <p:sp>
        <p:nvSpPr>
          <p:cNvPr id="37" name="Text 34"/>
          <p:cNvSpPr txBox="1"/>
          <p:nvPr/>
        </p:nvSpPr>
        <p:spPr>
          <a:xfrm>
            <a:off x="594360" y="4187952"/>
            <a:ext cx="7040880" cy="1920240"/>
          </a:xfrm>
          <a:prstGeom prst="rect">
            <a:avLst/>
          </a:prstGeom>
          <a:noFill/>
          <a:ln/>
        </p:spPr>
        <p:txBody>
          <a:bodyPr wrap="square" lIns="635" tIns="635" rIns="635" bIns="635" rtlCol="0" anchor="t"/>
          <a:lstStyle/>
          <a:p>
            <a:pPr indent="0" marL="0">
              <a:buNone/>
            </a:pPr>
            <a:r>
              <a:rPr lang="en-US" sz="1400" b="1" dirty="0">
                <a:solidFill>
                  <a:srgbClr val="1E2933"/>
                </a:solidFill>
                <a:latin typeface="Calibri" pitchFamily="34" charset="0"/>
                <a:ea typeface="Calibri" pitchFamily="34" charset="-122"/>
                <a:cs typeface="Calibri" pitchFamily="34" charset="-120"/>
              </a:rPr>
              <a:t>This is a controlled pilot, not a reconstruction of a typical April night.</a:t>
            </a:r>
            <a:endParaRPr lang="en-US" sz="1400" dirty="0"/>
          </a:p>
          <a:p>
            <a:pPr indent="0" marL="0">
              <a:buNone/>
            </a:pPr>
            <a:r>
              <a:rPr lang="en-US" sz="1400" dirty="0">
                <a:solidFill>
                  <a:srgbClr val="1E2933"/>
                </a:solidFill>
                <a:latin typeface="Calibri" pitchFamily="34" charset="0"/>
                <a:ea typeface="Calibri" pitchFamily="34" charset="-122"/>
                <a:cs typeface="Calibri" pitchFamily="34" charset="-120"/>
              </a:rPr>
              <a:t>Its load is 14 requests per van-hour, close to the 12.85 estimated for 6 pm (per vehicle reported across all services), but the burst deliberately concentrates demand, and two vans are a small fleet. It is designed to stress the transfer decision.</a:t>
            </a:r>
            <a:endParaRPr lang="en-US" sz="1400" dirty="0"/>
          </a:p>
        </p:txBody>
      </p:sp>
      <p:sp>
        <p:nvSpPr>
          <p:cNvPr id="38" name="Text 35"/>
          <p:cNvSpPr txBox="1"/>
          <p:nvPr/>
        </p:nvSpPr>
        <p:spPr>
          <a:xfrm>
            <a:off x="8092440" y="4389120"/>
            <a:ext cx="3611880" cy="822960"/>
          </a:xfrm>
          <a:prstGeom prst="rect">
            <a:avLst/>
          </a:prstGeom>
          <a:noFill/>
          <a:ln/>
        </p:spPr>
        <p:txBody>
          <a:bodyPr wrap="square" lIns="635" tIns="635" rIns="635" bIns="635" rtlCol="0" anchor="t"/>
          <a:lstStyle/>
          <a:p>
            <a:pPr indent="0" marL="0">
              <a:buNone/>
            </a:pPr>
            <a:r>
              <a:rPr lang="en-US" sz="1200" i="1" dirty="0">
                <a:solidFill>
                  <a:srgbClr val="5B6670"/>
                </a:solidFill>
                <a:latin typeface="Calibri" pitchFamily="34" charset="0"/>
                <a:ea typeface="Calibri" pitchFamily="34" charset="-122"/>
                <a:cs typeface="Calibri" pitchFamily="34" charset="-120"/>
              </a:rPr>
              <a:t>“Tested in simulation” means run in our model, not validated against Hopkins operations.</a:t>
            </a:r>
            <a:endParaRPr lang="en-US" sz="1200" dirty="0"/>
          </a:p>
        </p:txBody>
      </p:sp>
      <p:sp>
        <p:nvSpPr>
          <p:cNvPr id="39" name="Text 36"/>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data/scenarios/v2/L5 (frozen inputs); docs/technical/scenario_spec.md §8; decision_log.md D-56, D-57.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Knowing the endpoints does not identify the journeys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9</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Two different sets of trips can produce exactly the same pickup and drop-off totals.</a:t>
            </a:r>
            <a:endParaRPr lang="en-US" sz="1700" dirty="0"/>
          </a:p>
        </p:txBody>
      </p:sp>
      <p:sp>
        <p:nvSpPr>
          <p:cNvPr id="6" name="Text 3"/>
          <p:cNvSpPr txBox="1"/>
          <p:nvPr/>
        </p:nvSpPr>
        <p:spPr>
          <a:xfrm>
            <a:off x="457200" y="1645920"/>
            <a:ext cx="2651760" cy="320040"/>
          </a:xfrm>
          <a:prstGeom prst="rect">
            <a:avLst/>
          </a:prstGeom>
          <a:noFill/>
          <a:ln/>
        </p:spPr>
        <p:txBody>
          <a:bodyPr wrap="square" lIns="635" tIns="635" rIns="635" bIns="635" rtlCol="0" anchor="t"/>
          <a:lstStyle/>
          <a:p>
            <a:pPr indent="0" marL="0">
              <a:buNone/>
            </a:pPr>
            <a:r>
              <a:rPr lang="en-US" sz="1400" b="1" dirty="0">
                <a:solidFill>
                  <a:srgbClr val="5B6670"/>
                </a:solidFill>
                <a:latin typeface="Calibri" pitchFamily="34" charset="0"/>
                <a:ea typeface="Calibri" pitchFamily="34" charset="-122"/>
                <a:cs typeface="Calibri" pitchFamily="34" charset="-120"/>
              </a:rPr>
              <a:t>Trips, version 1</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2651760" cy="914400"/>
        </p:xfrm>
        <a:graphic>
          <a:graphicData uri="http://schemas.openxmlformats.org/drawingml/2006/table">
            <a:tbl>
              <a:tblPr/>
              <a:tblGrid>
                <a:gridCol w="731520"/>
                <a:gridCol w="640080"/>
                <a:gridCol w="640080"/>
                <a:gridCol w="640080"/>
              </a:tblGrid>
              <a:tr h="384048">
                <a:tc>
                  <a:txBody>
                    <a:bodyPr/>
                    <a:lstStyle/>
                    <a:p>
                      <a:pPr algn="ctr" indent="0" marL="0">
                        <a:buNone/>
                      </a:pP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 X</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 Y</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r>
              <a:tr h="384048">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from A</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r h="384048">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from B</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r h="384048">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bl>
          </a:graphicData>
        </a:graphic>
      </p:graphicFrame>
      <p:sp>
        <p:nvSpPr>
          <p:cNvPr id="8" name="Text 4"/>
          <p:cNvSpPr txBox="1"/>
          <p:nvPr/>
        </p:nvSpPr>
        <p:spPr>
          <a:xfrm>
            <a:off x="3429000" y="1645920"/>
            <a:ext cx="2651760" cy="320040"/>
          </a:xfrm>
          <a:prstGeom prst="rect">
            <a:avLst/>
          </a:prstGeom>
          <a:noFill/>
          <a:ln/>
        </p:spPr>
        <p:txBody>
          <a:bodyPr wrap="square" lIns="635" tIns="635" rIns="635" bIns="635" rtlCol="0" anchor="t"/>
          <a:lstStyle/>
          <a:p>
            <a:pPr indent="0" marL="0">
              <a:buNone/>
            </a:pPr>
            <a:r>
              <a:rPr lang="en-US" sz="1400" b="1" dirty="0">
                <a:solidFill>
                  <a:srgbClr val="5B6670"/>
                </a:solidFill>
                <a:latin typeface="Calibri" pitchFamily="34" charset="0"/>
                <a:ea typeface="Calibri" pitchFamily="34" charset="-122"/>
                <a:cs typeface="Calibri" pitchFamily="34" charset="-120"/>
              </a:rPr>
              <a:t>Trips, version 2</a:t>
            </a:r>
            <a:endParaRPr lang="en-US" sz="14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3429000" y="2011680"/>
          <a:ext cx="2651760" cy="914400"/>
        </p:xfrm>
        <a:graphic>
          <a:graphicData uri="http://schemas.openxmlformats.org/drawingml/2006/table">
            <a:tbl>
              <a:tblPr/>
              <a:tblGrid>
                <a:gridCol w="731520"/>
                <a:gridCol w="640080"/>
                <a:gridCol w="640080"/>
                <a:gridCol w="640080"/>
              </a:tblGrid>
              <a:tr h="384048">
                <a:tc>
                  <a:txBody>
                    <a:bodyPr/>
                    <a:lstStyle/>
                    <a:p>
                      <a:pPr algn="ctr" indent="0" marL="0">
                        <a:buNone/>
                      </a:pP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 X</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 Y</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r>
              <a:tr h="384048">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from A</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r h="384048">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from B</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933"/>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r h="384048">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c>
                  <a:txBody>
                    <a:bodyPr/>
                    <a:lstStyle/>
                    <a:p>
                      <a:pPr algn="ctr" indent="0" marL="0">
                        <a:buNone/>
                      </a:pPr>
                      <a:r>
                        <a:rPr lang="en-US" sz="1400" b="1" dirty="0">
                          <a:solidFill>
                            <a:srgbClr val="1E2933"/>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bl>
          </a:graphicData>
        </a:graphic>
      </p:graphicFrame>
      <p:sp>
        <p:nvSpPr>
          <p:cNvPr id="10" name="Text 5"/>
          <p:cNvSpPr txBox="1"/>
          <p:nvPr/>
        </p:nvSpPr>
        <p:spPr>
          <a:xfrm>
            <a:off x="457200" y="3611880"/>
            <a:ext cx="5760720" cy="3657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Green cells are all the maps show. Both versions match them exactly.</a:t>
            </a:r>
            <a:endParaRPr lang="en-US" sz="1300" dirty="0"/>
          </a:p>
        </p:txBody>
      </p:sp>
      <p:sp>
        <p:nvSpPr>
          <p:cNvPr id="11" name="Shape 6"/>
          <p:cNvSpPr/>
          <p:nvPr/>
        </p:nvSpPr>
        <p:spPr>
          <a:xfrm>
            <a:off x="457200" y="4069080"/>
            <a:ext cx="5760720" cy="2103120"/>
          </a:xfrm>
          <a:prstGeom prst="roundRect">
            <a:avLst>
              <a:gd name="adj" fmla="val 3043"/>
            </a:avLst>
          </a:prstGeom>
          <a:solidFill>
            <a:srgbClr val="FFF4EC"/>
          </a:solidFill>
          <a:ln w="9525">
            <a:solidFill>
              <a:srgbClr val="FFF4EC"/>
            </a:solidFill>
            <a:prstDash val="solid"/>
          </a:ln>
        </p:spPr>
      </p:sp>
      <p:sp>
        <p:nvSpPr>
          <p:cNvPr id="12" name="evidence-ASSUMED"/>
          <p:cNvSpPr/>
          <p:nvPr/>
        </p:nvSpPr>
        <p:spPr>
          <a:xfrm>
            <a:off x="594360" y="4160520"/>
            <a:ext cx="1051560" cy="256032"/>
          </a:xfrm>
          <a:prstGeom prst="roundRect">
            <a:avLst>
              <a:gd name="adj" fmla="val 50000"/>
            </a:avLst>
          </a:prstGeom>
          <a:solidFill>
            <a:srgbClr val="FDE3D3"/>
          </a:solidFill>
          <a:ln w="12700">
            <a:solidFill>
              <a:srgbClr val="FDE3D3"/>
            </a:solidFill>
            <a:prstDash val="solid"/>
          </a:ln>
        </p:spPr>
      </p:sp>
      <p:sp>
        <p:nvSpPr>
          <p:cNvPr id="13" name="Text 8"/>
          <p:cNvSpPr txBox="1"/>
          <p:nvPr/>
        </p:nvSpPr>
        <p:spPr>
          <a:xfrm>
            <a:off x="594360" y="4160520"/>
            <a:ext cx="105156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14" name="Text 9"/>
          <p:cNvSpPr txBox="1"/>
          <p:nvPr/>
        </p:nvSpPr>
        <p:spPr>
          <a:xfrm>
            <a:off x="594360" y="4480560"/>
            <a:ext cx="5486400" cy="685800"/>
          </a:xfrm>
          <a:prstGeom prst="rect">
            <a:avLst/>
          </a:prstGeom>
          <a:noFill/>
          <a:ln/>
        </p:spPr>
        <p:txBody>
          <a:bodyPr wrap="square" lIns="635" tIns="635" rIns="635" bIns="635" rtlCol="0" anchor="t"/>
          <a:lstStyle/>
          <a:p>
            <a:pPr indent="0" marL="0">
              <a:buNone/>
            </a:pPr>
            <a:r>
              <a:rPr lang="en-US" sz="1400" b="1" dirty="0">
                <a:solidFill>
                  <a:srgbClr val="1E2933"/>
                </a:solidFill>
                <a:latin typeface="Calibri" pitchFamily="34" charset="0"/>
                <a:ea typeface="Calibri" pitchFamily="34" charset="-122"/>
                <a:cs typeface="Calibri" pitchFamily="34" charset="-120"/>
              </a:rPr>
              <a:t>We assumed nearby journeys were more likely, then balanced the synthetic trips to preserve the observed location totals.</a:t>
            </a:r>
            <a:endParaRPr lang="en-US" sz="1400" dirty="0"/>
          </a:p>
        </p:txBody>
      </p:sp>
      <p:sp>
        <p:nvSpPr>
          <p:cNvPr id="15" name="Text 10"/>
          <p:cNvSpPr txBox="1"/>
          <p:nvPr/>
        </p:nvSpPr>
        <p:spPr>
          <a:xfrm>
            <a:off x="594360" y="5166360"/>
            <a:ext cx="5486400" cy="1005840"/>
          </a:xfrm>
          <a:prstGeom prst="rect">
            <a:avLst/>
          </a:prstGeom>
          <a:noFill/>
          <a:ln/>
        </p:spPr>
        <p:txBody>
          <a:bodyPr wrap="square" lIns="635" tIns="635" rIns="635" bIns="635" rtlCol="0" anchor="t"/>
          <a:lstStyle/>
          <a:p>
            <a:pPr marL="342900" indent="-342900">
              <a:spcAft>
                <a:spcPts val="500"/>
              </a:spcAft>
              <a:buSzPct val="100000"/>
              <a:buChar char="•"/>
            </a:pPr>
            <a:r>
              <a:rPr lang="en-US" sz="1250" dirty="0">
                <a:solidFill>
                  <a:srgbClr val="1E2933"/>
                </a:solidFill>
                <a:latin typeface="Calibri" pitchFamily="34" charset="0"/>
                <a:ea typeface="Calibri" pitchFamily="34" charset="-122"/>
                <a:cs typeface="Calibri" pitchFamily="34" charset="-120"/>
              </a:rPr>
              <a:t>Distance preference: each extra minute of driving multiplies a pair's weight by about 0.9 (assumed rate 0.1 per minute)</a:t>
            </a:r>
            <a:endParaRPr lang="en-US" sz="1250" dirty="0"/>
          </a:p>
          <a:p>
            <a:pPr marL="342900" indent="-342900">
              <a:spcAft>
                <a:spcPts val="500"/>
              </a:spcAft>
              <a:buSzPct val="100000"/>
              <a:buChar char="•"/>
            </a:pPr>
            <a:r>
              <a:rPr lang="en-US" sz="1250" dirty="0">
                <a:solidFill>
                  <a:srgbClr val="1E2933"/>
                </a:solidFill>
                <a:latin typeface="Calibri" pitchFamily="34" charset="0"/>
                <a:ea typeface="Calibri" pitchFamily="34" charset="-122"/>
                <a:cs typeface="Calibri" pitchFamily="34" charset="-120"/>
              </a:rPr>
              <a:t>Balancing: rows and columns rescaled in turn until both April location totals match</a:t>
            </a:r>
            <a:endParaRPr lang="en-US" sz="1250" dirty="0"/>
          </a:p>
        </p:txBody>
      </p:sp>
      <p:pic>
        <p:nvPicPr>
          <p:cNvPr id="16" name="Image 0" descr="/Users/vigneshrbabu/Documents/Git/bluejay-night-ride-optimizer/docs/presentations/midterm/v0.4/figures/map_synthetic_hour.png">    </p:cNvPr>
          <p:cNvPicPr>
            <a:picLocks noChangeAspect="1"/>
          </p:cNvPicPr>
          <p:nvPr/>
        </p:nvPicPr>
        <p:blipFill>
          <a:blip r:embed="rId1"/>
          <a:srcRect l="-2381" r="-2381" t="0" b="0"/>
          <a:stretch/>
        </p:blipFill>
        <p:spPr>
          <a:xfrm>
            <a:off x="6766560" y="1600200"/>
            <a:ext cx="4572000" cy="4572000"/>
          </a:xfrm>
          <a:prstGeom prst="rect">
            <a:avLst/>
          </a:prstGeom>
        </p:spPr>
      </p:pic>
      <p:sp>
        <p:nvSpPr>
          <p:cNvPr id="17" name="Text 11"/>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April pickup and drop-off maps (place totals); docs/technical/decision_log.md D-18; map: the first constructed pilot night.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One average can hide very different groups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10</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April helps identify an average group size. It does not tell us the full distribution of groups.</a:t>
            </a:r>
            <a:endParaRPr lang="en-US" sz="1700" dirty="0"/>
          </a:p>
        </p:txBody>
      </p:sp>
      <p:graphicFrame>
        <p:nvGraphicFramePr>
          <p:cNvPr id="6" name="Chart 0" descr=""/>
          <p:cNvGraphicFramePr/>
          <p:nvPr/>
        </p:nvGraphicFramePr>
        <p:xfrm>
          <a:off x="365760" y="160020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7406640" y="1645920"/>
            <a:ext cx="4297680" cy="1325880"/>
          </a:xfrm>
          <a:prstGeom prst="roundRect">
            <a:avLst>
              <a:gd name="adj" fmla="val 4828"/>
            </a:avLst>
          </a:prstGeom>
          <a:solidFill>
            <a:srgbClr val="EEF1F4"/>
          </a:solidFill>
          <a:ln w="9525">
            <a:solidFill>
              <a:srgbClr val="EEF1F4"/>
            </a:solidFill>
            <a:prstDash val="solid"/>
          </a:ln>
        </p:spPr>
      </p:sp>
      <p:sp>
        <p:nvSpPr>
          <p:cNvPr id="8" name="evidence-DERIVED"/>
          <p:cNvSpPr/>
          <p:nvPr/>
        </p:nvSpPr>
        <p:spPr>
          <a:xfrm>
            <a:off x="7543800" y="1737360"/>
            <a:ext cx="1051560" cy="256032"/>
          </a:xfrm>
          <a:prstGeom prst="roundRect">
            <a:avLst>
              <a:gd name="adj" fmla="val 50000"/>
            </a:avLst>
          </a:prstGeom>
          <a:solidFill>
            <a:srgbClr val="DCEBFA"/>
          </a:solidFill>
          <a:ln w="12700">
            <a:solidFill>
              <a:srgbClr val="DCEBFA"/>
            </a:solidFill>
            <a:prstDash val="solid"/>
          </a:ln>
        </p:spPr>
      </p:sp>
      <p:sp>
        <p:nvSpPr>
          <p:cNvPr id="9" name="Text 5"/>
          <p:cNvSpPr txBox="1"/>
          <p:nvPr/>
        </p:nvSpPr>
        <p:spPr>
          <a:xfrm>
            <a:off x="7543800" y="1737360"/>
            <a:ext cx="1051560" cy="256032"/>
          </a:xfrm>
          <a:prstGeom prst="rect">
            <a:avLst/>
          </a:prstGeom>
          <a:noFill/>
          <a:ln/>
        </p:spPr>
        <p:txBody>
          <a:bodyPr wrap="square" lIns="0" tIns="0" rIns="0" bIns="0" rtlCol="0" anchor="ctr"/>
          <a:lstStyle/>
          <a:p>
            <a:pPr algn="ctr" indent="0" marL="0">
              <a:buNone/>
            </a:pPr>
            <a:r>
              <a:rPr lang="en-US" sz="950" b="1" dirty="0">
                <a:solidFill>
                  <a:srgbClr val="1B4F8A"/>
                </a:solidFill>
                <a:latin typeface="Calibri" pitchFamily="34" charset="0"/>
                <a:ea typeface="Calibri" pitchFamily="34" charset="-122"/>
                <a:cs typeface="Calibri" pitchFamily="34" charset="-120"/>
              </a:rPr>
              <a:t>DERIVED</a:t>
            </a:r>
            <a:endParaRPr lang="en-US" sz="950" dirty="0"/>
          </a:p>
        </p:txBody>
      </p:sp>
      <p:sp>
        <p:nvSpPr>
          <p:cNvPr id="10" name="Text 6"/>
          <p:cNvSpPr txBox="1"/>
          <p:nvPr/>
        </p:nvSpPr>
        <p:spPr>
          <a:xfrm>
            <a:off x="8686800" y="1664208"/>
            <a:ext cx="2286000" cy="457200"/>
          </a:xfrm>
          <a:prstGeom prst="rect">
            <a:avLst/>
          </a:prstGeom>
          <a:noFill/>
          <a:ln/>
        </p:spPr>
        <p:txBody>
          <a:bodyPr wrap="square" lIns="635" tIns="635" rIns="635" bIns="635" rtlCol="0" anchor="t"/>
          <a:lstStyle/>
          <a:p>
            <a:pPr indent="0" marL="0">
              <a:buNone/>
            </a:pPr>
            <a:r>
              <a:rPr lang="en-US" sz="2600" b="1" dirty="0">
                <a:solidFill>
                  <a:srgbClr val="2A78D6"/>
                </a:solidFill>
                <a:latin typeface="Calibri" pitchFamily="34" charset="0"/>
                <a:ea typeface="Calibri" pitchFamily="34" charset="-122"/>
                <a:cs typeface="Calibri" pitchFamily="34" charset="-120"/>
              </a:rPr>
              <a:t>1.386</a:t>
            </a:r>
            <a:endParaRPr lang="en-US" sz="2600" dirty="0"/>
          </a:p>
        </p:txBody>
      </p:sp>
      <p:sp>
        <p:nvSpPr>
          <p:cNvPr id="11" name="Text 7"/>
          <p:cNvSpPr txBox="1"/>
          <p:nvPr/>
        </p:nvSpPr>
        <p:spPr>
          <a:xfrm>
            <a:off x="7543800" y="2176272"/>
            <a:ext cx="4069080" cy="7315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van passengers per completed van request (ratio of two observed totals)</a:t>
            </a:r>
            <a:endParaRPr lang="en-US" sz="1250" dirty="0"/>
          </a:p>
        </p:txBody>
      </p:sp>
      <p:sp>
        <p:nvSpPr>
          <p:cNvPr id="12" name="Text 8"/>
          <p:cNvSpPr txBox="1"/>
          <p:nvPr/>
        </p:nvSpPr>
        <p:spPr>
          <a:xfrm>
            <a:off x="7406640" y="3063240"/>
            <a:ext cx="4297680" cy="7315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Requests with 3 or more passengers: Example A 8%, Example B 12.3%, ours 9%. Examples A and B are illustrations, not data.</a:t>
            </a:r>
            <a:endParaRPr lang="en-US" sz="1250" dirty="0"/>
          </a:p>
        </p:txBody>
      </p:sp>
      <p:sp>
        <p:nvSpPr>
          <p:cNvPr id="13" name="Shape 9"/>
          <p:cNvSpPr/>
          <p:nvPr/>
        </p:nvSpPr>
        <p:spPr>
          <a:xfrm>
            <a:off x="7406640" y="3886200"/>
            <a:ext cx="4297680" cy="2286000"/>
          </a:xfrm>
          <a:prstGeom prst="roundRect">
            <a:avLst>
              <a:gd name="adj" fmla="val 2800"/>
            </a:avLst>
          </a:prstGeom>
          <a:solidFill>
            <a:srgbClr val="FFF4EC"/>
          </a:solidFill>
          <a:ln w="9525">
            <a:solidFill>
              <a:srgbClr val="FFF4EC"/>
            </a:solidFill>
            <a:prstDash val="solid"/>
          </a:ln>
        </p:spPr>
      </p:sp>
      <p:sp>
        <p:nvSpPr>
          <p:cNvPr id="14" name="evidence-ASSUMED"/>
          <p:cNvSpPr/>
          <p:nvPr/>
        </p:nvSpPr>
        <p:spPr>
          <a:xfrm>
            <a:off x="7543800" y="3977640"/>
            <a:ext cx="1051560" cy="256032"/>
          </a:xfrm>
          <a:prstGeom prst="roundRect">
            <a:avLst>
              <a:gd name="adj" fmla="val 50000"/>
            </a:avLst>
          </a:prstGeom>
          <a:solidFill>
            <a:srgbClr val="FDE3D3"/>
          </a:solidFill>
          <a:ln w="12700">
            <a:solidFill>
              <a:srgbClr val="FDE3D3"/>
            </a:solidFill>
            <a:prstDash val="solid"/>
          </a:ln>
        </p:spPr>
      </p:sp>
      <p:sp>
        <p:nvSpPr>
          <p:cNvPr id="15" name="Text 11"/>
          <p:cNvSpPr txBox="1"/>
          <p:nvPr/>
        </p:nvSpPr>
        <p:spPr>
          <a:xfrm>
            <a:off x="7543800" y="3977640"/>
            <a:ext cx="105156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16" name="Text 12"/>
          <p:cNvSpPr txBox="1"/>
          <p:nvPr/>
        </p:nvSpPr>
        <p:spPr>
          <a:xfrm>
            <a:off x="7543800" y="4279392"/>
            <a:ext cx="4069080" cy="1874520"/>
          </a:xfrm>
          <a:prstGeom prst="rect">
            <a:avLst/>
          </a:prstGeom>
          <a:noFill/>
          <a:ln/>
        </p:spPr>
        <p:txBody>
          <a:bodyPr wrap="square" lIns="635" tIns="635" rIns="635" bIns="635" rtlCol="0" anchor="t"/>
          <a:lstStyle/>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Our chosen group-size mix is an assumption informed by the average—not a distribution recovered from April. It covers all requests, so its mean (1.405) need not equal 1.386</a:t>
            </a:r>
            <a:endParaRPr lang="en-US" sz="1150" dirty="0"/>
          </a:p>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Groups matter: seats per van, and waiting counted per passenger (slide 16)</a:t>
            </a:r>
            <a:endParaRPr lang="en-US" sz="1150" dirty="0"/>
          </a:p>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A party of five transferred to Lyft rides together in one XL (team decision)</a:t>
            </a:r>
            <a:endParaRPr lang="en-US" sz="1150" dirty="0"/>
          </a:p>
        </p:txBody>
      </p:sp>
      <p:sp>
        <p:nvSpPr>
          <p:cNvPr id="17" name="Text 1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April dashboards (passengers, completed van requests); docs/technical/decision_log.md D-38, D-33. Bar labels rounded.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One status label hides different events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11</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‘Cancelled’ does not tell us whether a rider gave up or a dispatcher moved the request to Lyft.</a:t>
            </a:r>
            <a:endParaRPr lang="en-US" sz="1700" dirty="0"/>
          </a:p>
        </p:txBody>
      </p:sp>
      <p:sp>
        <p:nvSpPr>
          <p:cNvPr id="6" name="Shape 3"/>
          <p:cNvSpPr/>
          <p:nvPr/>
        </p:nvSpPr>
        <p:spPr>
          <a:xfrm>
            <a:off x="457200" y="1691640"/>
            <a:ext cx="3611880" cy="3017520"/>
          </a:xfrm>
          <a:prstGeom prst="roundRect">
            <a:avLst>
              <a:gd name="adj" fmla="val 2121"/>
            </a:avLst>
          </a:prstGeom>
          <a:solidFill>
            <a:srgbClr val="EEF1F4"/>
          </a:solidFill>
          <a:ln w="9525">
            <a:solidFill>
              <a:srgbClr val="EEF1F4"/>
            </a:solidFill>
            <a:prstDash val="solid"/>
          </a:ln>
        </p:spPr>
      </p:sp>
      <p:sp>
        <p:nvSpPr>
          <p:cNvPr id="7" name="Text 4"/>
          <p:cNvSpPr txBox="1"/>
          <p:nvPr/>
        </p:nvSpPr>
        <p:spPr>
          <a:xfrm>
            <a:off x="594360" y="1764792"/>
            <a:ext cx="3337560" cy="411480"/>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Observation</a:t>
            </a:r>
            <a:endParaRPr lang="en-US" sz="1700" dirty="0"/>
          </a:p>
        </p:txBody>
      </p:sp>
      <p:sp>
        <p:nvSpPr>
          <p:cNvPr id="8" name="evidence-OBSERVED"/>
          <p:cNvSpPr/>
          <p:nvPr/>
        </p:nvSpPr>
        <p:spPr>
          <a:xfrm>
            <a:off x="594360" y="2221992"/>
            <a:ext cx="1051560" cy="256032"/>
          </a:xfrm>
          <a:prstGeom prst="roundRect">
            <a:avLst>
              <a:gd name="adj" fmla="val 50000"/>
            </a:avLst>
          </a:prstGeom>
          <a:solidFill>
            <a:srgbClr val="E3E8EE"/>
          </a:solidFill>
          <a:ln w="12700">
            <a:solidFill>
              <a:srgbClr val="E3E8EE"/>
            </a:solidFill>
            <a:prstDash val="solid"/>
          </a:ln>
        </p:spPr>
      </p:sp>
      <p:sp>
        <p:nvSpPr>
          <p:cNvPr id="9" name="Text 6"/>
          <p:cNvSpPr txBox="1"/>
          <p:nvPr/>
        </p:nvSpPr>
        <p:spPr>
          <a:xfrm>
            <a:off x="594360" y="2221992"/>
            <a:ext cx="1051560" cy="256032"/>
          </a:xfrm>
          <a:prstGeom prst="rect">
            <a:avLst/>
          </a:prstGeom>
          <a:noFill/>
          <a:ln/>
        </p:spPr>
        <p:txBody>
          <a:bodyPr wrap="square" lIns="0" tIns="0" rIns="0" bIns="0" rtlCol="0" anchor="ctr"/>
          <a:lstStyle/>
          <a:p>
            <a:pPr algn="ctr" indent="0" marL="0">
              <a:buNone/>
            </a:pPr>
            <a:r>
              <a:rPr lang="en-US" sz="950" b="1" dirty="0">
                <a:solidFill>
                  <a:srgbClr val="1E2933"/>
                </a:solidFill>
                <a:latin typeface="Calibri" pitchFamily="34" charset="0"/>
                <a:ea typeface="Calibri" pitchFamily="34" charset="-122"/>
                <a:cs typeface="Calibri" pitchFamily="34" charset="-120"/>
              </a:rPr>
              <a:t>OBSERVED</a:t>
            </a:r>
            <a:endParaRPr lang="en-US" sz="950" dirty="0"/>
          </a:p>
        </p:txBody>
      </p:sp>
      <p:sp>
        <p:nvSpPr>
          <p:cNvPr id="10" name="Text 7"/>
          <p:cNvSpPr txBox="1"/>
          <p:nvPr/>
        </p:nvSpPr>
        <p:spPr>
          <a:xfrm>
            <a:off x="594360" y="2578608"/>
            <a:ext cx="3337560" cy="2057400"/>
          </a:xfrm>
          <a:prstGeom prst="rect">
            <a:avLst/>
          </a:prstGeom>
          <a:noFill/>
          <a:ln/>
        </p:spPr>
        <p:txBody>
          <a:bodyPr wrap="square" lIns="635" tIns="635" rIns="635" bIns="635" rtlCol="0" anchor="t"/>
          <a:lstStyle/>
          <a:p>
            <a:pPr indent="0" marL="0">
              <a:buNone/>
            </a:pPr>
            <a:r>
              <a:rPr lang="en-US" sz="1400" dirty="0">
                <a:solidFill>
                  <a:srgbClr val="1E2933"/>
                </a:solidFill>
                <a:latin typeface="Calibri" pitchFamily="34" charset="0"/>
                <a:ea typeface="Calibri" pitchFamily="34" charset="-122"/>
                <a:cs typeface="Calibri" pitchFamily="34" charset="-120"/>
              </a:rPr>
              <a:t>23,843 of 50,297 requests (47%) ended “Canceled”. The label alone does not say why.</a:t>
            </a:r>
            <a:endParaRPr lang="en-US" sz="1400" dirty="0"/>
          </a:p>
        </p:txBody>
      </p:sp>
      <p:sp>
        <p:nvSpPr>
          <p:cNvPr id="11" name="Shape 8"/>
          <p:cNvSpPr/>
          <p:nvPr/>
        </p:nvSpPr>
        <p:spPr>
          <a:xfrm>
            <a:off x="4087368" y="3200400"/>
            <a:ext cx="146304" cy="914"/>
          </a:xfrm>
          <a:prstGeom prst="line">
            <a:avLst/>
          </a:prstGeom>
          <a:noFill/>
          <a:ln w="19050">
            <a:solidFill>
              <a:srgbClr val="1E2933"/>
            </a:solidFill>
            <a:prstDash val="solid"/>
            <a:tailEnd type="triangle"/>
          </a:ln>
        </p:spPr>
      </p:sp>
      <p:sp>
        <p:nvSpPr>
          <p:cNvPr id="12" name="Shape 9"/>
          <p:cNvSpPr/>
          <p:nvPr/>
        </p:nvSpPr>
        <p:spPr>
          <a:xfrm>
            <a:off x="4251960" y="1691640"/>
            <a:ext cx="3611880" cy="3017520"/>
          </a:xfrm>
          <a:prstGeom prst="roundRect">
            <a:avLst>
              <a:gd name="adj" fmla="val 2121"/>
            </a:avLst>
          </a:prstGeom>
          <a:solidFill>
            <a:srgbClr val="FFF4EC"/>
          </a:solidFill>
          <a:ln w="9525">
            <a:solidFill>
              <a:srgbClr val="FFF4EC"/>
            </a:solidFill>
            <a:prstDash val="solid"/>
          </a:ln>
        </p:spPr>
      </p:sp>
      <p:sp>
        <p:nvSpPr>
          <p:cNvPr id="13" name="Text 10"/>
          <p:cNvSpPr txBox="1"/>
          <p:nvPr/>
        </p:nvSpPr>
        <p:spPr>
          <a:xfrm>
            <a:off x="4389120" y="1764792"/>
            <a:ext cx="3337560" cy="411480"/>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Assumed status mapping</a:t>
            </a:r>
            <a:endParaRPr lang="en-US" sz="1700" dirty="0"/>
          </a:p>
        </p:txBody>
      </p:sp>
      <p:sp>
        <p:nvSpPr>
          <p:cNvPr id="14" name="evidence-ASSUMED"/>
          <p:cNvSpPr/>
          <p:nvPr/>
        </p:nvSpPr>
        <p:spPr>
          <a:xfrm>
            <a:off x="4389120" y="2221992"/>
            <a:ext cx="1051560" cy="256032"/>
          </a:xfrm>
          <a:prstGeom prst="roundRect">
            <a:avLst>
              <a:gd name="adj" fmla="val 50000"/>
            </a:avLst>
          </a:prstGeom>
          <a:solidFill>
            <a:srgbClr val="FDE3D3"/>
          </a:solidFill>
          <a:ln w="12700">
            <a:solidFill>
              <a:srgbClr val="FDE3D3"/>
            </a:solidFill>
            <a:prstDash val="solid"/>
          </a:ln>
        </p:spPr>
      </p:sp>
      <p:sp>
        <p:nvSpPr>
          <p:cNvPr id="15" name="Text 12"/>
          <p:cNvSpPr txBox="1"/>
          <p:nvPr/>
        </p:nvSpPr>
        <p:spPr>
          <a:xfrm>
            <a:off x="4389120" y="2221992"/>
            <a:ext cx="105156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16" name="Text 13"/>
          <p:cNvSpPr txBox="1"/>
          <p:nvPr/>
        </p:nvSpPr>
        <p:spPr>
          <a:xfrm>
            <a:off x="4389120" y="2578608"/>
            <a:ext cx="3337560" cy="2057400"/>
          </a:xfrm>
          <a:prstGeom prst="rect">
            <a:avLst/>
          </a:prstGeom>
          <a:noFill/>
          <a:ln/>
        </p:spPr>
        <p:txBody>
          <a:bodyPr wrap="square" lIns="635" tIns="635" rIns="635" bIns="635" rtlCol="0" anchor="t"/>
          <a:lstStyle/>
          <a:p>
            <a:pPr indent="0" marL="0">
              <a:buNone/>
            </a:pPr>
            <a:r>
              <a:rPr lang="en-US" sz="1400" dirty="0">
                <a:solidFill>
                  <a:srgbClr val="1E2933"/>
                </a:solidFill>
                <a:latin typeface="Calibri" pitchFamily="34" charset="0"/>
                <a:ea typeface="Calibri" pitchFamily="34" charset="-122"/>
                <a:cs typeface="Calibri" pitchFamily="34" charset="-120"/>
              </a:rPr>
              <a:t>We assume requests moved to Lyft also close as “Canceled” in the van system. The share that is riders giving up is kept as a range (50–75%) to test, not a fixed number.</a:t>
            </a:r>
            <a:endParaRPr lang="en-US" sz="1400" dirty="0"/>
          </a:p>
        </p:txBody>
      </p:sp>
      <p:sp>
        <p:nvSpPr>
          <p:cNvPr id="17" name="Shape 14"/>
          <p:cNvSpPr/>
          <p:nvPr/>
        </p:nvSpPr>
        <p:spPr>
          <a:xfrm>
            <a:off x="7882128" y="3200400"/>
            <a:ext cx="146304" cy="914"/>
          </a:xfrm>
          <a:prstGeom prst="line">
            <a:avLst/>
          </a:prstGeom>
          <a:noFill/>
          <a:ln w="19050">
            <a:solidFill>
              <a:srgbClr val="1E2933"/>
            </a:solidFill>
            <a:prstDash val="solid"/>
            <a:tailEnd type="triangle"/>
          </a:ln>
        </p:spPr>
      </p:sp>
      <p:sp>
        <p:nvSpPr>
          <p:cNvPr id="18" name="Shape 15"/>
          <p:cNvSpPr/>
          <p:nvPr/>
        </p:nvSpPr>
        <p:spPr>
          <a:xfrm>
            <a:off x="8046720" y="1691640"/>
            <a:ext cx="3611880" cy="3017520"/>
          </a:xfrm>
          <a:prstGeom prst="roundRect">
            <a:avLst>
              <a:gd name="adj" fmla="val 2121"/>
            </a:avLst>
          </a:prstGeom>
          <a:solidFill>
            <a:srgbClr val="EFEDFB"/>
          </a:solidFill>
          <a:ln w="9525">
            <a:solidFill>
              <a:srgbClr val="EFEDFB"/>
            </a:solidFill>
            <a:prstDash val="solid"/>
          </a:ln>
        </p:spPr>
      </p:sp>
      <p:sp>
        <p:nvSpPr>
          <p:cNvPr id="19" name="Text 16"/>
          <p:cNvSpPr txBox="1"/>
          <p:nvPr/>
        </p:nvSpPr>
        <p:spPr>
          <a:xfrm>
            <a:off x="8183880" y="1764792"/>
            <a:ext cx="3337560" cy="411480"/>
          </a:xfrm>
          <a:prstGeom prst="rect">
            <a:avLst/>
          </a:prstGeom>
          <a:noFill/>
          <a:ln/>
        </p:spPr>
        <p:txBody>
          <a:bodyPr wrap="square" lIns="635" tIns="635" rIns="635" bIns="635" rtlCol="0" anchor="t"/>
          <a:lstStyle/>
          <a:p>
            <a:pPr indent="0" marL="0">
              <a:buNone/>
            </a:pPr>
            <a:r>
              <a:rPr lang="en-US" sz="1700" b="1" dirty="0">
                <a:solidFill>
                  <a:srgbClr val="1E2933"/>
                </a:solidFill>
                <a:latin typeface="Calibri" pitchFamily="34" charset="0"/>
                <a:ea typeface="Calibri" pitchFamily="34" charset="-122"/>
                <a:cs typeface="Calibri" pitchFamily="34" charset="-120"/>
              </a:rPr>
              <a:t>Hidden rider patience</a:t>
            </a:r>
            <a:endParaRPr lang="en-US" sz="1700" dirty="0"/>
          </a:p>
        </p:txBody>
      </p:sp>
      <p:sp>
        <p:nvSpPr>
          <p:cNvPr id="20" name="evidence-ASSUMED"/>
          <p:cNvSpPr/>
          <p:nvPr/>
        </p:nvSpPr>
        <p:spPr>
          <a:xfrm>
            <a:off x="8183880" y="2221992"/>
            <a:ext cx="1051560" cy="256032"/>
          </a:xfrm>
          <a:prstGeom prst="roundRect">
            <a:avLst>
              <a:gd name="adj" fmla="val 50000"/>
            </a:avLst>
          </a:prstGeom>
          <a:solidFill>
            <a:srgbClr val="FDE3D3"/>
          </a:solidFill>
          <a:ln w="12700">
            <a:solidFill>
              <a:srgbClr val="FDE3D3"/>
            </a:solidFill>
            <a:prstDash val="solid"/>
          </a:ln>
        </p:spPr>
      </p:sp>
      <p:sp>
        <p:nvSpPr>
          <p:cNvPr id="21" name="Text 18"/>
          <p:cNvSpPr txBox="1"/>
          <p:nvPr/>
        </p:nvSpPr>
        <p:spPr>
          <a:xfrm>
            <a:off x="8183880" y="2221992"/>
            <a:ext cx="105156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22" name="Text 19"/>
          <p:cNvSpPr txBox="1"/>
          <p:nvPr/>
        </p:nvSpPr>
        <p:spPr>
          <a:xfrm>
            <a:off x="8183880" y="2578608"/>
            <a:ext cx="3337560" cy="2057400"/>
          </a:xfrm>
          <a:prstGeom prst="rect">
            <a:avLst/>
          </a:prstGeom>
          <a:noFill/>
          <a:ln/>
        </p:spPr>
        <p:txBody>
          <a:bodyPr wrap="square" lIns="635" tIns="635" rIns="635" bIns="635" rtlCol="0" anchor="t"/>
          <a:lstStyle/>
          <a:p>
            <a:pPr indent="0" marL="0">
              <a:buNone/>
            </a:pPr>
            <a:r>
              <a:rPr lang="en-US" sz="1400" dirty="0">
                <a:solidFill>
                  <a:srgbClr val="1E2933"/>
                </a:solidFill>
                <a:latin typeface="Calibri" pitchFamily="34" charset="0"/>
                <a:ea typeface="Calibri" pitchFamily="34" charset="-122"/>
                <a:cs typeface="Calibri" pitchFamily="34" charset="-120"/>
              </a:rPr>
              <a:t>Each simulated rider gets a private deadline the dispatcher cannot see. Placeholder: median 18 minutes, waiting-dependent (Weibull).</a:t>
            </a:r>
            <a:endParaRPr lang="en-US" sz="1400" dirty="0"/>
          </a:p>
        </p:txBody>
      </p:sp>
      <p:sp>
        <p:nvSpPr>
          <p:cNvPr id="23" name="Shape 20"/>
          <p:cNvSpPr/>
          <p:nvPr/>
        </p:nvSpPr>
        <p:spPr>
          <a:xfrm>
            <a:off x="457200" y="4892040"/>
            <a:ext cx="11247120" cy="1234440"/>
          </a:xfrm>
          <a:prstGeom prst="roundRect">
            <a:avLst>
              <a:gd name="adj" fmla="val 5185"/>
            </a:avLst>
          </a:prstGeom>
          <a:solidFill>
            <a:srgbClr val="FFFFFF"/>
          </a:solidFill>
          <a:ln w="15875">
            <a:solidFill>
              <a:srgbClr val="6250D6"/>
            </a:solidFill>
            <a:prstDash val="solid"/>
          </a:ln>
        </p:spPr>
      </p:sp>
      <p:sp>
        <p:nvSpPr>
          <p:cNvPr id="24" name="Text 21"/>
          <p:cNvSpPr txBox="1"/>
          <p:nvPr/>
        </p:nvSpPr>
        <p:spPr>
          <a:xfrm>
            <a:off x="594360" y="4937760"/>
            <a:ext cx="10972800" cy="1143000"/>
          </a:xfrm>
          <a:prstGeom prst="rect">
            <a:avLst/>
          </a:prstGeom>
          <a:noFill/>
          <a:ln/>
        </p:spPr>
        <p:txBody>
          <a:bodyPr wrap="square" lIns="635" tIns="635" rIns="635" bIns="635" rtlCol="0" anchor="ctr"/>
          <a:lstStyle/>
          <a:p>
            <a:pPr indent="0" marL="0">
              <a:buNone/>
            </a:pPr>
            <a:r>
              <a:rPr lang="en-US" sz="1400" b="1" dirty="0">
                <a:solidFill>
                  <a:srgbClr val="1E2933"/>
                </a:solidFill>
                <a:latin typeface="Calibri" pitchFamily="34" charset="0"/>
                <a:ea typeface="Calibri" pitchFamily="34" charset="-122"/>
                <a:cs typeface="Calibri" pitchFamily="34" charset="-120"/>
              </a:rPr>
              <a:t>The patience distribution is provisional. It lets the simulator represent abandonment; it is not a behavioural distribution measured from April. </a:t>
            </a:r>
            <a:pPr indent="0" marL="0">
              <a:buNone/>
            </a:pPr>
            <a:r>
              <a:rPr lang="en-US" sz="1400" dirty="0">
                <a:solidFill>
                  <a:srgbClr val="1E2933"/>
                </a:solidFill>
                <a:latin typeface="Calibri" pitchFamily="34" charset="0"/>
                <a:ea typeface="Calibri" pitchFamily="34" charset="-122"/>
                <a:cs typeface="Calibri" pitchFamily="34" charset="-120"/>
              </a:rPr>
              <a:t>Many different patience distributions could produce the same cancellation share, so a chosen share does not pin one down.</a:t>
            </a:r>
            <a:endParaRPr lang="en-US" sz="1400" dirty="0"/>
          </a:p>
        </p:txBody>
      </p:sp>
      <p:sp>
        <p:nvSpPr>
          <p:cNvPr id="25" name="Text 2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April dashboard status totals (digitized sums also show 99 “Denied”); docs/technical/decision_log.md D-39, D-49; methodology Appendix C.</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The simulator needs a probability at vehicle arrival</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12</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share of all requests marked ‘No Show’ is different from the chance of a no-show when a vehicle actually arrives.</a:t>
            </a:r>
            <a:endParaRPr lang="en-US" sz="1700" dirty="0"/>
          </a:p>
        </p:txBody>
      </p:sp>
      <p:sp>
        <p:nvSpPr>
          <p:cNvPr id="6" name="Shape 3"/>
          <p:cNvSpPr/>
          <p:nvPr/>
        </p:nvSpPr>
        <p:spPr>
          <a:xfrm>
            <a:off x="457200" y="1691640"/>
            <a:ext cx="5486400" cy="2377440"/>
          </a:xfrm>
          <a:prstGeom prst="roundRect">
            <a:avLst>
              <a:gd name="adj" fmla="val 2692"/>
            </a:avLst>
          </a:prstGeom>
          <a:solidFill>
            <a:srgbClr val="EEF1F4"/>
          </a:solidFill>
          <a:ln w="9525">
            <a:solidFill>
              <a:srgbClr val="EEF1F4"/>
            </a:solidFill>
            <a:prstDash val="solid"/>
          </a:ln>
        </p:spPr>
      </p:sp>
      <p:sp>
        <p:nvSpPr>
          <p:cNvPr id="7" name="Text 4"/>
          <p:cNvSpPr txBox="1"/>
          <p:nvPr/>
        </p:nvSpPr>
        <p:spPr>
          <a:xfrm>
            <a:off x="640080" y="1755648"/>
            <a:ext cx="5120640" cy="384048"/>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Divide by all requests</a:t>
            </a:r>
            <a:endParaRPr lang="en-US" sz="1600" dirty="0"/>
          </a:p>
        </p:txBody>
      </p:sp>
      <p:sp>
        <p:nvSpPr>
          <p:cNvPr id="8" name="Text 5"/>
          <p:cNvSpPr txBox="1"/>
          <p:nvPr/>
        </p:nvSpPr>
        <p:spPr>
          <a:xfrm>
            <a:off x="640080" y="2194560"/>
            <a:ext cx="2377440" cy="457200"/>
          </a:xfrm>
          <a:prstGeom prst="rect">
            <a:avLst/>
          </a:prstGeom>
          <a:noFill/>
          <a:ln/>
        </p:spPr>
        <p:txBody>
          <a:bodyPr wrap="square" lIns="635" tIns="635" rIns="635" bIns="635" rtlCol="0" anchor="t"/>
          <a:lstStyle/>
          <a:p>
            <a:pPr algn="ctr" indent="0" marL="0">
              <a:buNone/>
            </a:pPr>
            <a:r>
              <a:rPr lang="en-US" sz="2400" dirty="0">
                <a:solidFill>
                  <a:srgbClr val="1E2933"/>
                </a:solidFill>
                <a:latin typeface="Calibri" pitchFamily="34" charset="0"/>
                <a:ea typeface="Calibri" pitchFamily="34" charset="-122"/>
                <a:cs typeface="Calibri" pitchFamily="34" charset="-120"/>
              </a:rPr>
              <a:t>2,359</a:t>
            </a:r>
            <a:endParaRPr lang="en-US" sz="2400" dirty="0"/>
          </a:p>
        </p:txBody>
      </p:sp>
      <p:sp>
        <p:nvSpPr>
          <p:cNvPr id="9" name="Shape 6"/>
          <p:cNvSpPr/>
          <p:nvPr/>
        </p:nvSpPr>
        <p:spPr>
          <a:xfrm>
            <a:off x="822960" y="2697480"/>
            <a:ext cx="2011680" cy="914"/>
          </a:xfrm>
          <a:prstGeom prst="line">
            <a:avLst/>
          </a:prstGeom>
          <a:noFill/>
          <a:ln w="19050">
            <a:solidFill>
              <a:srgbClr val="1E2933"/>
            </a:solidFill>
            <a:prstDash val="solid"/>
          </a:ln>
        </p:spPr>
      </p:sp>
      <p:sp>
        <p:nvSpPr>
          <p:cNvPr id="10" name="Text 7"/>
          <p:cNvSpPr txBox="1"/>
          <p:nvPr/>
        </p:nvSpPr>
        <p:spPr>
          <a:xfrm>
            <a:off x="640080" y="2743200"/>
            <a:ext cx="2377440" cy="457200"/>
          </a:xfrm>
          <a:prstGeom prst="rect">
            <a:avLst/>
          </a:prstGeom>
          <a:noFill/>
          <a:ln/>
        </p:spPr>
        <p:txBody>
          <a:bodyPr wrap="square" lIns="635" tIns="635" rIns="635" bIns="635" rtlCol="0" anchor="t"/>
          <a:lstStyle/>
          <a:p>
            <a:pPr algn="ctr" indent="0" marL="0">
              <a:buNone/>
            </a:pPr>
            <a:r>
              <a:rPr lang="en-US" sz="2400" dirty="0">
                <a:solidFill>
                  <a:srgbClr val="1E2933"/>
                </a:solidFill>
                <a:latin typeface="Calibri" pitchFamily="34" charset="0"/>
                <a:ea typeface="Calibri" pitchFamily="34" charset="-122"/>
                <a:cs typeface="Calibri" pitchFamily="34" charset="-120"/>
              </a:rPr>
              <a:t>50,297</a:t>
            </a:r>
            <a:endParaRPr lang="en-US" sz="2400" dirty="0"/>
          </a:p>
        </p:txBody>
      </p:sp>
      <p:sp>
        <p:nvSpPr>
          <p:cNvPr id="11" name="Text 8"/>
          <p:cNvSpPr txBox="1"/>
          <p:nvPr/>
        </p:nvSpPr>
        <p:spPr>
          <a:xfrm>
            <a:off x="3108960" y="2331720"/>
            <a:ext cx="2651760" cy="685800"/>
          </a:xfrm>
          <a:prstGeom prst="rect">
            <a:avLst/>
          </a:prstGeom>
          <a:noFill/>
          <a:ln/>
        </p:spPr>
        <p:txBody>
          <a:bodyPr wrap="square" lIns="635" tIns="635" rIns="635" bIns="635" rtlCol="0" anchor="t"/>
          <a:lstStyle/>
          <a:p>
            <a:pPr indent="0" marL="0">
              <a:buNone/>
            </a:pPr>
            <a:r>
              <a:rPr lang="en-US" sz="3800" b="1" dirty="0">
                <a:solidFill>
                  <a:srgbClr val="5B6670"/>
                </a:solidFill>
                <a:latin typeface="Calibri" pitchFamily="34" charset="0"/>
                <a:ea typeface="Calibri" pitchFamily="34" charset="-122"/>
                <a:cs typeface="Calibri" pitchFamily="34" charset="-120"/>
              </a:rPr>
              <a:t>= 4.7%</a:t>
            </a:r>
            <a:endParaRPr lang="en-US" sz="3800" dirty="0"/>
          </a:p>
        </p:txBody>
      </p:sp>
      <p:sp>
        <p:nvSpPr>
          <p:cNvPr id="12" name="Text 9"/>
          <p:cNvSpPr txBox="1"/>
          <p:nvPr/>
        </p:nvSpPr>
        <p:spPr>
          <a:xfrm>
            <a:off x="640080" y="3310128"/>
            <a:ext cx="3657600" cy="54864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includes requests no vehicle ever reached</a:t>
            </a:r>
            <a:endParaRPr lang="en-US" sz="1300" dirty="0"/>
          </a:p>
        </p:txBody>
      </p:sp>
      <p:sp>
        <p:nvSpPr>
          <p:cNvPr id="13" name="evidence-DERIVED"/>
          <p:cNvSpPr/>
          <p:nvPr/>
        </p:nvSpPr>
        <p:spPr>
          <a:xfrm>
            <a:off x="4206240" y="3675888"/>
            <a:ext cx="1051560" cy="256032"/>
          </a:xfrm>
          <a:prstGeom prst="roundRect">
            <a:avLst>
              <a:gd name="adj" fmla="val 50000"/>
            </a:avLst>
          </a:prstGeom>
          <a:solidFill>
            <a:srgbClr val="DCEBFA"/>
          </a:solidFill>
          <a:ln w="12700">
            <a:solidFill>
              <a:srgbClr val="DCEBFA"/>
            </a:solidFill>
            <a:prstDash val="solid"/>
          </a:ln>
        </p:spPr>
      </p:sp>
      <p:sp>
        <p:nvSpPr>
          <p:cNvPr id="14" name="Text 11"/>
          <p:cNvSpPr txBox="1"/>
          <p:nvPr/>
        </p:nvSpPr>
        <p:spPr>
          <a:xfrm>
            <a:off x="4206240" y="3675888"/>
            <a:ext cx="1051560" cy="256032"/>
          </a:xfrm>
          <a:prstGeom prst="rect">
            <a:avLst/>
          </a:prstGeom>
          <a:noFill/>
          <a:ln/>
        </p:spPr>
        <p:txBody>
          <a:bodyPr wrap="square" lIns="0" tIns="0" rIns="0" bIns="0" rtlCol="0" anchor="ctr"/>
          <a:lstStyle/>
          <a:p>
            <a:pPr algn="ctr" indent="0" marL="0">
              <a:buNone/>
            </a:pPr>
            <a:r>
              <a:rPr lang="en-US" sz="950" b="1" dirty="0">
                <a:solidFill>
                  <a:srgbClr val="1B4F8A"/>
                </a:solidFill>
                <a:latin typeface="Calibri" pitchFamily="34" charset="0"/>
                <a:ea typeface="Calibri" pitchFamily="34" charset="-122"/>
                <a:cs typeface="Calibri" pitchFamily="34" charset="-120"/>
              </a:rPr>
              <a:t>DERIVED</a:t>
            </a:r>
            <a:endParaRPr lang="en-US" sz="950" dirty="0"/>
          </a:p>
        </p:txBody>
      </p:sp>
      <p:sp>
        <p:nvSpPr>
          <p:cNvPr id="15" name="Shape 12"/>
          <p:cNvSpPr/>
          <p:nvPr/>
        </p:nvSpPr>
        <p:spPr>
          <a:xfrm>
            <a:off x="6172200" y="1691640"/>
            <a:ext cx="5486400" cy="2377440"/>
          </a:xfrm>
          <a:prstGeom prst="roundRect">
            <a:avLst>
              <a:gd name="adj" fmla="val 2692"/>
            </a:avLst>
          </a:prstGeom>
          <a:solidFill>
            <a:srgbClr val="E8F1FB"/>
          </a:solidFill>
          <a:ln w="9525">
            <a:solidFill>
              <a:srgbClr val="E8F1FB"/>
            </a:solidFill>
            <a:prstDash val="solid"/>
          </a:ln>
        </p:spPr>
      </p:sp>
      <p:sp>
        <p:nvSpPr>
          <p:cNvPr id="16" name="Text 13"/>
          <p:cNvSpPr txBox="1"/>
          <p:nvPr/>
        </p:nvSpPr>
        <p:spPr>
          <a:xfrm>
            <a:off x="6355080" y="1755648"/>
            <a:ext cx="5120640" cy="384048"/>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Divide by van arrivals (completed + no-show)</a:t>
            </a:r>
            <a:endParaRPr lang="en-US" sz="1600" dirty="0"/>
          </a:p>
        </p:txBody>
      </p:sp>
      <p:sp>
        <p:nvSpPr>
          <p:cNvPr id="17" name="Text 14"/>
          <p:cNvSpPr txBox="1"/>
          <p:nvPr/>
        </p:nvSpPr>
        <p:spPr>
          <a:xfrm>
            <a:off x="6355080" y="2194560"/>
            <a:ext cx="2377440" cy="457200"/>
          </a:xfrm>
          <a:prstGeom prst="rect">
            <a:avLst/>
          </a:prstGeom>
          <a:noFill/>
          <a:ln/>
        </p:spPr>
        <p:txBody>
          <a:bodyPr wrap="square" lIns="635" tIns="635" rIns="635" bIns="635" rtlCol="0" anchor="t"/>
          <a:lstStyle/>
          <a:p>
            <a:pPr algn="ctr" indent="0" marL="0">
              <a:buNone/>
            </a:pPr>
            <a:r>
              <a:rPr lang="en-US" sz="2400" dirty="0">
                <a:solidFill>
                  <a:srgbClr val="1E2933"/>
                </a:solidFill>
                <a:latin typeface="Calibri" pitchFamily="34" charset="0"/>
                <a:ea typeface="Calibri" pitchFamily="34" charset="-122"/>
                <a:cs typeface="Calibri" pitchFamily="34" charset="-120"/>
              </a:rPr>
              <a:t>2,359</a:t>
            </a:r>
            <a:endParaRPr lang="en-US" sz="2400" dirty="0"/>
          </a:p>
        </p:txBody>
      </p:sp>
      <p:sp>
        <p:nvSpPr>
          <p:cNvPr id="18" name="Shape 15"/>
          <p:cNvSpPr/>
          <p:nvPr/>
        </p:nvSpPr>
        <p:spPr>
          <a:xfrm>
            <a:off x="6537960" y="2697480"/>
            <a:ext cx="2011680" cy="914"/>
          </a:xfrm>
          <a:prstGeom prst="line">
            <a:avLst/>
          </a:prstGeom>
          <a:noFill/>
          <a:ln w="19050">
            <a:solidFill>
              <a:srgbClr val="1E2933"/>
            </a:solidFill>
            <a:prstDash val="solid"/>
          </a:ln>
        </p:spPr>
      </p:sp>
      <p:sp>
        <p:nvSpPr>
          <p:cNvPr id="19" name="Text 16"/>
          <p:cNvSpPr txBox="1"/>
          <p:nvPr/>
        </p:nvSpPr>
        <p:spPr>
          <a:xfrm>
            <a:off x="6355080" y="2743200"/>
            <a:ext cx="2377440" cy="457200"/>
          </a:xfrm>
          <a:prstGeom prst="rect">
            <a:avLst/>
          </a:prstGeom>
          <a:noFill/>
          <a:ln/>
        </p:spPr>
        <p:txBody>
          <a:bodyPr wrap="square" lIns="635" tIns="635" rIns="635" bIns="635" rtlCol="0" anchor="t"/>
          <a:lstStyle/>
          <a:p>
            <a:pPr algn="ctr" indent="0" marL="0">
              <a:buNone/>
            </a:pPr>
            <a:r>
              <a:rPr lang="en-US" sz="2400" dirty="0">
                <a:solidFill>
                  <a:srgbClr val="1E2933"/>
                </a:solidFill>
                <a:latin typeface="Calibri" pitchFamily="34" charset="0"/>
                <a:ea typeface="Calibri" pitchFamily="34" charset="-122"/>
                <a:cs typeface="Calibri" pitchFamily="34" charset="-120"/>
              </a:rPr>
              <a:t>26,454</a:t>
            </a:r>
            <a:endParaRPr lang="en-US" sz="2400" dirty="0"/>
          </a:p>
        </p:txBody>
      </p:sp>
      <p:sp>
        <p:nvSpPr>
          <p:cNvPr id="20" name="Text 17"/>
          <p:cNvSpPr txBox="1"/>
          <p:nvPr/>
        </p:nvSpPr>
        <p:spPr>
          <a:xfrm>
            <a:off x="8823960" y="2331720"/>
            <a:ext cx="2651760" cy="685800"/>
          </a:xfrm>
          <a:prstGeom prst="rect">
            <a:avLst/>
          </a:prstGeom>
          <a:noFill/>
          <a:ln/>
        </p:spPr>
        <p:txBody>
          <a:bodyPr wrap="square" lIns="635" tIns="635" rIns="635" bIns="635" rtlCol="0" anchor="t"/>
          <a:lstStyle/>
          <a:p>
            <a:pPr indent="0" marL="0">
              <a:buNone/>
            </a:pPr>
            <a:r>
              <a:rPr lang="en-US" sz="3800" b="1" dirty="0">
                <a:solidFill>
                  <a:srgbClr val="2A78D6"/>
                </a:solidFill>
                <a:latin typeface="Calibri" pitchFamily="34" charset="0"/>
                <a:ea typeface="Calibri" pitchFamily="34" charset="-122"/>
                <a:cs typeface="Calibri" pitchFamily="34" charset="-120"/>
              </a:rPr>
              <a:t>= 8.9%</a:t>
            </a:r>
            <a:endParaRPr lang="en-US" sz="3800" dirty="0"/>
          </a:p>
        </p:txBody>
      </p:sp>
      <p:sp>
        <p:nvSpPr>
          <p:cNvPr id="21" name="Text 18"/>
          <p:cNvSpPr txBox="1"/>
          <p:nvPr/>
        </p:nvSpPr>
        <p:spPr>
          <a:xfrm>
            <a:off x="6355080" y="3310128"/>
            <a:ext cx="3657600" cy="54864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a no-show can only happen when a vehicle arrives</a:t>
            </a:r>
            <a:endParaRPr lang="en-US" sz="1300" dirty="0"/>
          </a:p>
        </p:txBody>
      </p:sp>
      <p:sp>
        <p:nvSpPr>
          <p:cNvPr id="22" name="evidence-DERIVED + ASSUMED"/>
          <p:cNvSpPr/>
          <p:nvPr/>
        </p:nvSpPr>
        <p:spPr>
          <a:xfrm>
            <a:off x="9921240" y="3675888"/>
            <a:ext cx="1600200" cy="256032"/>
          </a:xfrm>
          <a:prstGeom prst="roundRect">
            <a:avLst>
              <a:gd name="adj" fmla="val 50000"/>
            </a:avLst>
          </a:prstGeom>
          <a:solidFill>
            <a:srgbClr val="E6E3F0"/>
          </a:solidFill>
          <a:ln w="12700">
            <a:solidFill>
              <a:srgbClr val="E6E3F0"/>
            </a:solidFill>
            <a:prstDash val="solid"/>
          </a:ln>
        </p:spPr>
      </p:sp>
      <p:sp>
        <p:nvSpPr>
          <p:cNvPr id="23" name="Text 20"/>
          <p:cNvSpPr txBox="1"/>
          <p:nvPr/>
        </p:nvSpPr>
        <p:spPr>
          <a:xfrm>
            <a:off x="9921240" y="3675888"/>
            <a:ext cx="160020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24" name="Shape 21"/>
          <p:cNvSpPr/>
          <p:nvPr/>
        </p:nvSpPr>
        <p:spPr>
          <a:xfrm>
            <a:off x="6172200" y="4206240"/>
            <a:ext cx="5486400" cy="1920240"/>
          </a:xfrm>
          <a:prstGeom prst="roundRect">
            <a:avLst>
              <a:gd name="adj" fmla="val 3333"/>
            </a:avLst>
          </a:prstGeom>
          <a:solidFill>
            <a:srgbClr val="FFF4EC"/>
          </a:solidFill>
          <a:ln w="15875">
            <a:solidFill>
              <a:srgbClr val="EB6834"/>
            </a:solidFill>
            <a:prstDash val="solid"/>
          </a:ln>
        </p:spPr>
      </p:sp>
      <p:sp>
        <p:nvSpPr>
          <p:cNvPr id="25" name="Text 22"/>
          <p:cNvSpPr txBox="1"/>
          <p:nvPr/>
        </p:nvSpPr>
        <p:spPr>
          <a:xfrm>
            <a:off x="6309360" y="4251960"/>
            <a:ext cx="5257800" cy="182880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8.9% holds only if: </a:t>
            </a:r>
            <a:endParaRPr lang="en-US" sz="1350" dirty="0"/>
          </a:p>
          <a:p>
            <a:pPr indent="0" marL="0">
              <a:buNone/>
            </a:pPr>
            <a:r>
              <a:rPr lang="en-US" sz="1350" dirty="0">
                <a:solidFill>
                  <a:srgbClr val="1E2933"/>
                </a:solidFill>
                <a:latin typeface="Calibri" pitchFamily="34" charset="0"/>
                <a:ea typeface="Calibri" pitchFamily="34" charset="-122"/>
                <a:cs typeface="Calibri" pitchFamily="34" charset="-120"/>
              </a:rPr>
              <a:t>“No Show” was recorded after a real van arrival; “Completed” counts van trips; and Lyft hand-offs sit in “Canceled”.</a:t>
            </a:r>
            <a:endParaRPr lang="en-US" sz="1350" dirty="0"/>
          </a:p>
          <a:p>
            <a:pPr indent="0" marL="0">
              <a:buNone/>
            </a:pPr>
            <a:r>
              <a:rPr lang="en-US" sz="1350" b="1" dirty="0">
                <a:solidFill>
                  <a:srgbClr val="1E2933"/>
                </a:solidFill>
                <a:latin typeface="Calibri" pitchFamily="34" charset="0"/>
                <a:ea typeface="Calibri" pitchFamily="34" charset="-122"/>
                <a:cs typeface="Calibri" pitchFamily="34" charset="-120"/>
              </a:rPr>
              <a:t>Our arrival-based probability is provisional because it depends on how the dashboard statuses were recorded.</a:t>
            </a:r>
            <a:endParaRPr lang="en-US" sz="1350" dirty="0"/>
          </a:p>
        </p:txBody>
      </p:sp>
      <p:sp>
        <p:nvSpPr>
          <p:cNvPr id="26" name="Text 23"/>
          <p:cNvSpPr txBox="1"/>
          <p:nvPr/>
        </p:nvSpPr>
        <p:spPr>
          <a:xfrm>
            <a:off x="457200" y="4297680"/>
            <a:ext cx="5486400" cy="731520"/>
          </a:xfrm>
          <a:prstGeom prst="rect">
            <a:avLst/>
          </a:prstGeom>
          <a:noFill/>
          <a:ln/>
        </p:spPr>
        <p:txBody>
          <a:bodyPr wrap="square" lIns="635" tIns="635" rIns="635" bIns="635" rtlCol="0" anchor="t"/>
          <a:lstStyle/>
          <a:p>
            <a:pPr indent="0" marL="0">
              <a:buNone/>
            </a:pPr>
            <a:r>
              <a:rPr lang="en-US" sz="1400" dirty="0">
                <a:solidFill>
                  <a:srgbClr val="1E2933"/>
                </a:solidFill>
                <a:latin typeface="Calibri" pitchFamily="34" charset="0"/>
                <a:ea typeface="Calibri" pitchFamily="34" charset="-122"/>
                <a:cs typeface="Calibri" pitchFamily="34" charset="-120"/>
              </a:rPr>
              <a:t>The simulator gives each rider one presence draw, used whichever vehicle arrives (van or Lyft).</a:t>
            </a:r>
            <a:endParaRPr lang="en-US" sz="1400" dirty="0"/>
          </a:p>
        </p:txBody>
      </p:sp>
      <p:sp>
        <p:nvSpPr>
          <p:cNvPr id="27" name="Text 2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April dashboard status totals; docs/technical/decision_log.md D-40, D-48; scenario_methodology.md Appendix C.</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The evidence becomes a scenario blueprint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13</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A scenario combines evidence-based inputs, explicit assumptions and hidden rider behaviour.</a:t>
            </a:r>
            <a:endParaRPr lang="en-US" sz="1700" dirty="0"/>
          </a:p>
        </p:txBody>
      </p:sp>
      <p:sp>
        <p:nvSpPr>
          <p:cNvPr id="6" name="Shape 3"/>
          <p:cNvSpPr/>
          <p:nvPr/>
        </p:nvSpPr>
        <p:spPr>
          <a:xfrm>
            <a:off x="457200" y="1691640"/>
            <a:ext cx="2697480" cy="3337560"/>
          </a:xfrm>
          <a:prstGeom prst="roundRect">
            <a:avLst>
              <a:gd name="adj" fmla="val 2373"/>
            </a:avLst>
          </a:prstGeom>
          <a:solidFill>
            <a:srgbClr val="E8F1FB"/>
          </a:solidFill>
          <a:ln w="9525">
            <a:solidFill>
              <a:srgbClr val="E8F1FB"/>
            </a:solidFill>
            <a:prstDash val="solid"/>
          </a:ln>
        </p:spPr>
      </p:sp>
      <p:sp>
        <p:nvSpPr>
          <p:cNvPr id="7" name="Text 4"/>
          <p:cNvSpPr txBox="1"/>
          <p:nvPr/>
        </p:nvSpPr>
        <p:spPr>
          <a:xfrm>
            <a:off x="566928" y="1755648"/>
            <a:ext cx="2468880" cy="384048"/>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Demand</a:t>
            </a:r>
            <a:endParaRPr lang="en-US" sz="1600" dirty="0"/>
          </a:p>
        </p:txBody>
      </p:sp>
      <p:sp>
        <p:nvSpPr>
          <p:cNvPr id="8" name="Text 5"/>
          <p:cNvSpPr txBox="1"/>
          <p:nvPr/>
        </p:nvSpPr>
        <p:spPr>
          <a:xfrm>
            <a:off x="566928" y="2212848"/>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Arrival times</a:t>
            </a:r>
            <a:endParaRPr lang="en-US" sz="1300" dirty="0"/>
          </a:p>
        </p:txBody>
      </p:sp>
      <p:sp>
        <p:nvSpPr>
          <p:cNvPr id="9" name="evidence-DERIVED + ASSUMED"/>
          <p:cNvSpPr/>
          <p:nvPr/>
        </p:nvSpPr>
        <p:spPr>
          <a:xfrm>
            <a:off x="566928" y="2514600"/>
            <a:ext cx="1645920" cy="256032"/>
          </a:xfrm>
          <a:prstGeom prst="roundRect">
            <a:avLst>
              <a:gd name="adj" fmla="val 50000"/>
            </a:avLst>
          </a:prstGeom>
          <a:solidFill>
            <a:srgbClr val="E6E3F0"/>
          </a:solidFill>
          <a:ln w="12700">
            <a:solidFill>
              <a:srgbClr val="E6E3F0"/>
            </a:solidFill>
            <a:prstDash val="solid"/>
          </a:ln>
        </p:spPr>
      </p:sp>
      <p:sp>
        <p:nvSpPr>
          <p:cNvPr id="10" name="Text 7"/>
          <p:cNvSpPr txBox="1"/>
          <p:nvPr/>
        </p:nvSpPr>
        <p:spPr>
          <a:xfrm>
            <a:off x="566928" y="2514600"/>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11" name="Text 8"/>
          <p:cNvSpPr txBox="1"/>
          <p:nvPr/>
        </p:nvSpPr>
        <p:spPr>
          <a:xfrm>
            <a:off x="566928" y="2907792"/>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Locations</a:t>
            </a:r>
            <a:endParaRPr lang="en-US" sz="1300" dirty="0"/>
          </a:p>
        </p:txBody>
      </p:sp>
      <p:sp>
        <p:nvSpPr>
          <p:cNvPr id="12" name="evidence-DERIVED + ASSUMED"/>
          <p:cNvSpPr/>
          <p:nvPr/>
        </p:nvSpPr>
        <p:spPr>
          <a:xfrm>
            <a:off x="566928" y="3209544"/>
            <a:ext cx="1645920" cy="256032"/>
          </a:xfrm>
          <a:prstGeom prst="roundRect">
            <a:avLst>
              <a:gd name="adj" fmla="val 50000"/>
            </a:avLst>
          </a:prstGeom>
          <a:solidFill>
            <a:srgbClr val="E6E3F0"/>
          </a:solidFill>
          <a:ln w="12700">
            <a:solidFill>
              <a:srgbClr val="E6E3F0"/>
            </a:solidFill>
            <a:prstDash val="solid"/>
          </a:ln>
        </p:spPr>
      </p:sp>
      <p:sp>
        <p:nvSpPr>
          <p:cNvPr id="13" name="Text 10"/>
          <p:cNvSpPr txBox="1"/>
          <p:nvPr/>
        </p:nvSpPr>
        <p:spPr>
          <a:xfrm>
            <a:off x="566928" y="3209544"/>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14" name="Text 11"/>
          <p:cNvSpPr txBox="1"/>
          <p:nvPr/>
        </p:nvSpPr>
        <p:spPr>
          <a:xfrm>
            <a:off x="566928" y="3602736"/>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Trip pairing</a:t>
            </a:r>
            <a:endParaRPr lang="en-US" sz="1300" dirty="0"/>
          </a:p>
        </p:txBody>
      </p:sp>
      <p:sp>
        <p:nvSpPr>
          <p:cNvPr id="15" name="evidence-ASSUMED"/>
          <p:cNvSpPr/>
          <p:nvPr/>
        </p:nvSpPr>
        <p:spPr>
          <a:xfrm>
            <a:off x="566928" y="3904488"/>
            <a:ext cx="1097280" cy="256032"/>
          </a:xfrm>
          <a:prstGeom prst="roundRect">
            <a:avLst>
              <a:gd name="adj" fmla="val 50000"/>
            </a:avLst>
          </a:prstGeom>
          <a:solidFill>
            <a:srgbClr val="FDE3D3"/>
          </a:solidFill>
          <a:ln w="12700">
            <a:solidFill>
              <a:srgbClr val="FDE3D3"/>
            </a:solidFill>
            <a:prstDash val="solid"/>
          </a:ln>
        </p:spPr>
      </p:sp>
      <p:sp>
        <p:nvSpPr>
          <p:cNvPr id="16" name="Text 13"/>
          <p:cNvSpPr txBox="1"/>
          <p:nvPr/>
        </p:nvSpPr>
        <p:spPr>
          <a:xfrm>
            <a:off x="566928" y="3904488"/>
            <a:ext cx="109728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17" name="Text 14"/>
          <p:cNvSpPr txBox="1"/>
          <p:nvPr/>
        </p:nvSpPr>
        <p:spPr>
          <a:xfrm>
            <a:off x="566928" y="4297680"/>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Party sizes</a:t>
            </a:r>
            <a:endParaRPr lang="en-US" sz="1300" dirty="0"/>
          </a:p>
        </p:txBody>
      </p:sp>
      <p:sp>
        <p:nvSpPr>
          <p:cNvPr id="18" name="evidence-DERIVED + ASSUMED"/>
          <p:cNvSpPr/>
          <p:nvPr/>
        </p:nvSpPr>
        <p:spPr>
          <a:xfrm>
            <a:off x="566928" y="4599432"/>
            <a:ext cx="1645920" cy="256032"/>
          </a:xfrm>
          <a:prstGeom prst="roundRect">
            <a:avLst>
              <a:gd name="adj" fmla="val 50000"/>
            </a:avLst>
          </a:prstGeom>
          <a:solidFill>
            <a:srgbClr val="E6E3F0"/>
          </a:solidFill>
          <a:ln w="12700">
            <a:solidFill>
              <a:srgbClr val="E6E3F0"/>
            </a:solidFill>
            <a:prstDash val="solid"/>
          </a:ln>
        </p:spPr>
      </p:sp>
      <p:sp>
        <p:nvSpPr>
          <p:cNvPr id="19" name="Text 16"/>
          <p:cNvSpPr txBox="1"/>
          <p:nvPr/>
        </p:nvSpPr>
        <p:spPr>
          <a:xfrm>
            <a:off x="566928" y="4599432"/>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20" name="Shape 17"/>
          <p:cNvSpPr/>
          <p:nvPr/>
        </p:nvSpPr>
        <p:spPr>
          <a:xfrm>
            <a:off x="3291840" y="1691640"/>
            <a:ext cx="2697480" cy="3337560"/>
          </a:xfrm>
          <a:prstGeom prst="roundRect">
            <a:avLst>
              <a:gd name="adj" fmla="val 2373"/>
            </a:avLst>
          </a:prstGeom>
          <a:solidFill>
            <a:srgbClr val="EEF1F4"/>
          </a:solidFill>
          <a:ln w="9525">
            <a:solidFill>
              <a:srgbClr val="EEF1F4"/>
            </a:solidFill>
            <a:prstDash val="solid"/>
          </a:ln>
        </p:spPr>
      </p:sp>
      <p:sp>
        <p:nvSpPr>
          <p:cNvPr id="21" name="Text 18"/>
          <p:cNvSpPr txBox="1"/>
          <p:nvPr/>
        </p:nvSpPr>
        <p:spPr>
          <a:xfrm>
            <a:off x="3401568" y="1755648"/>
            <a:ext cx="2468880" cy="384048"/>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Resources</a:t>
            </a:r>
            <a:endParaRPr lang="en-US" sz="1600" dirty="0"/>
          </a:p>
        </p:txBody>
      </p:sp>
      <p:sp>
        <p:nvSpPr>
          <p:cNvPr id="22" name="Text 19"/>
          <p:cNvSpPr txBox="1"/>
          <p:nvPr/>
        </p:nvSpPr>
        <p:spPr>
          <a:xfrm>
            <a:off x="3401568" y="2212848"/>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Vans and duty times</a:t>
            </a:r>
            <a:endParaRPr lang="en-US" sz="1300" dirty="0"/>
          </a:p>
        </p:txBody>
      </p:sp>
      <p:sp>
        <p:nvSpPr>
          <p:cNvPr id="23" name="evidence-DESIGNED"/>
          <p:cNvSpPr/>
          <p:nvPr/>
        </p:nvSpPr>
        <p:spPr>
          <a:xfrm>
            <a:off x="3401568" y="2514600"/>
            <a:ext cx="1097280" cy="256032"/>
          </a:xfrm>
          <a:prstGeom prst="roundRect">
            <a:avLst>
              <a:gd name="adj" fmla="val 50000"/>
            </a:avLst>
          </a:prstGeom>
          <a:solidFill>
            <a:srgbClr val="E8E4FA"/>
          </a:solidFill>
          <a:ln w="12700">
            <a:solidFill>
              <a:srgbClr val="E8E4FA"/>
            </a:solidFill>
            <a:prstDash val="solid"/>
          </a:ln>
        </p:spPr>
      </p:sp>
      <p:sp>
        <p:nvSpPr>
          <p:cNvPr id="24" name="Text 21"/>
          <p:cNvSpPr txBox="1"/>
          <p:nvPr/>
        </p:nvSpPr>
        <p:spPr>
          <a:xfrm>
            <a:off x="3401568" y="2514600"/>
            <a:ext cx="1097280" cy="256032"/>
          </a:xfrm>
          <a:prstGeom prst="rect">
            <a:avLst/>
          </a:prstGeom>
          <a:noFill/>
          <a:ln/>
        </p:spPr>
        <p:txBody>
          <a:bodyPr wrap="square" lIns="0" tIns="0" rIns="0" bIns="0" rtlCol="0" anchor="ctr"/>
          <a:lstStyle/>
          <a:p>
            <a:pPr algn="ctr" indent="0" marL="0">
              <a:buNone/>
            </a:pPr>
            <a:r>
              <a:rPr lang="en-US" sz="950" b="1" dirty="0">
                <a:solidFill>
                  <a:srgbClr val="3F2F9E"/>
                </a:solidFill>
                <a:latin typeface="Calibri" pitchFamily="34" charset="0"/>
                <a:ea typeface="Calibri" pitchFamily="34" charset="-122"/>
                <a:cs typeface="Calibri" pitchFamily="34" charset="-120"/>
              </a:rPr>
              <a:t>DESIGNED</a:t>
            </a:r>
            <a:endParaRPr lang="en-US" sz="950" dirty="0"/>
          </a:p>
        </p:txBody>
      </p:sp>
      <p:sp>
        <p:nvSpPr>
          <p:cNvPr id="25" name="Text 22"/>
          <p:cNvSpPr txBox="1"/>
          <p:nvPr/>
        </p:nvSpPr>
        <p:spPr>
          <a:xfrm>
            <a:off x="3401568" y="2907792"/>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Capacity (14 seats)</a:t>
            </a:r>
            <a:endParaRPr lang="en-US" sz="1300" dirty="0"/>
          </a:p>
        </p:txBody>
      </p:sp>
      <p:sp>
        <p:nvSpPr>
          <p:cNvPr id="26" name="evidence-DESIGNED"/>
          <p:cNvSpPr/>
          <p:nvPr/>
        </p:nvSpPr>
        <p:spPr>
          <a:xfrm>
            <a:off x="3401568" y="3209544"/>
            <a:ext cx="1097280" cy="256032"/>
          </a:xfrm>
          <a:prstGeom prst="roundRect">
            <a:avLst>
              <a:gd name="adj" fmla="val 50000"/>
            </a:avLst>
          </a:prstGeom>
          <a:solidFill>
            <a:srgbClr val="E8E4FA"/>
          </a:solidFill>
          <a:ln w="12700">
            <a:solidFill>
              <a:srgbClr val="E8E4FA"/>
            </a:solidFill>
            <a:prstDash val="solid"/>
          </a:ln>
        </p:spPr>
      </p:sp>
      <p:sp>
        <p:nvSpPr>
          <p:cNvPr id="27" name="Text 24"/>
          <p:cNvSpPr txBox="1"/>
          <p:nvPr/>
        </p:nvSpPr>
        <p:spPr>
          <a:xfrm>
            <a:off x="3401568" y="3209544"/>
            <a:ext cx="1097280" cy="256032"/>
          </a:xfrm>
          <a:prstGeom prst="rect">
            <a:avLst/>
          </a:prstGeom>
          <a:noFill/>
          <a:ln/>
        </p:spPr>
        <p:txBody>
          <a:bodyPr wrap="square" lIns="0" tIns="0" rIns="0" bIns="0" rtlCol="0" anchor="ctr"/>
          <a:lstStyle/>
          <a:p>
            <a:pPr algn="ctr" indent="0" marL="0">
              <a:buNone/>
            </a:pPr>
            <a:r>
              <a:rPr lang="en-US" sz="950" b="1" dirty="0">
                <a:solidFill>
                  <a:srgbClr val="3F2F9E"/>
                </a:solidFill>
                <a:latin typeface="Calibri" pitchFamily="34" charset="0"/>
                <a:ea typeface="Calibri" pitchFamily="34" charset="-122"/>
                <a:cs typeface="Calibri" pitchFamily="34" charset="-120"/>
              </a:rPr>
              <a:t>DESIGNED</a:t>
            </a:r>
            <a:endParaRPr lang="en-US" sz="950" dirty="0"/>
          </a:p>
        </p:txBody>
      </p:sp>
      <p:sp>
        <p:nvSpPr>
          <p:cNvPr id="28" name="Text 25"/>
          <p:cNvSpPr txBox="1"/>
          <p:nvPr/>
        </p:nvSpPr>
        <p:spPr>
          <a:xfrm>
            <a:off x="3401568" y="3602736"/>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Travel times × 1.2</a:t>
            </a:r>
            <a:endParaRPr lang="en-US" sz="1300" dirty="0"/>
          </a:p>
        </p:txBody>
      </p:sp>
      <p:sp>
        <p:nvSpPr>
          <p:cNvPr id="29" name="evidence-DERIVED + ASSUMED"/>
          <p:cNvSpPr/>
          <p:nvPr/>
        </p:nvSpPr>
        <p:spPr>
          <a:xfrm>
            <a:off x="3401568" y="3904488"/>
            <a:ext cx="1645920" cy="256032"/>
          </a:xfrm>
          <a:prstGeom prst="roundRect">
            <a:avLst>
              <a:gd name="adj" fmla="val 50000"/>
            </a:avLst>
          </a:prstGeom>
          <a:solidFill>
            <a:srgbClr val="E6E3F0"/>
          </a:solidFill>
          <a:ln w="12700">
            <a:solidFill>
              <a:srgbClr val="E6E3F0"/>
            </a:solidFill>
            <a:prstDash val="solid"/>
          </a:ln>
        </p:spPr>
      </p:sp>
      <p:sp>
        <p:nvSpPr>
          <p:cNvPr id="30" name="Text 27"/>
          <p:cNvSpPr txBox="1"/>
          <p:nvPr/>
        </p:nvSpPr>
        <p:spPr>
          <a:xfrm>
            <a:off x="3401568" y="3904488"/>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31" name="Shape 28"/>
          <p:cNvSpPr/>
          <p:nvPr/>
        </p:nvSpPr>
        <p:spPr>
          <a:xfrm>
            <a:off x="6126480" y="1691640"/>
            <a:ext cx="2697480" cy="3337560"/>
          </a:xfrm>
          <a:prstGeom prst="roundRect">
            <a:avLst>
              <a:gd name="adj" fmla="val 2373"/>
            </a:avLst>
          </a:prstGeom>
          <a:solidFill>
            <a:srgbClr val="EFEDFB"/>
          </a:solidFill>
          <a:ln w="9525">
            <a:solidFill>
              <a:srgbClr val="EFEDFB"/>
            </a:solidFill>
            <a:prstDash val="solid"/>
          </a:ln>
        </p:spPr>
      </p:sp>
      <p:sp>
        <p:nvSpPr>
          <p:cNvPr id="32" name="Text 29"/>
          <p:cNvSpPr txBox="1"/>
          <p:nvPr/>
        </p:nvSpPr>
        <p:spPr>
          <a:xfrm>
            <a:off x="6236208" y="1755648"/>
            <a:ext cx="2468880" cy="384048"/>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Behaviour (hidden)</a:t>
            </a:r>
            <a:endParaRPr lang="en-US" sz="1600" dirty="0"/>
          </a:p>
        </p:txBody>
      </p:sp>
      <p:sp>
        <p:nvSpPr>
          <p:cNvPr id="33" name="Text 30"/>
          <p:cNvSpPr txBox="1"/>
          <p:nvPr/>
        </p:nvSpPr>
        <p:spPr>
          <a:xfrm>
            <a:off x="6236208" y="2212848"/>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Patience</a:t>
            </a:r>
            <a:endParaRPr lang="en-US" sz="1300" dirty="0"/>
          </a:p>
        </p:txBody>
      </p:sp>
      <p:sp>
        <p:nvSpPr>
          <p:cNvPr id="34" name="evidence-ASSUMED"/>
          <p:cNvSpPr/>
          <p:nvPr/>
        </p:nvSpPr>
        <p:spPr>
          <a:xfrm>
            <a:off x="6236208" y="2514600"/>
            <a:ext cx="1097280" cy="256032"/>
          </a:xfrm>
          <a:prstGeom prst="roundRect">
            <a:avLst>
              <a:gd name="adj" fmla="val 50000"/>
            </a:avLst>
          </a:prstGeom>
          <a:solidFill>
            <a:srgbClr val="FDE3D3"/>
          </a:solidFill>
          <a:ln w="12700">
            <a:solidFill>
              <a:srgbClr val="FDE3D3"/>
            </a:solidFill>
            <a:prstDash val="solid"/>
          </a:ln>
        </p:spPr>
      </p:sp>
      <p:sp>
        <p:nvSpPr>
          <p:cNvPr id="35" name="Text 32"/>
          <p:cNvSpPr txBox="1"/>
          <p:nvPr/>
        </p:nvSpPr>
        <p:spPr>
          <a:xfrm>
            <a:off x="6236208" y="2514600"/>
            <a:ext cx="109728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36" name="Text 33"/>
          <p:cNvSpPr txBox="1"/>
          <p:nvPr/>
        </p:nvSpPr>
        <p:spPr>
          <a:xfrm>
            <a:off x="6236208" y="2907792"/>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Presence at the curb</a:t>
            </a:r>
            <a:endParaRPr lang="en-US" sz="1300" dirty="0"/>
          </a:p>
        </p:txBody>
      </p:sp>
      <p:sp>
        <p:nvSpPr>
          <p:cNvPr id="37" name="evidence-DERIVED + ASSUMED"/>
          <p:cNvSpPr/>
          <p:nvPr/>
        </p:nvSpPr>
        <p:spPr>
          <a:xfrm>
            <a:off x="6236208" y="3209544"/>
            <a:ext cx="1645920" cy="256032"/>
          </a:xfrm>
          <a:prstGeom prst="roundRect">
            <a:avLst>
              <a:gd name="adj" fmla="val 50000"/>
            </a:avLst>
          </a:prstGeom>
          <a:solidFill>
            <a:srgbClr val="E6E3F0"/>
          </a:solidFill>
          <a:ln w="12700">
            <a:solidFill>
              <a:srgbClr val="E6E3F0"/>
            </a:solidFill>
            <a:prstDash val="solid"/>
          </a:ln>
        </p:spPr>
      </p:sp>
      <p:sp>
        <p:nvSpPr>
          <p:cNvPr id="38" name="Text 35"/>
          <p:cNvSpPr txBox="1"/>
          <p:nvPr/>
        </p:nvSpPr>
        <p:spPr>
          <a:xfrm>
            <a:off x="6236208" y="3209544"/>
            <a:ext cx="1645920" cy="256032"/>
          </a:xfrm>
          <a:prstGeom prst="rect">
            <a:avLst/>
          </a:prstGeom>
          <a:noFill/>
          <a:ln/>
        </p:spPr>
        <p:txBody>
          <a:bodyPr wrap="square" lIns="0" tIns="0" rIns="0" bIns="0" rtlCol="0" anchor="ctr"/>
          <a:lstStyle/>
          <a:p>
            <a:pPr algn="ctr" indent="0" marL="0">
              <a:buNone/>
            </a:pPr>
            <a:r>
              <a:rPr lang="en-US" sz="950" b="1" dirty="0">
                <a:solidFill>
                  <a:srgbClr val="3A3F7A"/>
                </a:solidFill>
                <a:latin typeface="Calibri" pitchFamily="34" charset="0"/>
                <a:ea typeface="Calibri" pitchFamily="34" charset="-122"/>
                <a:cs typeface="Calibri" pitchFamily="34" charset="-120"/>
              </a:rPr>
              <a:t>DERIVED + ASSUMED</a:t>
            </a:r>
            <a:endParaRPr lang="en-US" sz="950" dirty="0"/>
          </a:p>
        </p:txBody>
      </p:sp>
      <p:sp>
        <p:nvSpPr>
          <p:cNvPr id="39" name="Text 36"/>
          <p:cNvSpPr txBox="1"/>
          <p:nvPr/>
        </p:nvSpPr>
        <p:spPr>
          <a:xfrm>
            <a:off x="6236208" y="3602736"/>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Lyft delay</a:t>
            </a:r>
            <a:endParaRPr lang="en-US" sz="1300" dirty="0"/>
          </a:p>
        </p:txBody>
      </p:sp>
      <p:sp>
        <p:nvSpPr>
          <p:cNvPr id="40" name="evidence-ASSUMED"/>
          <p:cNvSpPr/>
          <p:nvPr/>
        </p:nvSpPr>
        <p:spPr>
          <a:xfrm>
            <a:off x="6236208" y="3904488"/>
            <a:ext cx="1097280" cy="256032"/>
          </a:xfrm>
          <a:prstGeom prst="roundRect">
            <a:avLst>
              <a:gd name="adj" fmla="val 50000"/>
            </a:avLst>
          </a:prstGeom>
          <a:solidFill>
            <a:srgbClr val="FDE3D3"/>
          </a:solidFill>
          <a:ln w="12700">
            <a:solidFill>
              <a:srgbClr val="FDE3D3"/>
            </a:solidFill>
            <a:prstDash val="solid"/>
          </a:ln>
        </p:spPr>
      </p:sp>
      <p:sp>
        <p:nvSpPr>
          <p:cNvPr id="41" name="Text 38"/>
          <p:cNvSpPr txBox="1"/>
          <p:nvPr/>
        </p:nvSpPr>
        <p:spPr>
          <a:xfrm>
            <a:off x="6236208" y="3904488"/>
            <a:ext cx="109728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42" name="Shape 39"/>
          <p:cNvSpPr/>
          <p:nvPr/>
        </p:nvSpPr>
        <p:spPr>
          <a:xfrm>
            <a:off x="8961120" y="1691640"/>
            <a:ext cx="2697480" cy="3337560"/>
          </a:xfrm>
          <a:prstGeom prst="roundRect">
            <a:avLst>
              <a:gd name="adj" fmla="val 2373"/>
            </a:avLst>
          </a:prstGeom>
          <a:solidFill>
            <a:srgbClr val="FFF4EC"/>
          </a:solidFill>
          <a:ln w="9525">
            <a:solidFill>
              <a:srgbClr val="FFF4EC"/>
            </a:solidFill>
            <a:prstDash val="solid"/>
          </a:ln>
        </p:spPr>
      </p:sp>
      <p:sp>
        <p:nvSpPr>
          <p:cNvPr id="43" name="Text 40"/>
          <p:cNvSpPr txBox="1"/>
          <p:nvPr/>
        </p:nvSpPr>
        <p:spPr>
          <a:xfrm>
            <a:off x="9070848" y="1755648"/>
            <a:ext cx="2468880" cy="384048"/>
          </a:xfrm>
          <a:prstGeom prst="rect">
            <a:avLst/>
          </a:prstGeom>
          <a:noFill/>
          <a:ln/>
        </p:spPr>
        <p:txBody>
          <a:bodyPr wrap="square" lIns="635" tIns="635" rIns="635" bIns="635" rtlCol="0" anchor="t"/>
          <a:lstStyle/>
          <a:p>
            <a:pPr indent="0" marL="0">
              <a:buNone/>
            </a:pPr>
            <a:r>
              <a:rPr lang="en-US" sz="1600" b="1" dirty="0">
                <a:solidFill>
                  <a:srgbClr val="1E2933"/>
                </a:solidFill>
                <a:latin typeface="Calibri" pitchFamily="34" charset="0"/>
                <a:ea typeface="Calibri" pitchFamily="34" charset="-122"/>
                <a:cs typeface="Calibri" pitchFamily="34" charset="-120"/>
              </a:rPr>
              <a:t>Experiment settings</a:t>
            </a:r>
            <a:endParaRPr lang="en-US" sz="1600" dirty="0"/>
          </a:p>
        </p:txBody>
      </p:sp>
      <p:sp>
        <p:nvSpPr>
          <p:cNvPr id="44" name="Text 41"/>
          <p:cNvSpPr txBox="1"/>
          <p:nvPr/>
        </p:nvSpPr>
        <p:spPr>
          <a:xfrm>
            <a:off x="9070848" y="2212848"/>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Van dispatcher (fixed)</a:t>
            </a:r>
            <a:endParaRPr lang="en-US" sz="1300" dirty="0"/>
          </a:p>
        </p:txBody>
      </p:sp>
      <p:sp>
        <p:nvSpPr>
          <p:cNvPr id="45" name="evidence-DESIGNED"/>
          <p:cNvSpPr/>
          <p:nvPr/>
        </p:nvSpPr>
        <p:spPr>
          <a:xfrm>
            <a:off x="9070848" y="2514600"/>
            <a:ext cx="1097280" cy="256032"/>
          </a:xfrm>
          <a:prstGeom prst="roundRect">
            <a:avLst>
              <a:gd name="adj" fmla="val 50000"/>
            </a:avLst>
          </a:prstGeom>
          <a:solidFill>
            <a:srgbClr val="E8E4FA"/>
          </a:solidFill>
          <a:ln w="12700">
            <a:solidFill>
              <a:srgbClr val="E8E4FA"/>
            </a:solidFill>
            <a:prstDash val="solid"/>
          </a:ln>
        </p:spPr>
      </p:sp>
      <p:sp>
        <p:nvSpPr>
          <p:cNvPr id="46" name="Text 43"/>
          <p:cNvSpPr txBox="1"/>
          <p:nvPr/>
        </p:nvSpPr>
        <p:spPr>
          <a:xfrm>
            <a:off x="9070848" y="2514600"/>
            <a:ext cx="1097280" cy="256032"/>
          </a:xfrm>
          <a:prstGeom prst="rect">
            <a:avLst/>
          </a:prstGeom>
          <a:noFill/>
          <a:ln/>
        </p:spPr>
        <p:txBody>
          <a:bodyPr wrap="square" lIns="0" tIns="0" rIns="0" bIns="0" rtlCol="0" anchor="ctr"/>
          <a:lstStyle/>
          <a:p>
            <a:pPr algn="ctr" indent="0" marL="0">
              <a:buNone/>
            </a:pPr>
            <a:r>
              <a:rPr lang="en-US" sz="950" b="1" dirty="0">
                <a:solidFill>
                  <a:srgbClr val="3F2F9E"/>
                </a:solidFill>
                <a:latin typeface="Calibri" pitchFamily="34" charset="0"/>
                <a:ea typeface="Calibri" pitchFamily="34" charset="-122"/>
                <a:cs typeface="Calibri" pitchFamily="34" charset="-120"/>
              </a:rPr>
              <a:t>DESIGNED</a:t>
            </a:r>
            <a:endParaRPr lang="en-US" sz="950" dirty="0"/>
          </a:p>
        </p:txBody>
      </p:sp>
      <p:sp>
        <p:nvSpPr>
          <p:cNvPr id="47" name="Text 44"/>
          <p:cNvSpPr txBox="1"/>
          <p:nvPr/>
        </p:nvSpPr>
        <p:spPr>
          <a:xfrm>
            <a:off x="9070848" y="2907792"/>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Transfer rule (varied)</a:t>
            </a:r>
            <a:endParaRPr lang="en-US" sz="1300" dirty="0"/>
          </a:p>
        </p:txBody>
      </p:sp>
      <p:sp>
        <p:nvSpPr>
          <p:cNvPr id="48" name="evidence-DESIGNED"/>
          <p:cNvSpPr/>
          <p:nvPr/>
        </p:nvSpPr>
        <p:spPr>
          <a:xfrm>
            <a:off x="9070848" y="3209544"/>
            <a:ext cx="1097280" cy="256032"/>
          </a:xfrm>
          <a:prstGeom prst="roundRect">
            <a:avLst>
              <a:gd name="adj" fmla="val 50000"/>
            </a:avLst>
          </a:prstGeom>
          <a:solidFill>
            <a:srgbClr val="E8E4FA"/>
          </a:solidFill>
          <a:ln w="12700">
            <a:solidFill>
              <a:srgbClr val="E8E4FA"/>
            </a:solidFill>
            <a:prstDash val="solid"/>
          </a:ln>
        </p:spPr>
      </p:sp>
      <p:sp>
        <p:nvSpPr>
          <p:cNvPr id="49" name="Text 46"/>
          <p:cNvSpPr txBox="1"/>
          <p:nvPr/>
        </p:nvSpPr>
        <p:spPr>
          <a:xfrm>
            <a:off x="9070848" y="3209544"/>
            <a:ext cx="1097280" cy="256032"/>
          </a:xfrm>
          <a:prstGeom prst="rect">
            <a:avLst/>
          </a:prstGeom>
          <a:noFill/>
          <a:ln/>
        </p:spPr>
        <p:txBody>
          <a:bodyPr wrap="square" lIns="0" tIns="0" rIns="0" bIns="0" rtlCol="0" anchor="ctr"/>
          <a:lstStyle/>
          <a:p>
            <a:pPr algn="ctr" indent="0" marL="0">
              <a:buNone/>
            </a:pPr>
            <a:r>
              <a:rPr lang="en-US" sz="950" b="1" dirty="0">
                <a:solidFill>
                  <a:srgbClr val="3F2F9E"/>
                </a:solidFill>
                <a:latin typeface="Calibri" pitchFamily="34" charset="0"/>
                <a:ea typeface="Calibri" pitchFamily="34" charset="-122"/>
                <a:cs typeface="Calibri" pitchFamily="34" charset="-120"/>
              </a:rPr>
              <a:t>DESIGNED</a:t>
            </a:r>
            <a:endParaRPr lang="en-US" sz="950" dirty="0"/>
          </a:p>
        </p:txBody>
      </p:sp>
      <p:sp>
        <p:nvSpPr>
          <p:cNvPr id="50" name="Text 47"/>
          <p:cNvSpPr txBox="1"/>
          <p:nvPr/>
        </p:nvSpPr>
        <p:spPr>
          <a:xfrm>
            <a:off x="9070848" y="3602736"/>
            <a:ext cx="2514600" cy="301752"/>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Ordering lag 2 min</a:t>
            </a:r>
            <a:endParaRPr lang="en-US" sz="1300" dirty="0"/>
          </a:p>
        </p:txBody>
      </p:sp>
      <p:sp>
        <p:nvSpPr>
          <p:cNvPr id="51" name="evidence-ASSUMED"/>
          <p:cNvSpPr/>
          <p:nvPr/>
        </p:nvSpPr>
        <p:spPr>
          <a:xfrm>
            <a:off x="9070848" y="3904488"/>
            <a:ext cx="1097280" cy="256032"/>
          </a:xfrm>
          <a:prstGeom prst="roundRect">
            <a:avLst>
              <a:gd name="adj" fmla="val 50000"/>
            </a:avLst>
          </a:prstGeom>
          <a:solidFill>
            <a:srgbClr val="FDE3D3"/>
          </a:solidFill>
          <a:ln w="12700">
            <a:solidFill>
              <a:srgbClr val="FDE3D3"/>
            </a:solidFill>
            <a:prstDash val="solid"/>
          </a:ln>
        </p:spPr>
      </p:sp>
      <p:sp>
        <p:nvSpPr>
          <p:cNvPr id="52" name="Text 49"/>
          <p:cNvSpPr txBox="1"/>
          <p:nvPr/>
        </p:nvSpPr>
        <p:spPr>
          <a:xfrm>
            <a:off x="9070848" y="3904488"/>
            <a:ext cx="109728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53" name="Shape 50"/>
          <p:cNvSpPr/>
          <p:nvPr/>
        </p:nvSpPr>
        <p:spPr>
          <a:xfrm>
            <a:off x="457200" y="5212080"/>
            <a:ext cx="11247120" cy="914400"/>
          </a:xfrm>
          <a:prstGeom prst="roundRect">
            <a:avLst>
              <a:gd name="adj" fmla="val 7000"/>
            </a:avLst>
          </a:prstGeom>
          <a:solidFill>
            <a:srgbClr val="FFFFFF"/>
          </a:solidFill>
          <a:ln w="15875">
            <a:solidFill>
              <a:srgbClr val="D5DADF"/>
            </a:solidFill>
            <a:prstDash val="solid"/>
          </a:ln>
        </p:spPr>
      </p:sp>
      <p:sp>
        <p:nvSpPr>
          <p:cNvPr id="54" name="Text 51"/>
          <p:cNvSpPr txBox="1"/>
          <p:nvPr/>
        </p:nvSpPr>
        <p:spPr>
          <a:xfrm>
            <a:off x="594360" y="5230368"/>
            <a:ext cx="10972800" cy="868680"/>
          </a:xfrm>
          <a:prstGeom prst="rect">
            <a:avLst/>
          </a:prstGeom>
          <a:noFill/>
          <a:ln/>
        </p:spPr>
        <p:txBody>
          <a:bodyPr wrap="square" lIns="635" tIns="635" rIns="635" bIns="635" rtlCol="0" anchor="ctr"/>
          <a:lstStyle/>
          <a:p>
            <a:pPr indent="0" marL="0">
              <a:buNone/>
            </a:pPr>
            <a:r>
              <a:rPr lang="en-US" sz="1400" b="1" dirty="0">
                <a:solidFill>
                  <a:srgbClr val="1E2933"/>
                </a:solidFill>
                <a:latin typeface="Calibri" pitchFamily="34" charset="0"/>
                <a:ea typeface="Calibri" pitchFamily="34" charset="-122"/>
                <a:cs typeface="Calibri" pitchFamily="34" charset="-120"/>
              </a:rPr>
              <a:t>Inputs are fixed before the run; outcomes are not. </a:t>
            </a:r>
            <a:pPr indent="0" marL="0">
              <a:buNone/>
            </a:pPr>
            <a:r>
              <a:rPr lang="en-US" sz="1400" dirty="0">
                <a:solidFill>
                  <a:srgbClr val="1E2933"/>
                </a:solidFill>
                <a:latin typeface="Calibri" pitchFamily="34" charset="0"/>
                <a:ea typeface="Calibri" pitchFamily="34" charset="-122"/>
                <a:cs typeface="Calibri" pitchFamily="34" charset="-120"/>
              </a:rPr>
              <a:t>Cancellations, no-shows and transfers happen during the run, from the hidden draws meeting the rule and the vans. They are results, not counts imposed in advance.</a:t>
            </a:r>
            <a:endParaRPr lang="en-US" sz="1400" dirty="0"/>
          </a:p>
        </p:txBody>
      </p:sp>
      <p:sp>
        <p:nvSpPr>
          <p:cNvPr id="55" name="Text 52"/>
          <p:cNvSpPr txBox="1"/>
          <p:nvPr/>
        </p:nvSpPr>
        <p:spPr>
          <a:xfrm>
            <a:off x="8686800" y="6400800"/>
            <a:ext cx="2377440" cy="274320"/>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33">
                  <a:extLst>
                    <a:ext uri="{A12FA001-AC4F-418D-AE19-62706E023703}">
                      <ahyp:hlinkClr xmlns:ahyp="http://schemas.microsoft.com/office/drawing/2018/hyperlinkcolor" val="tx"/>
                    </a:ext>
                  </a:extLst>
                </a:hlinkClick>
              </a:rPr>
              <a:t>Where each input comes from: B4 →</a:t>
            </a:r>
            <a:endParaRPr lang="en-US" sz="1000" dirty="0"/>
          </a:p>
        </p:txBody>
      </p:sp>
      <p:sp>
        <p:nvSpPr>
          <p:cNvPr id="56" name="Text 5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docs/technical/scenario_spec.md v0.8 §3–§5; decision_log.md D-18–D-56.</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Three components have different jobs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14</a:t>
            </a:r>
            <a:endParaRPr lang="en-US" sz="1000" dirty="0"/>
          </a:p>
        </p:txBody>
      </p:sp>
      <p:sp>
        <p:nvSpPr>
          <p:cNvPr id="5" name="Shape 2"/>
          <p:cNvSpPr/>
          <p:nvPr/>
        </p:nvSpPr>
        <p:spPr>
          <a:xfrm>
            <a:off x="457200" y="960120"/>
            <a:ext cx="3611880" cy="566928"/>
          </a:xfrm>
          <a:prstGeom prst="roundRect">
            <a:avLst>
              <a:gd name="adj" fmla="val 11290"/>
            </a:avLst>
          </a:prstGeom>
          <a:solidFill>
            <a:srgbClr val="EEF1F4"/>
          </a:solidFill>
          <a:ln w="15875">
            <a:solidFill>
              <a:srgbClr val="5B6670"/>
            </a:solidFill>
            <a:prstDash val="solid"/>
          </a:ln>
        </p:spPr>
      </p:sp>
      <p:sp>
        <p:nvSpPr>
          <p:cNvPr id="6" name="Text 3"/>
          <p:cNvSpPr txBox="1"/>
          <p:nvPr/>
        </p:nvSpPr>
        <p:spPr>
          <a:xfrm>
            <a:off x="548640" y="960120"/>
            <a:ext cx="3429000" cy="566928"/>
          </a:xfrm>
          <a:prstGeom prst="rect">
            <a:avLst/>
          </a:prstGeom>
          <a:noFill/>
          <a:ln/>
        </p:spPr>
        <p:txBody>
          <a:bodyPr wrap="square" lIns="635" tIns="635" rIns="635" bIns="635" rtlCol="0" anchor="ctr"/>
          <a:lstStyle/>
          <a:p>
            <a:pPr indent="0" marL="0">
              <a:buNone/>
            </a:pPr>
            <a:r>
              <a:rPr lang="en-US" sz="1350" b="1" dirty="0">
                <a:solidFill>
                  <a:srgbClr val="1E2933"/>
                </a:solidFill>
                <a:latin typeface="Calibri" pitchFamily="34" charset="0"/>
                <a:ea typeface="Calibri" pitchFamily="34" charset="-122"/>
                <a:cs typeface="Calibri" pitchFamily="34" charset="-120"/>
              </a:rPr>
              <a:t>The simulator advances time and reveals events.</a:t>
            </a:r>
            <a:endParaRPr lang="en-US" sz="1350" dirty="0"/>
          </a:p>
        </p:txBody>
      </p:sp>
      <p:sp>
        <p:nvSpPr>
          <p:cNvPr id="7" name="Shape 4"/>
          <p:cNvSpPr/>
          <p:nvPr/>
        </p:nvSpPr>
        <p:spPr>
          <a:xfrm>
            <a:off x="4251960" y="960120"/>
            <a:ext cx="3611880" cy="566928"/>
          </a:xfrm>
          <a:prstGeom prst="roundRect">
            <a:avLst>
              <a:gd name="adj" fmla="val 11290"/>
            </a:avLst>
          </a:prstGeom>
          <a:solidFill>
            <a:srgbClr val="E8F1FB"/>
          </a:solidFill>
          <a:ln w="15875">
            <a:solidFill>
              <a:srgbClr val="2A78D6"/>
            </a:solidFill>
            <a:prstDash val="solid"/>
          </a:ln>
        </p:spPr>
      </p:sp>
      <p:sp>
        <p:nvSpPr>
          <p:cNvPr id="8" name="Text 5"/>
          <p:cNvSpPr txBox="1"/>
          <p:nvPr/>
        </p:nvSpPr>
        <p:spPr>
          <a:xfrm>
            <a:off x="4343400" y="960120"/>
            <a:ext cx="3429000" cy="566928"/>
          </a:xfrm>
          <a:prstGeom prst="rect">
            <a:avLst/>
          </a:prstGeom>
          <a:noFill/>
          <a:ln/>
        </p:spPr>
        <p:txBody>
          <a:bodyPr wrap="square" lIns="635" tIns="635" rIns="635" bIns="635" rtlCol="0" anchor="ctr"/>
          <a:lstStyle/>
          <a:p>
            <a:pPr indent="0" marL="0">
              <a:buNone/>
            </a:pPr>
            <a:r>
              <a:rPr lang="en-US" sz="1350" b="1" dirty="0">
                <a:solidFill>
                  <a:srgbClr val="1E2933"/>
                </a:solidFill>
                <a:latin typeface="Calibri" pitchFamily="34" charset="0"/>
                <a:ea typeface="Calibri" pitchFamily="34" charset="-122"/>
                <a:cs typeface="Calibri" pitchFamily="34" charset="-120"/>
              </a:rPr>
              <a:t>The van optimizer chooses among feasible candidate plans.</a:t>
            </a:r>
            <a:endParaRPr lang="en-US" sz="1350" dirty="0"/>
          </a:p>
        </p:txBody>
      </p:sp>
      <p:sp>
        <p:nvSpPr>
          <p:cNvPr id="9" name="Shape 6"/>
          <p:cNvSpPr/>
          <p:nvPr/>
        </p:nvSpPr>
        <p:spPr>
          <a:xfrm>
            <a:off x="8046720" y="960120"/>
            <a:ext cx="3611880" cy="566928"/>
          </a:xfrm>
          <a:prstGeom prst="roundRect">
            <a:avLst>
              <a:gd name="adj" fmla="val 11290"/>
            </a:avLst>
          </a:prstGeom>
          <a:solidFill>
            <a:srgbClr val="FFF4EC"/>
          </a:solidFill>
          <a:ln w="15875">
            <a:solidFill>
              <a:srgbClr val="EB6834"/>
            </a:solidFill>
            <a:prstDash val="solid"/>
          </a:ln>
        </p:spPr>
      </p:sp>
      <p:sp>
        <p:nvSpPr>
          <p:cNvPr id="10" name="Text 7"/>
          <p:cNvSpPr txBox="1"/>
          <p:nvPr/>
        </p:nvSpPr>
        <p:spPr>
          <a:xfrm>
            <a:off x="8138160" y="960120"/>
            <a:ext cx="3429000" cy="566928"/>
          </a:xfrm>
          <a:prstGeom prst="rect">
            <a:avLst/>
          </a:prstGeom>
          <a:noFill/>
          <a:ln/>
        </p:spPr>
        <p:txBody>
          <a:bodyPr wrap="square" lIns="635" tIns="635" rIns="635" bIns="635" rtlCol="0" anchor="ctr"/>
          <a:lstStyle/>
          <a:p>
            <a:pPr indent="0" marL="0">
              <a:buNone/>
            </a:pPr>
            <a:r>
              <a:rPr lang="en-US" sz="1350" b="1" dirty="0">
                <a:solidFill>
                  <a:srgbClr val="1E2933"/>
                </a:solidFill>
                <a:latin typeface="Calibri" pitchFamily="34" charset="0"/>
                <a:ea typeface="Calibri" pitchFamily="34" charset="-122"/>
                <a:cs typeface="Calibri" pitchFamily="34" charset="-120"/>
              </a:rPr>
              <a:t>The transfer rule decides whether an eligible request moves to Lyft.</a:t>
            </a:r>
            <a:endParaRPr lang="en-US" sz="1350" dirty="0"/>
          </a:p>
        </p:txBody>
      </p:sp>
      <p:sp>
        <p:nvSpPr>
          <p:cNvPr id="11" name="Shape 8"/>
          <p:cNvSpPr/>
          <p:nvPr/>
        </p:nvSpPr>
        <p:spPr>
          <a:xfrm>
            <a:off x="457200" y="1828800"/>
            <a:ext cx="2011680" cy="685800"/>
          </a:xfrm>
          <a:prstGeom prst="roundRect">
            <a:avLst>
              <a:gd name="adj" fmla="val 9333"/>
            </a:avLst>
          </a:prstGeom>
          <a:solidFill>
            <a:srgbClr val="EEF1F4"/>
          </a:solidFill>
          <a:ln w="15875">
            <a:solidFill>
              <a:srgbClr val="5B6670"/>
            </a:solidFill>
            <a:prstDash val="solid"/>
          </a:ln>
        </p:spPr>
      </p:sp>
      <p:sp>
        <p:nvSpPr>
          <p:cNvPr id="12" name="Text 9"/>
          <p:cNvSpPr txBox="1"/>
          <p:nvPr/>
        </p:nvSpPr>
        <p:spPr>
          <a:xfrm>
            <a:off x="530352" y="1865376"/>
            <a:ext cx="1865376" cy="61264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Scenario generator</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built once, offline</a:t>
            </a:r>
            <a:endParaRPr lang="en-US" sz="1250" dirty="0"/>
          </a:p>
        </p:txBody>
      </p:sp>
      <p:sp>
        <p:nvSpPr>
          <p:cNvPr id="13" name="Shape 10"/>
          <p:cNvSpPr/>
          <p:nvPr/>
        </p:nvSpPr>
        <p:spPr>
          <a:xfrm>
            <a:off x="1463040" y="2532888"/>
            <a:ext cx="914" cy="228600"/>
          </a:xfrm>
          <a:prstGeom prst="line">
            <a:avLst/>
          </a:prstGeom>
          <a:noFill/>
          <a:ln w="19050">
            <a:solidFill>
              <a:srgbClr val="5B6670"/>
            </a:solidFill>
            <a:prstDash val="solid"/>
            <a:tailEnd type="triangle"/>
          </a:ln>
        </p:spPr>
      </p:sp>
      <p:sp>
        <p:nvSpPr>
          <p:cNvPr id="14" name="Shape 11"/>
          <p:cNvSpPr/>
          <p:nvPr/>
        </p:nvSpPr>
        <p:spPr>
          <a:xfrm>
            <a:off x="457200" y="2788920"/>
            <a:ext cx="2011680" cy="914400"/>
          </a:xfrm>
          <a:prstGeom prst="roundRect">
            <a:avLst>
              <a:gd name="adj" fmla="val 7000"/>
            </a:avLst>
          </a:prstGeom>
          <a:solidFill>
            <a:srgbClr val="EEF1F4"/>
          </a:solidFill>
          <a:ln w="15875">
            <a:solidFill>
              <a:srgbClr val="5B6670"/>
            </a:solidFill>
            <a:prstDash val="solid"/>
          </a:ln>
        </p:spPr>
      </p:sp>
      <p:sp>
        <p:nvSpPr>
          <p:cNvPr id="15" name="Text 12"/>
          <p:cNvSpPr txBox="1"/>
          <p:nvPr/>
        </p:nvSpPr>
        <p:spPr>
          <a:xfrm>
            <a:off x="530352" y="2825496"/>
            <a:ext cx="1865376" cy="84124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Scenario inputs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requests, places, parties, vans, travel times</a:t>
            </a:r>
            <a:endParaRPr lang="en-US" sz="1250" dirty="0"/>
          </a:p>
        </p:txBody>
      </p:sp>
      <p:sp>
        <p:nvSpPr>
          <p:cNvPr id="16" name="Shape 13"/>
          <p:cNvSpPr/>
          <p:nvPr/>
        </p:nvSpPr>
        <p:spPr>
          <a:xfrm>
            <a:off x="457200" y="3977640"/>
            <a:ext cx="2011680" cy="1051560"/>
          </a:xfrm>
          <a:prstGeom prst="roundRect">
            <a:avLst>
              <a:gd name="adj" fmla="val 6087"/>
            </a:avLst>
          </a:prstGeom>
          <a:solidFill>
            <a:srgbClr val="EFEDFB"/>
          </a:solidFill>
          <a:ln w="15875">
            <a:solidFill>
              <a:srgbClr val="6250D6"/>
            </a:solidFill>
            <a:prstDash val="dash"/>
          </a:ln>
        </p:spPr>
      </p:sp>
      <p:sp>
        <p:nvSpPr>
          <p:cNvPr id="17" name="Text 14"/>
          <p:cNvSpPr txBox="1"/>
          <p:nvPr/>
        </p:nvSpPr>
        <p:spPr>
          <a:xfrm>
            <a:off x="530352" y="4014216"/>
            <a:ext cx="1865376" cy="978408"/>
          </a:xfrm>
          <a:prstGeom prst="rect">
            <a:avLst/>
          </a:prstGeom>
          <a:noFill/>
          <a:ln/>
        </p:spPr>
        <p:txBody>
          <a:bodyPr wrap="square" lIns="635" tIns="635" rIns="635" bIns="635" rtlCol="0" anchor="ctr"/>
          <a:lstStyle/>
          <a:p>
            <a:pPr algn="ctr" indent="0" marL="0">
              <a:buNone/>
            </a:pPr>
            <a:r>
              <a:rPr lang="en-US" sz="1250" b="1" dirty="0">
                <a:solidFill>
                  <a:srgbClr val="6250D6"/>
                </a:solidFill>
                <a:latin typeface="Calibri" pitchFamily="34" charset="0"/>
                <a:ea typeface="Calibri" pitchFamily="34" charset="-122"/>
                <a:cs typeface="Calibri" pitchFamily="34" charset="-120"/>
              </a:rPr>
              <a:t>Hidden draws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patience, presence, Lyft delay</a:t>
            </a:r>
            <a:endParaRPr lang="en-US" sz="1250" dirty="0"/>
          </a:p>
        </p:txBody>
      </p:sp>
      <p:sp>
        <p:nvSpPr>
          <p:cNvPr id="18" name="Shape 15"/>
          <p:cNvSpPr/>
          <p:nvPr/>
        </p:nvSpPr>
        <p:spPr>
          <a:xfrm>
            <a:off x="2487168" y="3246120"/>
            <a:ext cx="393192" cy="320040"/>
          </a:xfrm>
          <a:prstGeom prst="line">
            <a:avLst/>
          </a:prstGeom>
          <a:noFill/>
          <a:ln w="19050">
            <a:solidFill>
              <a:srgbClr val="5B6670"/>
            </a:solidFill>
            <a:prstDash val="solid"/>
            <a:tailEnd type="triangle"/>
          </a:ln>
        </p:spPr>
      </p:sp>
      <p:sp>
        <p:nvSpPr>
          <p:cNvPr id="19" name="Shape 16"/>
          <p:cNvSpPr/>
          <p:nvPr/>
        </p:nvSpPr>
        <p:spPr>
          <a:xfrm flipV="1">
            <a:off x="2487168" y="4023360"/>
            <a:ext cx="393192" cy="457200"/>
          </a:xfrm>
          <a:prstGeom prst="line">
            <a:avLst/>
          </a:prstGeom>
          <a:noFill/>
          <a:ln w="19050">
            <a:solidFill>
              <a:srgbClr val="6250D6"/>
            </a:solidFill>
            <a:prstDash val="dash"/>
            <a:tailEnd type="triangle"/>
          </a:ln>
        </p:spPr>
      </p:sp>
      <p:sp>
        <p:nvSpPr>
          <p:cNvPr id="20" name="Shape 17"/>
          <p:cNvSpPr/>
          <p:nvPr/>
        </p:nvSpPr>
        <p:spPr>
          <a:xfrm>
            <a:off x="2926080" y="1828800"/>
            <a:ext cx="2377440" cy="4297680"/>
          </a:xfrm>
          <a:prstGeom prst="roundRect">
            <a:avLst>
              <a:gd name="adj" fmla="val 2692"/>
            </a:avLst>
          </a:prstGeom>
          <a:solidFill>
            <a:srgbClr val="EEF1F4"/>
          </a:solidFill>
          <a:ln w="15875">
            <a:solidFill>
              <a:srgbClr val="5B6670"/>
            </a:solidFill>
            <a:prstDash val="solid"/>
          </a:ln>
        </p:spPr>
      </p:sp>
      <p:sp>
        <p:nvSpPr>
          <p:cNvPr id="21" name="Text 18"/>
          <p:cNvSpPr txBox="1"/>
          <p:nvPr/>
        </p:nvSpPr>
        <p:spPr>
          <a:xfrm>
            <a:off x="3017520" y="1920240"/>
            <a:ext cx="2194560" cy="4114800"/>
          </a:xfrm>
          <a:prstGeom prst="rect">
            <a:avLst/>
          </a:prstGeom>
          <a:noFill/>
          <a:ln/>
        </p:spPr>
        <p:txBody>
          <a:bodyPr wrap="square" lIns="635" tIns="635" rIns="635" bIns="635" rtlCol="0" anchor="ctr"/>
          <a:lstStyle/>
          <a:p>
            <a:pPr algn="ctr" indent="0" marL="0">
              <a:buNone/>
            </a:pPr>
            <a:r>
              <a:rPr lang="en-US" sz="1600" b="1" dirty="0">
                <a:solidFill>
                  <a:srgbClr val="1E2933"/>
                </a:solidFill>
                <a:latin typeface="Calibri" pitchFamily="34" charset="0"/>
                <a:ea typeface="Calibri" pitchFamily="34" charset="-122"/>
                <a:cs typeface="Calibri" pitchFamily="34" charset="-120"/>
              </a:rPr>
              <a:t>Simulator</a:t>
            </a:r>
            <a:endParaRPr lang="en-US" sz="1600" dirty="0"/>
          </a:p>
          <a:p>
            <a:pPr algn="ctr" indent="0" marL="0">
              <a:buNone/>
            </a:pPr>
            <a:r>
              <a:rPr lang="en-US" sz="1250" dirty="0">
                <a:solidFill>
                  <a:srgbClr val="1E2933"/>
                </a:solidFill>
                <a:latin typeface="Calibri" pitchFamily="34" charset="0"/>
                <a:ea typeface="Calibri" pitchFamily="34" charset="-122"/>
                <a:cs typeface="Calibri" pitchFamily="34" charset="-120"/>
              </a:rPr>
              <a:t>clock · van positions · riders aboard · request states</a:t>
            </a:r>
            <a:endParaRPr lang="en-US" sz="1600" dirty="0"/>
          </a:p>
          <a:p>
            <a:pPr algn="ctr" indent="0" marL="0">
              <a:buNone/>
            </a:pPr>
            <a:r>
              <a:rPr lang="en-US" sz="1600" dirty="0">
                <a:solidFill>
                  <a:srgbClr val="1E2933"/>
                </a:solidFill>
                <a:latin typeface="Calibri" pitchFamily="34" charset="0"/>
                <a:ea typeface="Calibri" pitchFamily="34" charset="-122"/>
                <a:cs typeface="Calibri" pitchFamily="34" charset="-120"/>
              </a:rPr>
              <a:t> </a:t>
            </a:r>
            <a:endParaRPr lang="en-US" sz="1600" dirty="0"/>
          </a:p>
          <a:p>
            <a:pPr algn="ctr" indent="0" marL="0">
              <a:buNone/>
            </a:pPr>
            <a:r>
              <a:rPr lang="en-US" sz="1200" i="1" dirty="0">
                <a:solidFill>
                  <a:srgbClr val="1E2933"/>
                </a:solidFill>
                <a:latin typeface="Calibri" pitchFamily="34" charset="0"/>
                <a:ea typeface="Calibri" pitchFamily="34" charset="-122"/>
                <a:cs typeface="Calibri" pitchFamily="34" charset="-120"/>
              </a:rPr>
              <a:t>Reveals a request only when it arrives; applies a hidden draw only when its event happens</a:t>
            </a:r>
            <a:endParaRPr lang="en-US" sz="1600" dirty="0"/>
          </a:p>
        </p:txBody>
      </p:sp>
      <p:sp>
        <p:nvSpPr>
          <p:cNvPr id="22" name="Shape 19"/>
          <p:cNvSpPr/>
          <p:nvPr/>
        </p:nvSpPr>
        <p:spPr>
          <a:xfrm>
            <a:off x="6035040" y="1828800"/>
            <a:ext cx="3611880" cy="3383280"/>
          </a:xfrm>
          <a:prstGeom prst="roundRect">
            <a:avLst>
              <a:gd name="adj" fmla="val 1892"/>
            </a:avLst>
          </a:prstGeom>
          <a:solidFill>
            <a:srgbClr val="FFFFFF"/>
          </a:solidFill>
          <a:ln w="12700">
            <a:solidFill>
              <a:srgbClr val="2A78D6"/>
            </a:solidFill>
            <a:prstDash val="sysDot"/>
          </a:ln>
        </p:spPr>
      </p:sp>
      <p:sp>
        <p:nvSpPr>
          <p:cNvPr id="23" name="Text 20"/>
          <p:cNvSpPr txBox="1"/>
          <p:nvPr/>
        </p:nvSpPr>
        <p:spPr>
          <a:xfrm>
            <a:off x="6126480" y="1856232"/>
            <a:ext cx="3657600" cy="292608"/>
          </a:xfrm>
          <a:prstGeom prst="rect">
            <a:avLst/>
          </a:prstGeom>
          <a:noFill/>
          <a:ln/>
        </p:spPr>
        <p:txBody>
          <a:bodyPr wrap="square" lIns="635" tIns="635" rIns="635" bIns="635" rtlCol="0" anchor="t"/>
          <a:lstStyle/>
          <a:p>
            <a:pPr indent="0" marL="0">
              <a:buNone/>
            </a:pPr>
            <a:r>
              <a:rPr lang="en-US" sz="1200" b="1" dirty="0">
                <a:solidFill>
                  <a:srgbClr val="2A78D6"/>
                </a:solidFill>
                <a:latin typeface="Calibri" pitchFamily="34" charset="0"/>
                <a:ea typeface="Calibri" pitchFamily="34" charset="-122"/>
                <a:cs typeface="Calibri" pitchFamily="34" charset="-120"/>
              </a:rPr>
              <a:t>Decision step: van dispatcher + transfer rule (sees only what has happened)</a:t>
            </a:r>
            <a:endParaRPr lang="en-US" sz="1200" dirty="0"/>
          </a:p>
        </p:txBody>
      </p:sp>
      <p:sp>
        <p:nvSpPr>
          <p:cNvPr id="24" name="Shape 21"/>
          <p:cNvSpPr/>
          <p:nvPr/>
        </p:nvSpPr>
        <p:spPr>
          <a:xfrm>
            <a:off x="6172200" y="2240280"/>
            <a:ext cx="3337560" cy="640080"/>
          </a:xfrm>
          <a:prstGeom prst="roundRect">
            <a:avLst>
              <a:gd name="adj" fmla="val 10000"/>
            </a:avLst>
          </a:prstGeom>
          <a:solidFill>
            <a:srgbClr val="E8F1FB"/>
          </a:solidFill>
          <a:ln w="15875">
            <a:solidFill>
              <a:srgbClr val="2A78D6"/>
            </a:solidFill>
            <a:prstDash val="solid"/>
          </a:ln>
        </p:spPr>
      </p:sp>
      <p:sp>
        <p:nvSpPr>
          <p:cNvPr id="25" name="Text 22"/>
          <p:cNvSpPr txBox="1"/>
          <p:nvPr/>
        </p:nvSpPr>
        <p:spPr>
          <a:xfrm>
            <a:off x="6245352" y="2276856"/>
            <a:ext cx="3191256" cy="566928"/>
          </a:xfrm>
          <a:prstGeom prst="rect">
            <a:avLst/>
          </a:prstGeom>
          <a:noFill/>
          <a:ln/>
        </p:spPr>
        <p:txBody>
          <a:bodyPr wrap="square" lIns="635" tIns="635" rIns="635" bIns="635" rtlCol="0" anchor="ctr"/>
          <a:lstStyle/>
          <a:p>
            <a:pPr algn="ctr" indent="0" marL="0">
              <a:buNone/>
            </a:pPr>
            <a:r>
              <a:rPr lang="en-US" sz="1250" b="1" dirty="0">
                <a:solidFill>
                  <a:srgbClr val="2A78D6"/>
                </a:solidFill>
                <a:latin typeface="Calibri" pitchFamily="34" charset="0"/>
                <a:ea typeface="Calibri" pitchFamily="34" charset="-122"/>
                <a:cs typeface="Calibri" pitchFamily="34" charset="-120"/>
              </a:rPr>
              <a:t>Route generation</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candidate routes per van</a:t>
            </a:r>
            <a:endParaRPr lang="en-US" sz="1250" dirty="0"/>
          </a:p>
        </p:txBody>
      </p:sp>
      <p:sp>
        <p:nvSpPr>
          <p:cNvPr id="26" name="Shape 23"/>
          <p:cNvSpPr/>
          <p:nvPr/>
        </p:nvSpPr>
        <p:spPr>
          <a:xfrm>
            <a:off x="7836408" y="2898648"/>
            <a:ext cx="914" cy="146304"/>
          </a:xfrm>
          <a:prstGeom prst="line">
            <a:avLst/>
          </a:prstGeom>
          <a:noFill/>
          <a:ln w="19050">
            <a:solidFill>
              <a:srgbClr val="2A78D6"/>
            </a:solidFill>
            <a:prstDash val="solid"/>
            <a:tailEnd type="triangle"/>
          </a:ln>
        </p:spPr>
      </p:sp>
      <p:sp>
        <p:nvSpPr>
          <p:cNvPr id="27" name="Shape 24"/>
          <p:cNvSpPr/>
          <p:nvPr/>
        </p:nvSpPr>
        <p:spPr>
          <a:xfrm>
            <a:off x="6172200" y="3063240"/>
            <a:ext cx="3337560" cy="640080"/>
          </a:xfrm>
          <a:prstGeom prst="roundRect">
            <a:avLst>
              <a:gd name="adj" fmla="val 10000"/>
            </a:avLst>
          </a:prstGeom>
          <a:solidFill>
            <a:srgbClr val="E8F1FB"/>
          </a:solidFill>
          <a:ln w="15875">
            <a:solidFill>
              <a:srgbClr val="2A78D6"/>
            </a:solidFill>
            <a:prstDash val="solid"/>
          </a:ln>
        </p:spPr>
      </p:sp>
      <p:sp>
        <p:nvSpPr>
          <p:cNvPr id="28" name="Text 25"/>
          <p:cNvSpPr txBox="1"/>
          <p:nvPr/>
        </p:nvSpPr>
        <p:spPr>
          <a:xfrm>
            <a:off x="6245352" y="3099816"/>
            <a:ext cx="3191256" cy="566928"/>
          </a:xfrm>
          <a:prstGeom prst="rect">
            <a:avLst/>
          </a:prstGeom>
          <a:noFill/>
          <a:ln/>
        </p:spPr>
        <p:txBody>
          <a:bodyPr wrap="square" lIns="635" tIns="635" rIns="635" bIns="635" rtlCol="0" anchor="ctr"/>
          <a:lstStyle/>
          <a:p>
            <a:pPr algn="ctr" indent="0" marL="0">
              <a:buNone/>
            </a:pPr>
            <a:r>
              <a:rPr lang="en-US" sz="1250" b="1" dirty="0">
                <a:solidFill>
                  <a:srgbClr val="2A78D6"/>
                </a:solidFill>
                <a:latin typeface="Calibri" pitchFamily="34" charset="0"/>
                <a:ea typeface="Calibri" pitchFamily="34" charset="-122"/>
                <a:cs typeface="Calibri" pitchFamily="34" charset="-120"/>
              </a:rPr>
              <a:t>Van optimizer</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mixed-integer linear program (MILP): one route per van</a:t>
            </a:r>
            <a:endParaRPr lang="en-US" sz="1250" dirty="0"/>
          </a:p>
        </p:txBody>
      </p:sp>
      <p:sp>
        <p:nvSpPr>
          <p:cNvPr id="29" name="Shape 26"/>
          <p:cNvSpPr/>
          <p:nvPr/>
        </p:nvSpPr>
        <p:spPr>
          <a:xfrm>
            <a:off x="7836408" y="3721608"/>
            <a:ext cx="914" cy="146304"/>
          </a:xfrm>
          <a:prstGeom prst="line">
            <a:avLst/>
          </a:prstGeom>
          <a:noFill/>
          <a:ln w="19050">
            <a:solidFill>
              <a:srgbClr val="EB6834"/>
            </a:solidFill>
            <a:prstDash val="solid"/>
            <a:tailEnd type="triangle"/>
          </a:ln>
        </p:spPr>
      </p:sp>
      <p:sp>
        <p:nvSpPr>
          <p:cNvPr id="30" name="Shape 27"/>
          <p:cNvSpPr/>
          <p:nvPr/>
        </p:nvSpPr>
        <p:spPr>
          <a:xfrm>
            <a:off x="6172200" y="3886200"/>
            <a:ext cx="3337560" cy="685800"/>
          </a:xfrm>
          <a:prstGeom prst="roundRect">
            <a:avLst>
              <a:gd name="adj" fmla="val 9333"/>
            </a:avLst>
          </a:prstGeom>
          <a:solidFill>
            <a:srgbClr val="FFF4EC"/>
          </a:solidFill>
          <a:ln w="15875">
            <a:solidFill>
              <a:srgbClr val="EB6834"/>
            </a:solidFill>
            <a:prstDash val="solid"/>
          </a:ln>
        </p:spPr>
      </p:sp>
      <p:sp>
        <p:nvSpPr>
          <p:cNvPr id="31" name="Text 28"/>
          <p:cNvSpPr txBox="1"/>
          <p:nvPr/>
        </p:nvSpPr>
        <p:spPr>
          <a:xfrm>
            <a:off x="6245352" y="3922776"/>
            <a:ext cx="3191256" cy="612648"/>
          </a:xfrm>
          <a:prstGeom prst="rect">
            <a:avLst/>
          </a:prstGeom>
          <a:noFill/>
          <a:ln/>
        </p:spPr>
        <p:txBody>
          <a:bodyPr wrap="square" lIns="635" tIns="635" rIns="635" bIns="635" rtlCol="0" anchor="ctr"/>
          <a:lstStyle/>
          <a:p>
            <a:pPr algn="ctr" indent="0" marL="0">
              <a:buNone/>
            </a:pPr>
            <a:r>
              <a:rPr lang="en-US" sz="1250" b="1" dirty="0">
                <a:solidFill>
                  <a:srgbClr val="EB6834"/>
                </a:solidFill>
                <a:latin typeface="Calibri" pitchFamily="34" charset="0"/>
                <a:ea typeface="Calibri" pitchFamily="34" charset="-122"/>
                <a:cs typeface="Calibri" pitchFamily="34" charset="-120"/>
              </a:rPr>
              <a:t>Transfer rule</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reads plan predictions; may move requests to Lyft</a:t>
            </a:r>
            <a:endParaRPr lang="en-US" sz="1250" dirty="0"/>
          </a:p>
        </p:txBody>
      </p:sp>
      <p:sp>
        <p:nvSpPr>
          <p:cNvPr id="32" name="Shape 29"/>
          <p:cNvSpPr/>
          <p:nvPr/>
        </p:nvSpPr>
        <p:spPr>
          <a:xfrm>
            <a:off x="5321808" y="2560320"/>
            <a:ext cx="822960" cy="914"/>
          </a:xfrm>
          <a:prstGeom prst="line">
            <a:avLst/>
          </a:prstGeom>
          <a:noFill/>
          <a:ln w="19050">
            <a:solidFill>
              <a:srgbClr val="1E2933"/>
            </a:solidFill>
            <a:prstDash val="solid"/>
            <a:tailEnd type="triangle"/>
          </a:ln>
        </p:spPr>
      </p:sp>
      <p:sp>
        <p:nvSpPr>
          <p:cNvPr id="33" name="Text 30"/>
          <p:cNvSpPr txBox="1"/>
          <p:nvPr/>
        </p:nvSpPr>
        <p:spPr>
          <a:xfrm>
            <a:off x="5321808" y="2103120"/>
            <a:ext cx="731520" cy="438912"/>
          </a:xfrm>
          <a:prstGeom prst="rect">
            <a:avLst/>
          </a:prstGeom>
          <a:noFill/>
          <a:ln/>
        </p:spPr>
        <p:txBody>
          <a:bodyPr wrap="square" lIns="635" tIns="635" rIns="635" bIns="635" rtlCol="0" anchor="t"/>
          <a:lstStyle/>
          <a:p>
            <a:pPr algn="ctr" indent="0" marL="0">
              <a:buNone/>
            </a:pPr>
            <a:r>
              <a:rPr lang="en-US" sz="950" dirty="0">
                <a:solidFill>
                  <a:srgbClr val="5B6670"/>
                </a:solidFill>
                <a:latin typeface="Calibri" pitchFamily="34" charset="0"/>
                <a:ea typeface="Calibri" pitchFamily="34" charset="-122"/>
                <a:cs typeface="Calibri" pitchFamily="34" charset="-120"/>
              </a:rPr>
              <a:t>observable state</a:t>
            </a:r>
            <a:endParaRPr lang="en-US" sz="950" dirty="0"/>
          </a:p>
        </p:txBody>
      </p:sp>
      <p:sp>
        <p:nvSpPr>
          <p:cNvPr id="34" name="Shape 31"/>
          <p:cNvSpPr/>
          <p:nvPr/>
        </p:nvSpPr>
        <p:spPr>
          <a:xfrm flipH="1">
            <a:off x="5321808" y="4224528"/>
            <a:ext cx="822960" cy="914"/>
          </a:xfrm>
          <a:prstGeom prst="line">
            <a:avLst/>
          </a:prstGeom>
          <a:noFill/>
          <a:ln w="19050">
            <a:solidFill>
              <a:srgbClr val="1E2933"/>
            </a:solidFill>
            <a:prstDash val="solid"/>
            <a:tailEnd type="triangle"/>
          </a:ln>
        </p:spPr>
      </p:sp>
      <p:sp>
        <p:nvSpPr>
          <p:cNvPr id="35" name="Text 32"/>
          <p:cNvSpPr txBox="1"/>
          <p:nvPr/>
        </p:nvSpPr>
        <p:spPr>
          <a:xfrm>
            <a:off x="5321808" y="4270248"/>
            <a:ext cx="731520" cy="438912"/>
          </a:xfrm>
          <a:prstGeom prst="rect">
            <a:avLst/>
          </a:prstGeom>
          <a:noFill/>
          <a:ln/>
        </p:spPr>
        <p:txBody>
          <a:bodyPr wrap="square" lIns="635" tIns="635" rIns="635" bIns="635" rtlCol="0" anchor="t"/>
          <a:lstStyle/>
          <a:p>
            <a:pPr algn="ctr" indent="0" marL="0">
              <a:buNone/>
            </a:pPr>
            <a:r>
              <a:rPr lang="en-US" sz="950" dirty="0">
                <a:solidFill>
                  <a:srgbClr val="5B6670"/>
                </a:solidFill>
                <a:latin typeface="Calibri" pitchFamily="34" charset="0"/>
                <a:ea typeface="Calibri" pitchFamily="34" charset="-122"/>
                <a:cs typeface="Calibri" pitchFamily="34" charset="-120"/>
              </a:rPr>
              <a:t>plan and transfers</a:t>
            </a:r>
            <a:endParaRPr lang="en-US" sz="950" dirty="0"/>
          </a:p>
        </p:txBody>
      </p:sp>
      <p:sp>
        <p:nvSpPr>
          <p:cNvPr id="36" name="Shape 33"/>
          <p:cNvSpPr/>
          <p:nvPr/>
        </p:nvSpPr>
        <p:spPr>
          <a:xfrm>
            <a:off x="6035040" y="5440680"/>
            <a:ext cx="3611880" cy="685800"/>
          </a:xfrm>
          <a:prstGeom prst="roundRect">
            <a:avLst>
              <a:gd name="adj" fmla="val 9333"/>
            </a:avLst>
          </a:prstGeom>
          <a:solidFill>
            <a:srgbClr val="EEF1F4"/>
          </a:solidFill>
          <a:ln w="15875">
            <a:solidFill>
              <a:srgbClr val="5B6670"/>
            </a:solidFill>
            <a:prstDash val="solid"/>
          </a:ln>
        </p:spPr>
      </p:sp>
      <p:sp>
        <p:nvSpPr>
          <p:cNvPr id="37" name="Text 34"/>
          <p:cNvSpPr txBox="1"/>
          <p:nvPr/>
        </p:nvSpPr>
        <p:spPr>
          <a:xfrm>
            <a:off x="6108192" y="5477256"/>
            <a:ext cx="3465576" cy="61264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Execution</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vans drive and commit to their next stop</a:t>
            </a:r>
            <a:endParaRPr lang="en-US" sz="1250" dirty="0"/>
          </a:p>
        </p:txBody>
      </p:sp>
      <p:sp>
        <p:nvSpPr>
          <p:cNvPr id="38" name="Shape 35"/>
          <p:cNvSpPr/>
          <p:nvPr/>
        </p:nvSpPr>
        <p:spPr>
          <a:xfrm>
            <a:off x="5321808" y="5760720"/>
            <a:ext cx="685800" cy="914"/>
          </a:xfrm>
          <a:prstGeom prst="line">
            <a:avLst/>
          </a:prstGeom>
          <a:noFill/>
          <a:ln w="19050">
            <a:solidFill>
              <a:srgbClr val="1E2933"/>
            </a:solidFill>
            <a:prstDash val="solid"/>
            <a:tailEnd type="triangle"/>
          </a:ln>
        </p:spPr>
      </p:sp>
      <p:sp>
        <p:nvSpPr>
          <p:cNvPr id="39" name="Shape 36"/>
          <p:cNvSpPr/>
          <p:nvPr/>
        </p:nvSpPr>
        <p:spPr>
          <a:xfrm>
            <a:off x="9665208" y="5760720"/>
            <a:ext cx="320040" cy="914"/>
          </a:xfrm>
          <a:prstGeom prst="line">
            <a:avLst/>
          </a:prstGeom>
          <a:noFill/>
          <a:ln w="19050">
            <a:solidFill>
              <a:srgbClr val="1E2933"/>
            </a:solidFill>
            <a:prstDash val="solid"/>
            <a:tailEnd type="triangle"/>
          </a:ln>
        </p:spPr>
      </p:sp>
      <p:sp>
        <p:nvSpPr>
          <p:cNvPr id="40" name="Shape 37"/>
          <p:cNvSpPr/>
          <p:nvPr/>
        </p:nvSpPr>
        <p:spPr>
          <a:xfrm>
            <a:off x="10012680" y="5120640"/>
            <a:ext cx="1691640" cy="1005840"/>
          </a:xfrm>
          <a:prstGeom prst="roundRect">
            <a:avLst>
              <a:gd name="adj" fmla="val 6364"/>
            </a:avLst>
          </a:prstGeom>
          <a:solidFill>
            <a:srgbClr val="EEF1F4"/>
          </a:solidFill>
          <a:ln w="15875">
            <a:solidFill>
              <a:srgbClr val="5B6670"/>
            </a:solidFill>
            <a:prstDash val="solid"/>
          </a:ln>
        </p:spPr>
      </p:sp>
      <p:sp>
        <p:nvSpPr>
          <p:cNvPr id="41" name="Text 38"/>
          <p:cNvSpPr txBox="1"/>
          <p:nvPr/>
        </p:nvSpPr>
        <p:spPr>
          <a:xfrm>
            <a:off x="10085832" y="5157216"/>
            <a:ext cx="1545336" cy="93268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Recorded outcomes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event log, waits, Lyft orders</a:t>
            </a:r>
            <a:endParaRPr lang="en-US" sz="1250" dirty="0"/>
          </a:p>
        </p:txBody>
      </p:sp>
      <p:sp>
        <p:nvSpPr>
          <p:cNvPr id="42" name="Shape 39"/>
          <p:cNvSpPr/>
          <p:nvPr/>
        </p:nvSpPr>
        <p:spPr>
          <a:xfrm>
            <a:off x="9829800" y="1828800"/>
            <a:ext cx="1874520" cy="3108960"/>
          </a:xfrm>
          <a:prstGeom prst="roundRect">
            <a:avLst>
              <a:gd name="adj" fmla="val 3415"/>
            </a:avLst>
          </a:prstGeom>
          <a:solidFill>
            <a:srgbClr val="EFEDFB"/>
          </a:solidFill>
          <a:ln w="9525">
            <a:solidFill>
              <a:srgbClr val="EFEDFB"/>
            </a:solidFill>
            <a:prstDash val="solid"/>
          </a:ln>
        </p:spPr>
      </p:sp>
      <p:sp>
        <p:nvSpPr>
          <p:cNvPr id="43" name="Text 40"/>
          <p:cNvSpPr txBox="1"/>
          <p:nvPr/>
        </p:nvSpPr>
        <p:spPr>
          <a:xfrm>
            <a:off x="9921240" y="1901952"/>
            <a:ext cx="1691640" cy="2971800"/>
          </a:xfrm>
          <a:prstGeom prst="rect">
            <a:avLst/>
          </a:prstGeom>
          <a:noFill/>
          <a:ln/>
        </p:spPr>
        <p:txBody>
          <a:bodyPr wrap="square" lIns="635" tIns="635" rIns="635" bIns="635" rtlCol="0" anchor="t"/>
          <a:lstStyle/>
          <a:p>
            <a:pPr indent="0" marL="0">
              <a:buNone/>
            </a:pPr>
            <a:r>
              <a:rPr lang="en-US" sz="1250" b="1" dirty="0">
                <a:solidFill>
                  <a:srgbClr val="6250D6"/>
                </a:solidFill>
                <a:latin typeface="Calibri" pitchFamily="34" charset="0"/>
                <a:ea typeface="Calibri" pitchFamily="34" charset="-122"/>
                <a:cs typeface="Calibri" pitchFamily="34" charset="-120"/>
              </a:rPr>
              <a:t>Hidden from the dispatcher</a:t>
            </a:r>
            <a:endParaRPr lang="en-US" sz="1250" dirty="0"/>
          </a:p>
          <a:p>
            <a:pPr indent="0" marL="0">
              <a:buNone/>
            </a:pPr>
            <a:r>
              <a:rPr lang="en-US" sz="1250" dirty="0">
                <a:solidFill>
                  <a:srgbClr val="1E2933"/>
                </a:solidFill>
                <a:latin typeface="Calibri" pitchFamily="34" charset="0"/>
                <a:ea typeface="Calibri" pitchFamily="34" charset="-122"/>
                <a:cs typeface="Calibri" pitchFamily="34" charset="-120"/>
              </a:rPr>
              <a:t>future requests; each rider's patience and presence; the real Lyft delay</a:t>
            </a:r>
            <a:endParaRPr lang="en-US" sz="1250" dirty="0"/>
          </a:p>
        </p:txBody>
      </p:sp>
      <p:sp>
        <p:nvSpPr>
          <p:cNvPr id="44" name="Text 41"/>
          <p:cNvSpPr txBox="1"/>
          <p:nvPr/>
        </p:nvSpPr>
        <p:spPr>
          <a:xfrm>
            <a:off x="9418320" y="6400800"/>
            <a:ext cx="1645920" cy="274320"/>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32">
                  <a:extLst>
                    <a:ext uri="{A12FA001-AC4F-418D-AE19-62706E023703}">
                      <ahyp:hlinkClr xmlns:ahyp="http://schemas.microsoft.com/office/drawing/2018/hyperlinkcolor" val="tx"/>
                    </a:ext>
                  </a:extLst>
                </a:hlinkClick>
              </a:rPr>
              <a:t>Event order: B3 →</a:t>
            </a:r>
            <a:endParaRPr lang="en-US" sz="1000" dirty="0"/>
          </a:p>
        </p:txBody>
      </p:sp>
      <p:sp>
        <p:nvSpPr>
          <p:cNvPr id="45" name="Text 4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src/sim/engine.py, dispatch.py, lyft.py; docs/technical/scenario_spec.md v0.8 §17.</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The same decision cycle repeats as the evening unfolds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15</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dispatcher sees requests that have arrived. It does not see future requests.</a:t>
            </a:r>
            <a:endParaRPr lang="en-US" sz="1700" dirty="0"/>
          </a:p>
        </p:txBody>
      </p:sp>
      <p:sp>
        <p:nvSpPr>
          <p:cNvPr id="6" name="Shape 3"/>
          <p:cNvSpPr/>
          <p:nvPr/>
        </p:nvSpPr>
        <p:spPr>
          <a:xfrm>
            <a:off x="457200" y="1554480"/>
            <a:ext cx="2560320" cy="1051560"/>
          </a:xfrm>
          <a:prstGeom prst="roundRect">
            <a:avLst>
              <a:gd name="adj" fmla="val 6087"/>
            </a:avLst>
          </a:prstGeom>
          <a:solidFill>
            <a:srgbClr val="EEF1F4"/>
          </a:solidFill>
          <a:ln w="15875">
            <a:solidFill>
              <a:srgbClr val="5B6670"/>
            </a:solidFill>
            <a:prstDash val="solid"/>
          </a:ln>
        </p:spPr>
      </p:sp>
      <p:sp>
        <p:nvSpPr>
          <p:cNvPr id="7" name="Text 4"/>
          <p:cNvSpPr txBox="1"/>
          <p:nvPr/>
        </p:nvSpPr>
        <p:spPr>
          <a:xfrm>
            <a:off x="530352" y="1591056"/>
            <a:ext cx="2414016" cy="97840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1  Reveal and update</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new events applied; state observed</a:t>
            </a:r>
            <a:endParaRPr lang="en-US" sz="1250" dirty="0"/>
          </a:p>
        </p:txBody>
      </p:sp>
      <p:sp>
        <p:nvSpPr>
          <p:cNvPr id="8" name="Shape 5"/>
          <p:cNvSpPr/>
          <p:nvPr/>
        </p:nvSpPr>
        <p:spPr>
          <a:xfrm>
            <a:off x="3035808" y="2075688"/>
            <a:ext cx="237744" cy="914"/>
          </a:xfrm>
          <a:prstGeom prst="line">
            <a:avLst/>
          </a:prstGeom>
          <a:noFill/>
          <a:ln w="19050">
            <a:solidFill>
              <a:srgbClr val="1E2933"/>
            </a:solidFill>
            <a:prstDash val="solid"/>
            <a:tailEnd type="triangle"/>
          </a:ln>
        </p:spPr>
      </p:sp>
      <p:sp>
        <p:nvSpPr>
          <p:cNvPr id="9" name="Shape 6"/>
          <p:cNvSpPr/>
          <p:nvPr/>
        </p:nvSpPr>
        <p:spPr>
          <a:xfrm>
            <a:off x="3291840" y="1554480"/>
            <a:ext cx="2560320" cy="1051560"/>
          </a:xfrm>
          <a:prstGeom prst="roundRect">
            <a:avLst>
              <a:gd name="adj" fmla="val 6087"/>
            </a:avLst>
          </a:prstGeom>
          <a:solidFill>
            <a:srgbClr val="E8F1FB"/>
          </a:solidFill>
          <a:ln w="15875">
            <a:solidFill>
              <a:srgbClr val="2A78D6"/>
            </a:solidFill>
            <a:prstDash val="solid"/>
          </a:ln>
        </p:spPr>
      </p:sp>
      <p:sp>
        <p:nvSpPr>
          <p:cNvPr id="10" name="Text 7"/>
          <p:cNvSpPr txBox="1"/>
          <p:nvPr/>
        </p:nvSpPr>
        <p:spPr>
          <a:xfrm>
            <a:off x="3364992" y="1591056"/>
            <a:ext cx="2414016" cy="978408"/>
          </a:xfrm>
          <a:prstGeom prst="rect">
            <a:avLst/>
          </a:prstGeom>
          <a:noFill/>
          <a:ln/>
        </p:spPr>
        <p:txBody>
          <a:bodyPr wrap="square" lIns="635" tIns="635" rIns="635" bIns="635" rtlCol="0" anchor="ctr"/>
          <a:lstStyle/>
          <a:p>
            <a:pPr algn="ctr" indent="0" marL="0">
              <a:buNone/>
            </a:pPr>
            <a:r>
              <a:rPr lang="en-US" sz="1250" b="1" dirty="0">
                <a:solidFill>
                  <a:srgbClr val="2A78D6"/>
                </a:solidFill>
                <a:latin typeface="Calibri" pitchFamily="34" charset="0"/>
                <a:ea typeface="Calibri" pitchFamily="34" charset="-122"/>
                <a:cs typeface="Calibri" pitchFamily="34" charset="-120"/>
              </a:rPr>
              <a:t>2  Generate routes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feasible candidates per van</a:t>
            </a:r>
            <a:endParaRPr lang="en-US" sz="1250" dirty="0"/>
          </a:p>
        </p:txBody>
      </p:sp>
      <p:sp>
        <p:nvSpPr>
          <p:cNvPr id="11" name="Shape 8"/>
          <p:cNvSpPr/>
          <p:nvPr/>
        </p:nvSpPr>
        <p:spPr>
          <a:xfrm>
            <a:off x="5870448" y="2075688"/>
            <a:ext cx="237744" cy="914"/>
          </a:xfrm>
          <a:prstGeom prst="line">
            <a:avLst/>
          </a:prstGeom>
          <a:noFill/>
          <a:ln w="19050">
            <a:solidFill>
              <a:srgbClr val="1E2933"/>
            </a:solidFill>
            <a:prstDash val="solid"/>
            <a:tailEnd type="triangle"/>
          </a:ln>
        </p:spPr>
      </p:sp>
      <p:sp>
        <p:nvSpPr>
          <p:cNvPr id="12" name="Shape 9"/>
          <p:cNvSpPr/>
          <p:nvPr/>
        </p:nvSpPr>
        <p:spPr>
          <a:xfrm>
            <a:off x="6126480" y="1554480"/>
            <a:ext cx="2560320" cy="1051560"/>
          </a:xfrm>
          <a:prstGeom prst="roundRect">
            <a:avLst>
              <a:gd name="adj" fmla="val 6087"/>
            </a:avLst>
          </a:prstGeom>
          <a:solidFill>
            <a:srgbClr val="E8F1FB"/>
          </a:solidFill>
          <a:ln w="15875">
            <a:solidFill>
              <a:srgbClr val="2A78D6"/>
            </a:solidFill>
            <a:prstDash val="solid"/>
          </a:ln>
        </p:spPr>
      </p:sp>
      <p:sp>
        <p:nvSpPr>
          <p:cNvPr id="13" name="Text 10"/>
          <p:cNvSpPr txBox="1"/>
          <p:nvPr/>
        </p:nvSpPr>
        <p:spPr>
          <a:xfrm>
            <a:off x="6199632" y="1591056"/>
            <a:ext cx="2414016" cy="978408"/>
          </a:xfrm>
          <a:prstGeom prst="rect">
            <a:avLst/>
          </a:prstGeom>
          <a:noFill/>
          <a:ln/>
        </p:spPr>
        <p:txBody>
          <a:bodyPr wrap="square" lIns="635" tIns="635" rIns="635" bIns="635" rtlCol="0" anchor="ctr"/>
          <a:lstStyle/>
          <a:p>
            <a:pPr algn="ctr" indent="0" marL="0">
              <a:buNone/>
            </a:pPr>
            <a:r>
              <a:rPr lang="en-US" sz="1250" b="1" dirty="0">
                <a:solidFill>
                  <a:srgbClr val="2A78D6"/>
                </a:solidFill>
                <a:latin typeface="Calibri" pitchFamily="34" charset="0"/>
                <a:ea typeface="Calibri" pitchFamily="34" charset="-122"/>
                <a:cs typeface="Calibri" pitchFamily="34" charset="-120"/>
              </a:rPr>
              <a:t>3  Select routes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MILP: one route per van</a:t>
            </a:r>
            <a:endParaRPr lang="en-US" sz="1250" dirty="0"/>
          </a:p>
        </p:txBody>
      </p:sp>
      <p:sp>
        <p:nvSpPr>
          <p:cNvPr id="14" name="Shape 11"/>
          <p:cNvSpPr/>
          <p:nvPr/>
        </p:nvSpPr>
        <p:spPr>
          <a:xfrm>
            <a:off x="8705088" y="2075688"/>
            <a:ext cx="237744" cy="914"/>
          </a:xfrm>
          <a:prstGeom prst="line">
            <a:avLst/>
          </a:prstGeom>
          <a:noFill/>
          <a:ln w="19050">
            <a:solidFill>
              <a:srgbClr val="1E2933"/>
            </a:solidFill>
            <a:prstDash val="solid"/>
            <a:tailEnd type="triangle"/>
          </a:ln>
        </p:spPr>
      </p:sp>
      <p:sp>
        <p:nvSpPr>
          <p:cNvPr id="15" name="Shape 12"/>
          <p:cNvSpPr/>
          <p:nvPr/>
        </p:nvSpPr>
        <p:spPr>
          <a:xfrm>
            <a:off x="8961120" y="1554480"/>
            <a:ext cx="2560320" cy="1051560"/>
          </a:xfrm>
          <a:prstGeom prst="roundRect">
            <a:avLst>
              <a:gd name="adj" fmla="val 6087"/>
            </a:avLst>
          </a:prstGeom>
          <a:solidFill>
            <a:srgbClr val="FFF4EC"/>
          </a:solidFill>
          <a:ln w="15875">
            <a:solidFill>
              <a:srgbClr val="EB6834"/>
            </a:solidFill>
            <a:prstDash val="solid"/>
          </a:ln>
        </p:spPr>
      </p:sp>
      <p:sp>
        <p:nvSpPr>
          <p:cNvPr id="16" name="Text 13"/>
          <p:cNvSpPr txBox="1"/>
          <p:nvPr/>
        </p:nvSpPr>
        <p:spPr>
          <a:xfrm>
            <a:off x="9034272" y="1591056"/>
            <a:ext cx="2414016" cy="978408"/>
          </a:xfrm>
          <a:prstGeom prst="rect">
            <a:avLst/>
          </a:prstGeom>
          <a:noFill/>
          <a:ln/>
        </p:spPr>
        <p:txBody>
          <a:bodyPr wrap="square" lIns="635" tIns="635" rIns="635" bIns="635" rtlCol="0" anchor="ctr"/>
          <a:lstStyle/>
          <a:p>
            <a:pPr algn="ctr" indent="0" marL="0">
              <a:buNone/>
            </a:pPr>
            <a:r>
              <a:rPr lang="en-US" sz="1250" b="1" dirty="0">
                <a:solidFill>
                  <a:srgbClr val="EB6834"/>
                </a:solidFill>
                <a:latin typeface="Calibri" pitchFamily="34" charset="0"/>
                <a:ea typeface="Calibri" pitchFamily="34" charset="-122"/>
                <a:cs typeface="Calibri" pitchFamily="34" charset="-120"/>
              </a:rPr>
              <a:t>4  Evaluate rule</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each request still waiting for a van</a:t>
            </a:r>
            <a:endParaRPr lang="en-US" sz="1250" dirty="0"/>
          </a:p>
        </p:txBody>
      </p:sp>
      <p:sp>
        <p:nvSpPr>
          <p:cNvPr id="17" name="Shape 14"/>
          <p:cNvSpPr/>
          <p:nvPr/>
        </p:nvSpPr>
        <p:spPr>
          <a:xfrm>
            <a:off x="8961120" y="3017520"/>
            <a:ext cx="2560320" cy="1051560"/>
          </a:xfrm>
          <a:prstGeom prst="roundRect">
            <a:avLst>
              <a:gd name="adj" fmla="val 6087"/>
            </a:avLst>
          </a:prstGeom>
          <a:solidFill>
            <a:srgbClr val="FFF4EC"/>
          </a:solidFill>
          <a:ln w="15875">
            <a:solidFill>
              <a:srgbClr val="EB6834"/>
            </a:solidFill>
            <a:prstDash val="solid"/>
          </a:ln>
        </p:spPr>
      </p:sp>
      <p:sp>
        <p:nvSpPr>
          <p:cNvPr id="18" name="Text 15"/>
          <p:cNvSpPr txBox="1"/>
          <p:nvPr/>
        </p:nvSpPr>
        <p:spPr>
          <a:xfrm>
            <a:off x="9034272" y="3054096"/>
            <a:ext cx="2414016" cy="978408"/>
          </a:xfrm>
          <a:prstGeom prst="rect">
            <a:avLst/>
          </a:prstGeom>
          <a:noFill/>
          <a:ln/>
        </p:spPr>
        <p:txBody>
          <a:bodyPr wrap="square" lIns="635" tIns="635" rIns="635" bIns="635" rtlCol="0" anchor="ctr"/>
          <a:lstStyle/>
          <a:p>
            <a:pPr algn="ctr" indent="0" marL="0">
              <a:buNone/>
            </a:pPr>
            <a:r>
              <a:rPr lang="en-US" sz="1250" b="1" dirty="0">
                <a:solidFill>
                  <a:srgbClr val="EB6834"/>
                </a:solidFill>
                <a:latin typeface="Calibri" pitchFamily="34" charset="0"/>
                <a:ea typeface="Calibri" pitchFamily="34" charset="-122"/>
                <a:cs typeface="Calibri" pitchFamily="34" charset="-120"/>
              </a:rPr>
              <a:t>5  Apply transfers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accepted requests leave van planning; Lyft ordered after 2 min</a:t>
            </a:r>
            <a:endParaRPr lang="en-US" sz="1250" dirty="0"/>
          </a:p>
        </p:txBody>
      </p:sp>
      <p:sp>
        <p:nvSpPr>
          <p:cNvPr id="19" name="Shape 16"/>
          <p:cNvSpPr/>
          <p:nvPr/>
        </p:nvSpPr>
        <p:spPr>
          <a:xfrm flipH="1">
            <a:off x="8705088" y="3538728"/>
            <a:ext cx="237744" cy="914"/>
          </a:xfrm>
          <a:prstGeom prst="line">
            <a:avLst/>
          </a:prstGeom>
          <a:noFill/>
          <a:ln w="19050">
            <a:solidFill>
              <a:srgbClr val="1E2933"/>
            </a:solidFill>
            <a:prstDash val="solid"/>
            <a:tailEnd type="triangle"/>
          </a:ln>
        </p:spPr>
      </p:sp>
      <p:sp>
        <p:nvSpPr>
          <p:cNvPr id="20" name="Shape 17"/>
          <p:cNvSpPr/>
          <p:nvPr/>
        </p:nvSpPr>
        <p:spPr>
          <a:xfrm>
            <a:off x="6126480" y="3017520"/>
            <a:ext cx="2560320" cy="1051560"/>
          </a:xfrm>
          <a:prstGeom prst="roundRect">
            <a:avLst>
              <a:gd name="adj" fmla="val 6087"/>
            </a:avLst>
          </a:prstGeom>
          <a:solidFill>
            <a:srgbClr val="E8F1FB"/>
          </a:solidFill>
          <a:ln w="15875">
            <a:solidFill>
              <a:srgbClr val="2A78D6"/>
            </a:solidFill>
            <a:prstDash val="solid"/>
          </a:ln>
        </p:spPr>
      </p:sp>
      <p:sp>
        <p:nvSpPr>
          <p:cNvPr id="21" name="Text 18"/>
          <p:cNvSpPr txBox="1"/>
          <p:nvPr/>
        </p:nvSpPr>
        <p:spPr>
          <a:xfrm>
            <a:off x="6199632" y="3054096"/>
            <a:ext cx="2414016" cy="978408"/>
          </a:xfrm>
          <a:prstGeom prst="rect">
            <a:avLst/>
          </a:prstGeom>
          <a:noFill/>
          <a:ln/>
        </p:spPr>
        <p:txBody>
          <a:bodyPr wrap="square" lIns="635" tIns="635" rIns="635" bIns="635" rtlCol="0" anchor="ctr"/>
          <a:lstStyle/>
          <a:p>
            <a:pPr algn="ctr" indent="0" marL="0">
              <a:buNone/>
            </a:pPr>
            <a:r>
              <a:rPr lang="en-US" sz="1250" b="1" dirty="0">
                <a:solidFill>
                  <a:srgbClr val="2A78D6"/>
                </a:solidFill>
                <a:latin typeface="Calibri" pitchFamily="34" charset="0"/>
                <a:ea typeface="Calibri" pitchFamily="34" charset="-122"/>
                <a:cs typeface="Calibri" pitchFamily="34" charset="-120"/>
              </a:rPr>
              <a:t>6  Re-plan once</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only if a transfer happened</a:t>
            </a:r>
            <a:endParaRPr lang="en-US" sz="1250" dirty="0"/>
          </a:p>
        </p:txBody>
      </p:sp>
      <p:sp>
        <p:nvSpPr>
          <p:cNvPr id="22" name="Shape 19"/>
          <p:cNvSpPr/>
          <p:nvPr/>
        </p:nvSpPr>
        <p:spPr>
          <a:xfrm flipH="1">
            <a:off x="5870448" y="3538728"/>
            <a:ext cx="237744" cy="914"/>
          </a:xfrm>
          <a:prstGeom prst="line">
            <a:avLst/>
          </a:prstGeom>
          <a:noFill/>
          <a:ln w="19050">
            <a:solidFill>
              <a:srgbClr val="1E2933"/>
            </a:solidFill>
            <a:prstDash val="solid"/>
            <a:tailEnd type="triangle"/>
          </a:ln>
        </p:spPr>
      </p:sp>
      <p:sp>
        <p:nvSpPr>
          <p:cNvPr id="23" name="Shape 20"/>
          <p:cNvSpPr/>
          <p:nvPr/>
        </p:nvSpPr>
        <p:spPr>
          <a:xfrm>
            <a:off x="3291840" y="3017520"/>
            <a:ext cx="2560320" cy="1051560"/>
          </a:xfrm>
          <a:prstGeom prst="roundRect">
            <a:avLst>
              <a:gd name="adj" fmla="val 6087"/>
            </a:avLst>
          </a:prstGeom>
          <a:solidFill>
            <a:srgbClr val="EEF1F4"/>
          </a:solidFill>
          <a:ln w="15875">
            <a:solidFill>
              <a:srgbClr val="5B6670"/>
            </a:solidFill>
            <a:prstDash val="solid"/>
          </a:ln>
        </p:spPr>
      </p:sp>
      <p:sp>
        <p:nvSpPr>
          <p:cNvPr id="24" name="Text 21"/>
          <p:cNvSpPr txBox="1"/>
          <p:nvPr/>
        </p:nvSpPr>
        <p:spPr>
          <a:xfrm>
            <a:off x="3364992" y="3054096"/>
            <a:ext cx="2414016" cy="97840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7  Execute</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vans depart; a van commits to its next stop</a:t>
            </a:r>
            <a:endParaRPr lang="en-US" sz="1250" dirty="0"/>
          </a:p>
        </p:txBody>
      </p:sp>
      <p:sp>
        <p:nvSpPr>
          <p:cNvPr id="25" name="Shape 22"/>
          <p:cNvSpPr/>
          <p:nvPr/>
        </p:nvSpPr>
        <p:spPr>
          <a:xfrm flipH="1">
            <a:off x="3035808" y="3538728"/>
            <a:ext cx="237744" cy="914"/>
          </a:xfrm>
          <a:prstGeom prst="line">
            <a:avLst/>
          </a:prstGeom>
          <a:noFill/>
          <a:ln w="19050">
            <a:solidFill>
              <a:srgbClr val="1E2933"/>
            </a:solidFill>
            <a:prstDash val="solid"/>
            <a:tailEnd type="triangle"/>
          </a:ln>
        </p:spPr>
      </p:sp>
      <p:sp>
        <p:nvSpPr>
          <p:cNvPr id="26" name="Shape 23"/>
          <p:cNvSpPr/>
          <p:nvPr/>
        </p:nvSpPr>
        <p:spPr>
          <a:xfrm>
            <a:off x="457200" y="3017520"/>
            <a:ext cx="2560320" cy="1051560"/>
          </a:xfrm>
          <a:prstGeom prst="roundRect">
            <a:avLst>
              <a:gd name="adj" fmla="val 6087"/>
            </a:avLst>
          </a:prstGeom>
          <a:solidFill>
            <a:srgbClr val="EEF1F4"/>
          </a:solidFill>
          <a:ln w="15875">
            <a:solidFill>
              <a:srgbClr val="5B6670"/>
            </a:solidFill>
            <a:prstDash val="solid"/>
          </a:ln>
        </p:spPr>
      </p:sp>
      <p:sp>
        <p:nvSpPr>
          <p:cNvPr id="27" name="Text 24"/>
          <p:cNvSpPr txBox="1"/>
          <p:nvPr/>
        </p:nvSpPr>
        <p:spPr>
          <a:xfrm>
            <a:off x="530352" y="3054096"/>
            <a:ext cx="2414016" cy="97840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8  Repeat</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at the next trigger</a:t>
            </a:r>
            <a:endParaRPr lang="en-US" sz="1250" dirty="0"/>
          </a:p>
        </p:txBody>
      </p:sp>
      <p:sp>
        <p:nvSpPr>
          <p:cNvPr id="28" name="Shape 25"/>
          <p:cNvSpPr/>
          <p:nvPr/>
        </p:nvSpPr>
        <p:spPr>
          <a:xfrm>
            <a:off x="10241280" y="2624328"/>
            <a:ext cx="914" cy="374904"/>
          </a:xfrm>
          <a:prstGeom prst="line">
            <a:avLst/>
          </a:prstGeom>
          <a:noFill/>
          <a:ln w="19050">
            <a:solidFill>
              <a:srgbClr val="1E2933"/>
            </a:solidFill>
            <a:prstDash val="solid"/>
            <a:tailEnd type="triangle"/>
          </a:ln>
        </p:spPr>
      </p:sp>
      <p:sp>
        <p:nvSpPr>
          <p:cNvPr id="29" name="Shape 26"/>
          <p:cNvSpPr/>
          <p:nvPr/>
        </p:nvSpPr>
        <p:spPr>
          <a:xfrm flipV="1">
            <a:off x="1737360" y="2624328"/>
            <a:ext cx="914" cy="374904"/>
          </a:xfrm>
          <a:prstGeom prst="line">
            <a:avLst/>
          </a:prstGeom>
          <a:noFill/>
          <a:ln w="19050">
            <a:solidFill>
              <a:srgbClr val="1E2933"/>
            </a:solidFill>
            <a:prstDash val="dash"/>
            <a:tailEnd type="triangle"/>
          </a:ln>
        </p:spPr>
      </p:sp>
      <p:sp>
        <p:nvSpPr>
          <p:cNvPr id="30" name="Text 27"/>
          <p:cNvSpPr txBox="1"/>
          <p:nvPr/>
        </p:nvSpPr>
        <p:spPr>
          <a:xfrm>
            <a:off x="457200" y="4526280"/>
            <a:ext cx="5486400" cy="822960"/>
          </a:xfrm>
          <a:prstGeom prst="rect">
            <a:avLst/>
          </a:prstGeom>
          <a:noFill/>
          <a:ln/>
        </p:spPr>
        <p:txBody>
          <a:bodyPr wrap="square" lIns="635" tIns="635" rIns="635" bIns="635" rtlCol="0" anchor="t"/>
          <a:lstStyle/>
          <a:p>
            <a:pPr indent="0" marL="0">
              <a:buNone/>
            </a:pPr>
            <a:r>
              <a:rPr lang="en-US" sz="1250" b="1" dirty="0">
                <a:solidFill>
                  <a:srgbClr val="1E2933"/>
                </a:solidFill>
                <a:latin typeface="Calibri" pitchFamily="34" charset="0"/>
                <a:ea typeface="Calibri" pitchFamily="34" charset="-122"/>
                <a:cs typeface="Calibri" pitchFamily="34" charset="-120"/>
              </a:rPr>
              <a:t>When it runs: </a:t>
            </a:r>
            <a:pPr indent="0" marL="0">
              <a:buNone/>
            </a:pPr>
            <a:r>
              <a:rPr lang="en-US" sz="1250" dirty="0">
                <a:solidFill>
                  <a:srgbClr val="1E2933"/>
                </a:solidFill>
                <a:latin typeface="Calibri" pitchFamily="34" charset="0"/>
                <a:ea typeface="Calibri" pitchFamily="34" charset="-122"/>
                <a:cs typeface="Calibri" pitchFamily="34" charset="-120"/>
              </a:rPr>
              <a:t>every 2 minutes, and at a new request, a cancellation or no-show while waiting for a van, or a van coming on duty</a:t>
            </a:r>
            <a:endParaRPr lang="en-US" sz="1250" dirty="0"/>
          </a:p>
        </p:txBody>
      </p:sp>
      <p:sp>
        <p:nvSpPr>
          <p:cNvPr id="31" name="Text 28"/>
          <p:cNvSpPr txBox="1"/>
          <p:nvPr/>
        </p:nvSpPr>
        <p:spPr>
          <a:xfrm>
            <a:off x="6126480" y="4526280"/>
            <a:ext cx="5486400" cy="822960"/>
          </a:xfrm>
          <a:prstGeom prst="rect">
            <a:avLst/>
          </a:prstGeom>
          <a:noFill/>
          <a:ln/>
        </p:spPr>
        <p:txBody>
          <a:bodyPr wrap="square" lIns="635" tIns="635" rIns="635" bIns="635" rtlCol="0" anchor="t"/>
          <a:lstStyle/>
          <a:p>
            <a:pPr indent="0" marL="0">
              <a:buNone/>
            </a:pPr>
            <a:r>
              <a:rPr lang="en-US" sz="1250" b="1" dirty="0">
                <a:solidFill>
                  <a:srgbClr val="1E2933"/>
                </a:solidFill>
                <a:latin typeface="Calibri" pitchFamily="34" charset="0"/>
                <a:ea typeface="Calibri" pitchFamily="34" charset="-122"/>
                <a:cs typeface="Calibri" pitchFamily="34" charset="-120"/>
              </a:rPr>
              <a:t>Transfers: </a:t>
            </a:r>
            <a:pPr indent="0" marL="0">
              <a:buNone/>
            </a:pPr>
            <a:r>
              <a:rPr lang="en-US" sz="1250" dirty="0">
                <a:solidFill>
                  <a:srgbClr val="1E2933"/>
                </a:solidFill>
                <a:latin typeface="Calibri" pitchFamily="34" charset="0"/>
                <a:ea typeface="Calibri" pitchFamily="34" charset="-122"/>
                <a:cs typeface="Calibri" pitchFamily="34" charset="-120"/>
              </a:rPr>
              <a:t>a transfer offer is accepted with a set probability (1.0 in the pilot); a declined request is not offered again</a:t>
            </a:r>
            <a:endParaRPr lang="en-US" sz="1250" dirty="0"/>
          </a:p>
        </p:txBody>
      </p:sp>
      <p:sp>
        <p:nvSpPr>
          <p:cNvPr id="32" name="Text 29"/>
          <p:cNvSpPr txBox="1"/>
          <p:nvPr/>
        </p:nvSpPr>
        <p:spPr>
          <a:xfrm>
            <a:off x="457200" y="5394960"/>
            <a:ext cx="5486400" cy="822960"/>
          </a:xfrm>
          <a:prstGeom prst="rect">
            <a:avLst/>
          </a:prstGeom>
          <a:noFill/>
          <a:ln/>
        </p:spPr>
        <p:txBody>
          <a:bodyPr wrap="square" lIns="635" tIns="635" rIns="635" bIns="635" rtlCol="0" anchor="t"/>
          <a:lstStyle/>
          <a:p>
            <a:pPr indent="0" marL="0">
              <a:buNone/>
            </a:pPr>
            <a:r>
              <a:rPr lang="en-US" sz="1250" b="1" dirty="0">
                <a:solidFill>
                  <a:srgbClr val="1E2933"/>
                </a:solidFill>
                <a:latin typeface="Calibri" pitchFamily="34" charset="0"/>
                <a:ea typeface="Calibri" pitchFamily="34" charset="-122"/>
                <a:cs typeface="Calibri" pitchFamily="34" charset="-120"/>
              </a:rPr>
              <a:t>No cascades: </a:t>
            </a:r>
            <a:pPr indent="0" marL="0">
              <a:buNone/>
            </a:pPr>
            <a:r>
              <a:rPr lang="en-US" sz="1250" dirty="0">
                <a:solidFill>
                  <a:srgbClr val="1E2933"/>
                </a:solidFill>
                <a:latin typeface="Calibri" pitchFamily="34" charset="0"/>
                <a:ea typeface="Calibri" pitchFamily="34" charset="-122"/>
                <a:cs typeface="Calibri" pitchFamily="34" charset="-120"/>
              </a:rPr>
              <a:t>the rule runs once per decision moment; after transfers the optimizer re-plans once, and the rule is not re-run in that second</a:t>
            </a:r>
            <a:endParaRPr lang="en-US" sz="1250" dirty="0"/>
          </a:p>
        </p:txBody>
      </p:sp>
      <p:sp>
        <p:nvSpPr>
          <p:cNvPr id="33" name="Text 30"/>
          <p:cNvSpPr txBox="1"/>
          <p:nvPr/>
        </p:nvSpPr>
        <p:spPr>
          <a:xfrm>
            <a:off x="6126480" y="5394960"/>
            <a:ext cx="5486400" cy="822960"/>
          </a:xfrm>
          <a:prstGeom prst="rect">
            <a:avLst/>
          </a:prstGeom>
          <a:noFill/>
          <a:ln/>
        </p:spPr>
        <p:txBody>
          <a:bodyPr wrap="square" lIns="635" tIns="635" rIns="635" bIns="635" rtlCol="0" anchor="t"/>
          <a:lstStyle/>
          <a:p>
            <a:pPr indent="0" marL="0">
              <a:buNone/>
            </a:pPr>
            <a:r>
              <a:rPr lang="en-US" sz="1250" b="1" dirty="0">
                <a:solidFill>
                  <a:srgbClr val="1E2933"/>
                </a:solidFill>
                <a:latin typeface="Calibri" pitchFamily="34" charset="0"/>
                <a:ea typeface="Calibri" pitchFamily="34" charset="-122"/>
                <a:cs typeface="Calibri" pitchFamily="34" charset="-120"/>
              </a:rPr>
              <a:t>Commitments: </a:t>
            </a:r>
            <a:pPr indent="0" marL="0">
              <a:buNone/>
            </a:pPr>
            <a:r>
              <a:rPr lang="en-US" sz="1250" dirty="0">
                <a:solidFill>
                  <a:srgbClr val="1E2933"/>
                </a:solidFill>
                <a:latin typeface="Calibri" pitchFamily="34" charset="0"/>
                <a:ea typeface="Calibri" pitchFamily="34" charset="-122"/>
                <a:cs typeface="Calibri" pitchFamily="34" charset="-120"/>
              </a:rPr>
              <a:t>a stop a van is already driving to is fixed; requests committed to a van are not eligible for transfer</a:t>
            </a:r>
            <a:endParaRPr lang="en-US" sz="1250" dirty="0"/>
          </a:p>
        </p:txBody>
      </p:sp>
      <p:sp>
        <p:nvSpPr>
          <p:cNvPr id="34" name="Text 31"/>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src/sim/engine.py (epoch and triggers); docs/technical/scenario_spec.md v0.8 §17; decision_log.md D-46, D-52, D-55.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The optimizer compares the consequences of candidate plans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16</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Waiting, riding, driving and unresolved requests enter the model in different ways.</a:t>
            </a:r>
            <a:endParaRPr lang="en-US" sz="1700" dirty="0"/>
          </a:p>
        </p:txBody>
      </p:sp>
      <p:sp>
        <p:nvSpPr>
          <p:cNvPr id="6" name="Shape 3"/>
          <p:cNvSpPr/>
          <p:nvPr/>
        </p:nvSpPr>
        <p:spPr>
          <a:xfrm>
            <a:off x="457200" y="1508760"/>
            <a:ext cx="2697480" cy="1600200"/>
          </a:xfrm>
          <a:prstGeom prst="roundRect">
            <a:avLst>
              <a:gd name="adj" fmla="val 4000"/>
            </a:avLst>
          </a:prstGeom>
          <a:solidFill>
            <a:srgbClr val="E8F1FB"/>
          </a:solidFill>
          <a:ln w="9525">
            <a:solidFill>
              <a:srgbClr val="E8F1FB"/>
            </a:solidFill>
            <a:prstDash val="solid"/>
          </a:ln>
        </p:spPr>
      </p:sp>
      <p:sp>
        <p:nvSpPr>
          <p:cNvPr id="7" name="Text 4"/>
          <p:cNvSpPr txBox="1"/>
          <p:nvPr/>
        </p:nvSpPr>
        <p:spPr>
          <a:xfrm>
            <a:off x="548640" y="1554480"/>
            <a:ext cx="2514600" cy="347472"/>
          </a:xfrm>
          <a:prstGeom prst="rect">
            <a:avLst/>
          </a:prstGeom>
          <a:noFill/>
          <a:ln/>
        </p:spPr>
        <p:txBody>
          <a:bodyPr wrap="square" lIns="635" tIns="635" rIns="635" bIns="635"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Waiting</a:t>
            </a:r>
            <a:endParaRPr lang="en-US" sz="1500" dirty="0"/>
          </a:p>
        </p:txBody>
      </p:sp>
      <p:sp>
        <p:nvSpPr>
          <p:cNvPr id="8" name="Text 5"/>
          <p:cNvSpPr txBox="1"/>
          <p:nvPr/>
        </p:nvSpPr>
        <p:spPr>
          <a:xfrm>
            <a:off x="548640" y="1892808"/>
            <a:ext cx="2514600" cy="36576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party size × φ(wait)</a:t>
            </a:r>
            <a:endParaRPr lang="en-US" sz="1350" dirty="0"/>
          </a:p>
        </p:txBody>
      </p:sp>
      <p:sp>
        <p:nvSpPr>
          <p:cNvPr id="9" name="Text 6"/>
          <p:cNvSpPr txBox="1"/>
          <p:nvPr/>
        </p:nvSpPr>
        <p:spPr>
          <a:xfrm>
            <a:off x="548640" y="2258568"/>
            <a:ext cx="2514600" cy="822960"/>
          </a:xfrm>
          <a:prstGeom prst="rect">
            <a:avLst/>
          </a:prstGeom>
          <a:noFill/>
          <a:ln/>
        </p:spPr>
        <p:txBody>
          <a:bodyPr wrap="square" lIns="635" tIns="635" rIns="635" bIns="635" rtlCol="0" anchor="t"/>
          <a:lstStyle/>
          <a:p>
            <a:pPr indent="0" marL="0">
              <a:buNone/>
            </a:pPr>
            <a:r>
              <a:rPr lang="en-US" sz="1150" dirty="0">
                <a:solidFill>
                  <a:srgbClr val="5B6670"/>
                </a:solidFill>
                <a:latin typeface="Calibri" pitchFamily="34" charset="0"/>
                <a:ea typeface="Calibri" pitchFamily="34" charset="-122"/>
                <a:cs typeface="Calibri" pitchFamily="34" charset="-120"/>
              </a:rPr>
              <a:t>φ is convex: 1 point per minute for the first 5 min, then 2.5, 5, 10, 20 after 5, 10, 15, 20 min</a:t>
            </a:r>
            <a:endParaRPr lang="en-US" sz="1150" dirty="0"/>
          </a:p>
        </p:txBody>
      </p:sp>
      <p:sp>
        <p:nvSpPr>
          <p:cNvPr id="10" name="Text 7"/>
          <p:cNvSpPr txBox="1"/>
          <p:nvPr/>
        </p:nvSpPr>
        <p:spPr>
          <a:xfrm>
            <a:off x="3127248" y="2011680"/>
            <a:ext cx="182880" cy="365760"/>
          </a:xfrm>
          <a:prstGeom prst="rect">
            <a:avLst/>
          </a:prstGeom>
          <a:noFill/>
          <a:ln/>
        </p:spPr>
        <p:txBody>
          <a:bodyPr wrap="square" lIns="0" tIns="0" rIns="0" bIns="0" rtlCol="0" anchor="t"/>
          <a:lstStyle/>
          <a:p>
            <a:pPr algn="ctr" indent="0" marL="0">
              <a:buNone/>
            </a:pPr>
            <a:r>
              <a:rPr lang="en-US" sz="1800" b="1" dirty="0">
                <a:solidFill>
                  <a:srgbClr val="1E2933"/>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3291840" y="1508760"/>
            <a:ext cx="2697480" cy="1600200"/>
          </a:xfrm>
          <a:prstGeom prst="roundRect">
            <a:avLst>
              <a:gd name="adj" fmla="val 4000"/>
            </a:avLst>
          </a:prstGeom>
          <a:solidFill>
            <a:srgbClr val="E8F1FB"/>
          </a:solidFill>
          <a:ln w="9525">
            <a:solidFill>
              <a:srgbClr val="E8F1FB"/>
            </a:solidFill>
            <a:prstDash val="solid"/>
          </a:ln>
        </p:spPr>
      </p:sp>
      <p:sp>
        <p:nvSpPr>
          <p:cNvPr id="12" name="Text 9"/>
          <p:cNvSpPr txBox="1"/>
          <p:nvPr/>
        </p:nvSpPr>
        <p:spPr>
          <a:xfrm>
            <a:off x="3383280" y="1554480"/>
            <a:ext cx="2514600" cy="347472"/>
          </a:xfrm>
          <a:prstGeom prst="rect">
            <a:avLst/>
          </a:prstGeom>
          <a:noFill/>
          <a:ln/>
        </p:spPr>
        <p:txBody>
          <a:bodyPr wrap="square" lIns="635" tIns="635" rIns="635" bIns="635"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Riding</a:t>
            </a:r>
            <a:endParaRPr lang="en-US" sz="1500" dirty="0"/>
          </a:p>
        </p:txBody>
      </p:sp>
      <p:sp>
        <p:nvSpPr>
          <p:cNvPr id="13" name="Text 10"/>
          <p:cNvSpPr txBox="1"/>
          <p:nvPr/>
        </p:nvSpPr>
        <p:spPr>
          <a:xfrm>
            <a:off x="3383280" y="1892808"/>
            <a:ext cx="2514600" cy="36576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0.5 × party size × ride minutes</a:t>
            </a:r>
            <a:endParaRPr lang="en-US" sz="1350" dirty="0"/>
          </a:p>
        </p:txBody>
      </p:sp>
      <p:sp>
        <p:nvSpPr>
          <p:cNvPr id="14" name="Text 11"/>
          <p:cNvSpPr txBox="1"/>
          <p:nvPr/>
        </p:nvSpPr>
        <p:spPr>
          <a:xfrm>
            <a:off x="3383280" y="2258568"/>
            <a:ext cx="2514600" cy="822960"/>
          </a:xfrm>
          <a:prstGeom prst="rect">
            <a:avLst/>
          </a:prstGeom>
          <a:noFill/>
          <a:ln/>
        </p:spPr>
        <p:txBody>
          <a:bodyPr wrap="square" lIns="635" tIns="635" rIns="635" bIns="635" rtlCol="0" anchor="t"/>
          <a:lstStyle/>
          <a:p>
            <a:pPr indent="0" marL="0">
              <a:buNone/>
            </a:pPr>
            <a:r>
              <a:rPr lang="en-US" sz="1150" dirty="0">
                <a:solidFill>
                  <a:srgbClr val="5B6670"/>
                </a:solidFill>
                <a:latin typeface="Calibri" pitchFamily="34" charset="0"/>
                <a:ea typeface="Calibri" pitchFamily="34" charset="-122"/>
                <a:cs typeface="Calibri" pitchFamily="34" charset="-120"/>
              </a:rPr>
              <a:t>a riding minute always counts less than a waiting minute</a:t>
            </a:r>
            <a:endParaRPr lang="en-US" sz="1150" dirty="0"/>
          </a:p>
        </p:txBody>
      </p:sp>
      <p:sp>
        <p:nvSpPr>
          <p:cNvPr id="15" name="Text 12"/>
          <p:cNvSpPr txBox="1"/>
          <p:nvPr/>
        </p:nvSpPr>
        <p:spPr>
          <a:xfrm>
            <a:off x="5961888" y="2011680"/>
            <a:ext cx="182880" cy="365760"/>
          </a:xfrm>
          <a:prstGeom prst="rect">
            <a:avLst/>
          </a:prstGeom>
          <a:noFill/>
          <a:ln/>
        </p:spPr>
        <p:txBody>
          <a:bodyPr wrap="square" lIns="0" tIns="0" rIns="0" bIns="0" rtlCol="0" anchor="t"/>
          <a:lstStyle/>
          <a:p>
            <a:pPr algn="ctr" indent="0" marL="0">
              <a:buNone/>
            </a:pPr>
            <a:r>
              <a:rPr lang="en-US" sz="1800" b="1" dirty="0">
                <a:solidFill>
                  <a:srgbClr val="1E2933"/>
                </a:solidFill>
                <a:latin typeface="Calibri" pitchFamily="34" charset="0"/>
                <a:ea typeface="Calibri" pitchFamily="34" charset="-122"/>
                <a:cs typeface="Calibri" pitchFamily="34" charset="-120"/>
              </a:rPr>
              <a:t>+</a:t>
            </a:r>
            <a:endParaRPr lang="en-US" sz="1800" dirty="0"/>
          </a:p>
        </p:txBody>
      </p:sp>
      <p:sp>
        <p:nvSpPr>
          <p:cNvPr id="16" name="Shape 13"/>
          <p:cNvSpPr/>
          <p:nvPr/>
        </p:nvSpPr>
        <p:spPr>
          <a:xfrm>
            <a:off x="6126480" y="1508760"/>
            <a:ext cx="2697480" cy="1600200"/>
          </a:xfrm>
          <a:prstGeom prst="roundRect">
            <a:avLst>
              <a:gd name="adj" fmla="val 4000"/>
            </a:avLst>
          </a:prstGeom>
          <a:solidFill>
            <a:srgbClr val="E8F1FB"/>
          </a:solidFill>
          <a:ln w="9525">
            <a:solidFill>
              <a:srgbClr val="E8F1FB"/>
            </a:solidFill>
            <a:prstDash val="solid"/>
          </a:ln>
        </p:spPr>
      </p:sp>
      <p:sp>
        <p:nvSpPr>
          <p:cNvPr id="17" name="Text 14"/>
          <p:cNvSpPr txBox="1"/>
          <p:nvPr/>
        </p:nvSpPr>
        <p:spPr>
          <a:xfrm>
            <a:off x="6217920" y="1554480"/>
            <a:ext cx="2514600" cy="347472"/>
          </a:xfrm>
          <a:prstGeom prst="rect">
            <a:avLst/>
          </a:prstGeom>
          <a:noFill/>
          <a:ln/>
        </p:spPr>
        <p:txBody>
          <a:bodyPr wrap="square" lIns="635" tIns="635" rIns="635" bIns="635"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Driving</a:t>
            </a:r>
            <a:endParaRPr lang="en-US" sz="1500" dirty="0"/>
          </a:p>
        </p:txBody>
      </p:sp>
      <p:sp>
        <p:nvSpPr>
          <p:cNvPr id="18" name="Text 15"/>
          <p:cNvSpPr txBox="1"/>
          <p:nvPr/>
        </p:nvSpPr>
        <p:spPr>
          <a:xfrm>
            <a:off x="6217920" y="1892808"/>
            <a:ext cx="2514600" cy="36576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0.1 × van kilometres</a:t>
            </a:r>
            <a:endParaRPr lang="en-US" sz="1350" dirty="0"/>
          </a:p>
        </p:txBody>
      </p:sp>
      <p:sp>
        <p:nvSpPr>
          <p:cNvPr id="19" name="Text 16"/>
          <p:cNvSpPr txBox="1"/>
          <p:nvPr/>
        </p:nvSpPr>
        <p:spPr>
          <a:xfrm>
            <a:off x="6217920" y="2258568"/>
            <a:ext cx="2514600" cy="822960"/>
          </a:xfrm>
          <a:prstGeom prst="rect">
            <a:avLst/>
          </a:prstGeom>
          <a:noFill/>
          <a:ln/>
        </p:spPr>
        <p:txBody>
          <a:bodyPr wrap="square" lIns="635" tIns="635" rIns="635" bIns="635" rtlCol="0" anchor="t"/>
          <a:lstStyle/>
          <a:p>
            <a:pPr indent="0" marL="0">
              <a:buNone/>
            </a:pPr>
            <a:r>
              <a:rPr lang="en-US" sz="1150" dirty="0">
                <a:solidFill>
                  <a:srgbClr val="5B6670"/>
                </a:solidFill>
                <a:latin typeface="Calibri" pitchFamily="34" charset="0"/>
                <a:ea typeface="Calibri" pitchFamily="34" charset="-122"/>
                <a:cs typeface="Calibri" pitchFamily="34" charset="-120"/>
              </a:rPr>
              <a:t>a tie-breaker</a:t>
            </a:r>
            <a:endParaRPr lang="en-US" sz="1150" dirty="0"/>
          </a:p>
        </p:txBody>
      </p:sp>
      <p:sp>
        <p:nvSpPr>
          <p:cNvPr id="20" name="Text 17"/>
          <p:cNvSpPr txBox="1"/>
          <p:nvPr/>
        </p:nvSpPr>
        <p:spPr>
          <a:xfrm>
            <a:off x="8796528" y="2011680"/>
            <a:ext cx="182880" cy="365760"/>
          </a:xfrm>
          <a:prstGeom prst="rect">
            <a:avLst/>
          </a:prstGeom>
          <a:noFill/>
          <a:ln/>
        </p:spPr>
        <p:txBody>
          <a:bodyPr wrap="square" lIns="0" tIns="0" rIns="0" bIns="0" rtlCol="0" anchor="t"/>
          <a:lstStyle/>
          <a:p>
            <a:pPr algn="ctr" indent="0" marL="0">
              <a:buNone/>
            </a:pPr>
            <a:r>
              <a:rPr lang="en-US" sz="1800" b="1" dirty="0">
                <a:solidFill>
                  <a:srgbClr val="1E2933"/>
                </a:solidFill>
                <a:latin typeface="Calibri" pitchFamily="34" charset="0"/>
                <a:ea typeface="Calibri" pitchFamily="34" charset="-122"/>
                <a:cs typeface="Calibri" pitchFamily="34" charset="-120"/>
              </a:rPr>
              <a:t>+</a:t>
            </a:r>
            <a:endParaRPr lang="en-US" sz="1800" dirty="0"/>
          </a:p>
        </p:txBody>
      </p:sp>
      <p:sp>
        <p:nvSpPr>
          <p:cNvPr id="21" name="Shape 18"/>
          <p:cNvSpPr/>
          <p:nvPr/>
        </p:nvSpPr>
        <p:spPr>
          <a:xfrm>
            <a:off x="8961120" y="1508760"/>
            <a:ext cx="2697480" cy="1600200"/>
          </a:xfrm>
          <a:prstGeom prst="roundRect">
            <a:avLst>
              <a:gd name="adj" fmla="val 4000"/>
            </a:avLst>
          </a:prstGeom>
          <a:solidFill>
            <a:srgbClr val="FFF4EC"/>
          </a:solidFill>
          <a:ln w="9525">
            <a:solidFill>
              <a:srgbClr val="FFF4EC"/>
            </a:solidFill>
            <a:prstDash val="solid"/>
          </a:ln>
        </p:spPr>
      </p:sp>
      <p:sp>
        <p:nvSpPr>
          <p:cNvPr id="22" name="Text 19"/>
          <p:cNvSpPr txBox="1"/>
          <p:nvPr/>
        </p:nvSpPr>
        <p:spPr>
          <a:xfrm>
            <a:off x="9052560" y="1554480"/>
            <a:ext cx="2514600" cy="347472"/>
          </a:xfrm>
          <a:prstGeom prst="rect">
            <a:avLst/>
          </a:prstGeom>
          <a:noFill/>
          <a:ln/>
        </p:spPr>
        <p:txBody>
          <a:bodyPr wrap="square" lIns="635" tIns="635" rIns="635" bIns="635"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Unresolved (postponed)</a:t>
            </a:r>
            <a:endParaRPr lang="en-US" sz="1500" dirty="0"/>
          </a:p>
        </p:txBody>
      </p:sp>
      <p:sp>
        <p:nvSpPr>
          <p:cNvPr id="23" name="Text 20"/>
          <p:cNvSpPr txBox="1"/>
          <p:nvPr/>
        </p:nvSpPr>
        <p:spPr>
          <a:xfrm>
            <a:off x="9052560" y="1892808"/>
            <a:ext cx="2514600" cy="36576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postponement price + large constant</a:t>
            </a:r>
            <a:endParaRPr lang="en-US" sz="1350" dirty="0"/>
          </a:p>
        </p:txBody>
      </p:sp>
      <p:sp>
        <p:nvSpPr>
          <p:cNvPr id="24" name="Text 21"/>
          <p:cNvSpPr txBox="1"/>
          <p:nvPr/>
        </p:nvSpPr>
        <p:spPr>
          <a:xfrm>
            <a:off x="9052560" y="2258568"/>
            <a:ext cx="2514600" cy="822960"/>
          </a:xfrm>
          <a:prstGeom prst="rect">
            <a:avLst/>
          </a:prstGeom>
          <a:noFill/>
          <a:ln/>
        </p:spPr>
        <p:txBody>
          <a:bodyPr wrap="square" lIns="635" tIns="635" rIns="635" bIns="635" rtlCol="0" anchor="t"/>
          <a:lstStyle/>
          <a:p>
            <a:pPr indent="0" marL="0">
              <a:buNone/>
            </a:pPr>
            <a:r>
              <a:rPr lang="en-US" sz="1150" dirty="0">
                <a:solidFill>
                  <a:srgbClr val="5B6670"/>
                </a:solidFill>
                <a:latin typeface="Calibri" pitchFamily="34" charset="0"/>
                <a:ea typeface="Calibri" pitchFamily="34" charset="-122"/>
                <a:cs typeface="Calibri" pitchFamily="34" charset="-120"/>
              </a:rPr>
              <a:t>the plan first serves as many requests as its candidates allow</a:t>
            </a:r>
            <a:endParaRPr lang="en-US" sz="1150" dirty="0"/>
          </a:p>
        </p:txBody>
      </p:sp>
      <p:sp>
        <p:nvSpPr>
          <p:cNvPr id="25" name="Text 22"/>
          <p:cNvSpPr txBox="1"/>
          <p:nvPr/>
        </p:nvSpPr>
        <p:spPr>
          <a:xfrm>
            <a:off x="457200" y="3200400"/>
            <a:ext cx="11247120" cy="566928"/>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Hard constraints: seats; pickup before drop-off; one route per van; each request served once or postponed. Ride-time guardrail max(25 min, 2 × direct + 5): no plan may create or worsen an excess (an unexpected no-show wait can still push a ride over).</a:t>
            </a:r>
            <a:endParaRPr lang="en-US" sz="1250" dirty="0"/>
          </a:p>
        </p:txBody>
      </p:sp>
      <p:sp>
        <p:nvSpPr>
          <p:cNvPr id="26" name="evidence-ILLUSTRATIVE"/>
          <p:cNvSpPr/>
          <p:nvPr/>
        </p:nvSpPr>
        <p:spPr>
          <a:xfrm>
            <a:off x="457200" y="3840480"/>
            <a:ext cx="1234440" cy="256032"/>
          </a:xfrm>
          <a:prstGeom prst="roundRect">
            <a:avLst>
              <a:gd name="adj" fmla="val 50000"/>
            </a:avLst>
          </a:prstGeom>
          <a:solidFill>
            <a:srgbClr val="EDEDED"/>
          </a:solidFill>
          <a:ln w="12700">
            <a:solidFill>
              <a:srgbClr val="EDEDED"/>
            </a:solidFill>
            <a:prstDash val="solid"/>
          </a:ln>
        </p:spPr>
      </p:sp>
      <p:sp>
        <p:nvSpPr>
          <p:cNvPr id="27" name="Text 24"/>
          <p:cNvSpPr txBox="1"/>
          <p:nvPr/>
        </p:nvSpPr>
        <p:spPr>
          <a:xfrm>
            <a:off x="457200" y="3840480"/>
            <a:ext cx="1234440" cy="256032"/>
          </a:xfrm>
          <a:prstGeom prst="rect">
            <a:avLst/>
          </a:prstGeom>
          <a:noFill/>
          <a:ln/>
        </p:spPr>
        <p:txBody>
          <a:bodyPr wrap="square" lIns="0" tIns="0" rIns="0" bIns="0" rtlCol="0" anchor="ctr"/>
          <a:lstStyle/>
          <a:p>
            <a:pPr algn="ctr" indent="0" marL="0">
              <a:buNone/>
            </a:pPr>
            <a:r>
              <a:rPr lang="en-US" sz="950" b="1" dirty="0">
                <a:solidFill>
                  <a:srgbClr val="4A4A4A"/>
                </a:solidFill>
                <a:latin typeface="Calibri" pitchFamily="34" charset="0"/>
                <a:ea typeface="Calibri" pitchFamily="34" charset="-122"/>
                <a:cs typeface="Calibri" pitchFamily="34" charset="-120"/>
              </a:rPr>
              <a:t>ILLUSTRATIVE</a:t>
            </a:r>
            <a:endParaRPr lang="en-US" sz="950" dirty="0"/>
          </a:p>
        </p:txBody>
      </p:sp>
      <p:sp>
        <p:nvSpPr>
          <p:cNvPr id="28" name="Text 25"/>
          <p:cNvSpPr txBox="1"/>
          <p:nvPr/>
        </p:nvSpPr>
        <p:spPr>
          <a:xfrm>
            <a:off x="1783080" y="3803904"/>
            <a:ext cx="5943600" cy="32004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One van; rider 1 has waited 8 min; a party of two has waited 1 min</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4160520"/>
          <a:ext cx="6766560" cy="914400"/>
        </p:xfrm>
        <a:graphic>
          <a:graphicData uri="http://schemas.openxmlformats.org/drawingml/2006/table">
            <a:tbl>
              <a:tblPr/>
              <a:tblGrid>
                <a:gridCol w="2377440"/>
                <a:gridCol w="1005840"/>
                <a:gridCol w="914400"/>
                <a:gridCol w="914400"/>
                <a:gridCol w="1554480"/>
              </a:tblGrid>
              <a:tr h="36576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Candidate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Waiting</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Riding</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Driving</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Points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Route A: rider 1 first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52.5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b="1" dirty="0">
                          <a:solidFill>
                            <a:srgbClr val="0F7A57"/>
                          </a:solidFill>
                          <a:latin typeface="Calibri" pitchFamily="34" charset="0"/>
                          <a:ea typeface="Calibri" pitchFamily="34" charset="-122"/>
                          <a:cs typeface="Calibri" pitchFamily="34" charset="-120"/>
                        </a:rPr>
                        <a:t>66.5  ✓ chosen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Route B: party of two first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67.5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12.5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81.0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30" name="Text 26"/>
          <p:cNvSpPr txBox="1"/>
          <p:nvPr/>
        </p:nvSpPr>
        <p:spPr>
          <a:xfrm>
            <a:off x="457200" y="5303520"/>
            <a:ext cx="6766560" cy="365760"/>
          </a:xfrm>
          <a:prstGeom prst="rect">
            <a:avLst/>
          </a:prstGeom>
          <a:noFill/>
          <a:ln/>
        </p:spPr>
        <p:txBody>
          <a:bodyPr wrap="square" lIns="635" tIns="635" rIns="635" bIns="635" rtlCol="0" anchor="t"/>
          <a:lstStyle/>
          <a:p>
            <a:pPr indent="0" marL="0">
              <a:buNone/>
            </a:pPr>
            <a:r>
              <a:rPr lang="en-US" sz="1200" dirty="0">
                <a:solidFill>
                  <a:srgbClr val="5B6670"/>
                </a:solidFill>
                <a:latin typeface="Calibri" pitchFamily="34" charset="0"/>
                <a:ea typeface="Calibri" pitchFamily="34" charset="-122"/>
                <a:cs typeface="Calibri" pitchFamily="34" charset="-120"/>
              </a:rPr>
              <a:t>In Route B rider 1 would wait 16 min; past 15 min each minute costs 10 points per passenger.</a:t>
            </a:r>
            <a:endParaRPr lang="en-US" sz="1200" dirty="0"/>
          </a:p>
        </p:txBody>
      </p:sp>
      <p:sp>
        <p:nvSpPr>
          <p:cNvPr id="31" name="Shape 27"/>
          <p:cNvSpPr/>
          <p:nvPr/>
        </p:nvSpPr>
        <p:spPr>
          <a:xfrm>
            <a:off x="7498080" y="3840480"/>
            <a:ext cx="4206240" cy="2286000"/>
          </a:xfrm>
          <a:prstGeom prst="roundRect">
            <a:avLst>
              <a:gd name="adj" fmla="val 2800"/>
            </a:avLst>
          </a:prstGeom>
          <a:solidFill>
            <a:srgbClr val="E8F1FB"/>
          </a:solidFill>
          <a:ln w="15875">
            <a:solidFill>
              <a:srgbClr val="2A78D6"/>
            </a:solidFill>
            <a:prstDash val="solid"/>
          </a:ln>
        </p:spPr>
      </p:sp>
      <p:sp>
        <p:nvSpPr>
          <p:cNvPr id="32" name="Text 28"/>
          <p:cNvSpPr txBox="1"/>
          <p:nvPr/>
        </p:nvSpPr>
        <p:spPr>
          <a:xfrm>
            <a:off x="7635240" y="3904488"/>
            <a:ext cx="3931920" cy="2148840"/>
          </a:xfrm>
          <a:prstGeom prst="rect">
            <a:avLst/>
          </a:prstGeom>
          <a:noFill/>
          <a:ln/>
        </p:spPr>
        <p:txBody>
          <a:bodyPr wrap="square" lIns="635" tIns="635" rIns="635" bIns="635" rtlCol="0" anchor="ctr"/>
          <a:lstStyle/>
          <a:p>
            <a:pPr indent="0" marL="0">
              <a:buNone/>
            </a:pPr>
            <a:r>
              <a:rPr lang="en-US" sz="1350" b="1" dirty="0">
                <a:solidFill>
                  <a:srgbClr val="1E2933"/>
                </a:solidFill>
                <a:latin typeface="Calibri" pitchFamily="34" charset="0"/>
                <a:ea typeface="Calibri" pitchFamily="34" charset="-122"/>
                <a:cs typeface="Calibri" pitchFamily="34" charset="-120"/>
              </a:rPr>
              <a:t>‘Optimal’ means best among the candidate plans generated at that decision moment—not the best possible whole evening.</a:t>
            </a:r>
            <a:endParaRPr lang="en-US" sz="1350" dirty="0"/>
          </a:p>
          <a:p>
            <a:pPr indent="0" marL="0">
              <a:buNone/>
            </a:pPr>
            <a:r>
              <a:rPr lang="en-US" sz="1350" dirty="0">
                <a:solidFill>
                  <a:srgbClr val="1E2933"/>
                </a:solidFill>
                <a:latin typeface="Calibri" pitchFamily="34" charset="0"/>
                <a:ea typeface="Calibri" pitchFamily="34" charset="-122"/>
                <a:cs typeface="Calibri" pitchFamily="34" charset="-120"/>
              </a:rPr>
              <a:t>Candidates: each van takes at most 3 new pickups, each set in its best stop order. Points are priorities, not money.</a:t>
            </a:r>
            <a:endParaRPr lang="en-US" sz="1350" dirty="0"/>
          </a:p>
        </p:txBody>
      </p:sp>
      <p:sp>
        <p:nvSpPr>
          <p:cNvPr id="33" name="Text 29"/>
          <p:cNvSpPr txBox="1"/>
          <p:nvPr/>
        </p:nvSpPr>
        <p:spPr>
          <a:xfrm>
            <a:off x="457200" y="5806440"/>
            <a:ext cx="1828800" cy="274320"/>
          </a:xfrm>
          <a:prstGeom prst="rect">
            <a:avLst/>
          </a:prstGeom>
          <a:noFill/>
          <a:ln/>
        </p:spPr>
        <p:txBody>
          <a:bodyPr wrap="square" lIns="635" tIns="635" rIns="635" bIns="635" rtlCol="0" anchor="t"/>
          <a:lstStyle/>
          <a:p>
            <a:pPr indent="0" marL="0">
              <a:buNone/>
            </a:pPr>
            <a:r>
              <a:rPr lang="en-US" sz="1100" u="sng" dirty="0">
                <a:solidFill>
                  <a:srgbClr val="2A78D6"/>
                </a:solidFill>
                <a:latin typeface="Calibri" pitchFamily="34" charset="0"/>
                <a:ea typeface="Calibri" pitchFamily="34" charset="-122"/>
                <a:cs typeface="Calibri" pitchFamily="34" charset="-120"/>
                <a:hlinkClick r:id="rId1" action="ppaction://hlinksldjump" tooltip="Go to slide 31">
                  <a:extLst>
                    <a:ext uri="{A12FA001-AC4F-418D-AE19-62706E023703}">
                      <ahyp:hlinkClr xmlns:ahyp="http://schemas.microsoft.com/office/drawing/2018/hyperlinkcolor" val="tx"/>
                    </a:ext>
                  </a:extLst>
                </a:hlinkClick>
              </a:rPr>
              <a:t>Formulation: B2 →</a:t>
            </a:r>
            <a:endParaRPr lang="en-US" sz="1100" dirty="0"/>
          </a:p>
        </p:txBody>
      </p:sp>
      <p:sp>
        <p:nvSpPr>
          <p:cNvPr id="34" name="Text 30"/>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docs/technical/model_design.md v0.5 §3–§4; scenario_methodology.md §6 (worked example; boarding time omitted).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We changed the transfer decision, not the van dispatcher</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7863840" cy="914400"/>
        </p:xfrm>
        <a:graphic>
          <a:graphicData uri="http://schemas.openxmlformats.org/drawingml/2006/table">
            <a:tbl>
              <a:tblPr/>
              <a:tblGrid>
                <a:gridCol w="2743200"/>
                <a:gridCol w="2560320"/>
                <a:gridCol w="256032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reads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Moves the request to Lyft when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54864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Vans only</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never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Wait ten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time already waited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now − request time ≥ 10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r>
              <a:tr h="54864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Wait fifteen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time already waited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now − request time ≥ 15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EF1F4"/>
                    </a:solidFill>
                  </a:tcPr>
                </a:tc>
              </a:tr>
              <a:tr h="54864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Unassigned for ten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time continuously outside every van plan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 10 min (timer resets when the request enters a plan)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9F7F1"/>
                    </a:solidFill>
                  </a:tcPr>
                </a:tc>
              </a:tr>
              <a:tr h="54864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Predicted total wait exceeds fifteen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8F1FB"/>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predicted pickup clock time − request clock time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8F1FB"/>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&gt; 15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8F1FB"/>
                    </a:solidFill>
                  </a:tcPr>
                </a:tc>
              </a:tr>
              <a:tr h="548640">
                <a:tc>
                  <a:txBody>
                    <a:bodyPr/>
                    <a:lstStyle/>
                    <a:p>
                      <a:pPr indent="0" marL="0">
                        <a:buNone/>
                      </a:pPr>
                      <a:r>
                        <a:rPr lang="en-US" sz="1300" b="1" dirty="0">
                          <a:solidFill>
                            <a:srgbClr val="1E2933"/>
                          </a:solidFill>
                          <a:latin typeface="Calibri" pitchFamily="34" charset="0"/>
                          <a:ea typeface="Calibri" pitchFamily="34" charset="-122"/>
                          <a:cs typeface="Calibri" pitchFamily="34" charset="-120"/>
                        </a:rPr>
                        <a:t>Lyft arrives sooner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8F1FB"/>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predicted van pickup vs expected Lyft pickup</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8F1FB"/>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van predicted later than now + 2 lag + 8 typical + 2 margin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E8F1FB"/>
                    </a:solidFill>
                  </a:tcPr>
                </a:tc>
              </a:tr>
            </a:tbl>
          </a:graphicData>
        </a:graphic>
      </p:graphicFrame>
      <p:sp>
        <p:nvSpPr>
          <p:cNvPr id="6" name="Text 2"/>
          <p:cNvSpPr txBox="1"/>
          <p:nvPr/>
        </p:nvSpPr>
        <p:spPr>
          <a:xfrm>
            <a:off x="457200" y="5074920"/>
            <a:ext cx="7863840" cy="274320"/>
          </a:xfrm>
          <a:prstGeom prst="rect">
            <a:avLst/>
          </a:prstGeom>
          <a:noFill/>
          <a:ln/>
        </p:spPr>
        <p:txBody>
          <a:bodyPr wrap="square" lIns="635" tIns="635" rIns="635" bIns="635" rtlCol="0" anchor="t"/>
          <a:lstStyle/>
          <a:p>
            <a:pPr indent="0" marL="0">
              <a:buNone/>
            </a:pPr>
            <a:r>
              <a:rPr lang="en-US" sz="1200" dirty="0">
                <a:solidFill>
                  <a:srgbClr val="5B6670"/>
                </a:solidFill>
                <a:latin typeface="Calibri" pitchFamily="34" charset="0"/>
                <a:ea typeface="Calibri" pitchFamily="34" charset="-122"/>
                <a:cs typeface="Calibri" pitchFamily="34" charset="-120"/>
              </a:rPr>
              <a:t>grey: waiting-time rules · green: continuously unassigned time · blue: the predictive rules (they read the van plan's prediction)</a:t>
            </a:r>
            <a:endParaRPr lang="en-US" sz="1200" dirty="0"/>
          </a:p>
        </p:txBody>
      </p:sp>
      <p:sp>
        <p:nvSpPr>
          <p:cNvPr id="7" name="Shape 3"/>
          <p:cNvSpPr/>
          <p:nvPr/>
        </p:nvSpPr>
        <p:spPr>
          <a:xfrm>
            <a:off x="8595360" y="1005840"/>
            <a:ext cx="3108960" cy="2331720"/>
          </a:xfrm>
          <a:prstGeom prst="roundRect">
            <a:avLst>
              <a:gd name="adj" fmla="val 2745"/>
            </a:avLst>
          </a:prstGeom>
          <a:solidFill>
            <a:srgbClr val="E8F1FB"/>
          </a:solidFill>
          <a:ln w="9525">
            <a:solidFill>
              <a:srgbClr val="E8F1FB"/>
            </a:solidFill>
            <a:prstDash val="solid"/>
          </a:ln>
        </p:spPr>
      </p:sp>
      <p:sp>
        <p:nvSpPr>
          <p:cNvPr id="8" name="Text 4"/>
          <p:cNvSpPr txBox="1"/>
          <p:nvPr/>
        </p:nvSpPr>
        <p:spPr>
          <a:xfrm>
            <a:off x="8732520" y="1078992"/>
            <a:ext cx="2880360" cy="219456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Predicted total wait</a:t>
            </a:r>
            <a:endParaRPr lang="en-US" sz="1350" dirty="0"/>
          </a:p>
          <a:p>
            <a:pPr indent="0" marL="0">
              <a:buNone/>
            </a:pPr>
            <a:r>
              <a:rPr lang="en-US" sz="1350" dirty="0">
                <a:solidFill>
                  <a:srgbClr val="1E2933"/>
                </a:solidFill>
                <a:latin typeface="Calibri" pitchFamily="34" charset="0"/>
                <a:ea typeface="Calibri" pitchFamily="34" charset="-122"/>
                <a:cs typeface="Calibri" pitchFamily="34" charset="-120"/>
              </a:rPr>
              <a:t>= predicted pickup clock time − request clock time</a:t>
            </a:r>
            <a:endParaRPr lang="en-US" sz="1350" dirty="0"/>
          </a:p>
          <a:p>
            <a:pPr indent="0" marL="0">
              <a:buNone/>
            </a:pPr>
            <a:r>
              <a:rPr lang="en-US" sz="1350" dirty="0">
                <a:solidFill>
                  <a:srgbClr val="1E2933"/>
                </a:solidFill>
                <a:latin typeface="Calibri" pitchFamily="34" charset="0"/>
                <a:ea typeface="Calibri" pitchFamily="34" charset="-122"/>
                <a:cs typeface="Calibri" pitchFamily="34" charset="-120"/>
              </a:rPr>
              <a:t> </a:t>
            </a:r>
            <a:endParaRPr lang="en-US" sz="1350" dirty="0"/>
          </a:p>
          <a:p>
            <a:pPr indent="0" marL="0">
              <a:buNone/>
            </a:pPr>
            <a:r>
              <a:rPr lang="en-US" sz="1200" dirty="0">
                <a:solidFill>
                  <a:srgbClr val="5B6670"/>
                </a:solidFill>
                <a:latin typeface="Calibri" pitchFamily="34" charset="0"/>
                <a:ea typeface="Calibri" pitchFamily="34" charset="-122"/>
                <a:cs typeface="Calibri" pitchFamily="34" charset="-120"/>
              </a:rPr>
              <a:t>Predicted pickup: the van plan's time, or a tentative estimate if the request is postponed; no feasible van counts as an infinitely late pickup, so the rule fires.</a:t>
            </a:r>
            <a:endParaRPr lang="en-US" sz="1350" dirty="0"/>
          </a:p>
        </p:txBody>
      </p:sp>
      <p:sp>
        <p:nvSpPr>
          <p:cNvPr id="9" name="Shape 5"/>
          <p:cNvSpPr/>
          <p:nvPr/>
        </p:nvSpPr>
        <p:spPr>
          <a:xfrm>
            <a:off x="8595360" y="3520440"/>
            <a:ext cx="3108960" cy="1828800"/>
          </a:xfrm>
          <a:prstGeom prst="roundRect">
            <a:avLst>
              <a:gd name="adj" fmla="val 3500"/>
            </a:avLst>
          </a:prstGeom>
          <a:solidFill>
            <a:srgbClr val="EEF1F4"/>
          </a:solidFill>
          <a:ln w="9525">
            <a:solidFill>
              <a:srgbClr val="EEF1F4"/>
            </a:solidFill>
            <a:prstDash val="solid"/>
          </a:ln>
        </p:spPr>
      </p:sp>
      <p:sp>
        <p:nvSpPr>
          <p:cNvPr id="10" name="Text 6"/>
          <p:cNvSpPr txBox="1"/>
          <p:nvPr/>
        </p:nvSpPr>
        <p:spPr>
          <a:xfrm>
            <a:off x="8732520" y="3584448"/>
            <a:ext cx="2880360" cy="1691640"/>
          </a:xfrm>
          <a:prstGeom prst="rect">
            <a:avLst/>
          </a:prstGeom>
          <a:noFill/>
          <a:ln/>
        </p:spPr>
        <p:txBody>
          <a:bodyPr wrap="square" lIns="635" tIns="635" rIns="635" bIns="635" rtlCol="0" anchor="t"/>
          <a:lstStyle/>
          <a:p>
            <a:pPr indent="0" marL="0">
              <a:buNone/>
            </a:pPr>
            <a:r>
              <a:rPr lang="en-US" sz="1300" b="1" dirty="0">
                <a:solidFill>
                  <a:srgbClr val="1E2933"/>
                </a:solidFill>
                <a:latin typeface="Calibri" pitchFamily="34" charset="0"/>
                <a:ea typeface="Calibri" pitchFamily="34" charset="-122"/>
                <a:cs typeface="Calibri" pitchFamily="34" charset="-120"/>
              </a:rPr>
              <a:t>Eligible requests</a:t>
            </a:r>
            <a:endParaRPr lang="en-US" sz="1300" dirty="0"/>
          </a:p>
          <a:p>
            <a:pPr indent="0" marL="0">
              <a:buNone/>
            </a:pPr>
            <a:r>
              <a:rPr lang="en-US" sz="1300" dirty="0">
                <a:solidFill>
                  <a:srgbClr val="1E2933"/>
                </a:solidFill>
                <a:latin typeface="Calibri" pitchFamily="34" charset="0"/>
                <a:ea typeface="Calibri" pitchFamily="34" charset="-122"/>
                <a:cs typeface="Calibri" pitchFamily="34" charset="-120"/>
              </a:rPr>
              <a:t>still waiting for a van, not committed to one, and never having declined a Lyft offer. Evaluated once per decision moment.</a:t>
            </a:r>
            <a:endParaRPr lang="en-US" sz="1300" dirty="0"/>
          </a:p>
        </p:txBody>
      </p:sp>
      <p:sp>
        <p:nvSpPr>
          <p:cNvPr id="11" name="Text 7"/>
          <p:cNvSpPr txBox="1"/>
          <p:nvPr/>
        </p:nvSpPr>
        <p:spPr>
          <a:xfrm>
            <a:off x="457200" y="5440680"/>
            <a:ext cx="7863840" cy="320040"/>
          </a:xfrm>
          <a:prstGeom prst="rect">
            <a:avLst/>
          </a:prstGeom>
          <a:noFill/>
          <a:ln/>
        </p:spPr>
        <p:txBody>
          <a:bodyPr wrap="square" lIns="635" tIns="635" rIns="635" bIns="635" rtlCol="0" anchor="t"/>
          <a:lstStyle/>
          <a:p>
            <a:pPr indent="0" marL="0">
              <a:buNone/>
            </a:pPr>
            <a:r>
              <a:rPr lang="en-US" sz="1300" b="1" dirty="0">
                <a:solidFill>
                  <a:srgbClr val="1E2933"/>
                </a:solidFill>
                <a:latin typeface="Calibri" pitchFamily="34" charset="0"/>
                <a:ea typeface="Calibri" pitchFamily="34" charset="-122"/>
                <a:cs typeface="Calibri" pitchFamily="34" charset="-120"/>
              </a:rPr>
              <a:t>The six thresholds were specified before any run (spec §6) and not changed after seeing results.</a:t>
            </a:r>
            <a:endParaRPr lang="en-US" sz="1300" dirty="0"/>
          </a:p>
        </p:txBody>
      </p:sp>
      <p:sp>
        <p:nvSpPr>
          <p:cNvPr id="12" name="Text 8"/>
          <p:cNvSpPr txBox="1"/>
          <p:nvPr/>
        </p:nvSpPr>
        <p:spPr>
          <a:xfrm>
            <a:off x="457200" y="5852160"/>
            <a:ext cx="1645920" cy="274320"/>
          </a:xfrm>
          <a:prstGeom prst="rect">
            <a:avLst/>
          </a:prstGeom>
          <a:noFill/>
          <a:ln/>
        </p:spPr>
        <p:txBody>
          <a:bodyPr wrap="square" lIns="635" tIns="635" rIns="635" bIns="635" rtlCol="0" anchor="t"/>
          <a:lstStyle/>
          <a:p>
            <a:pPr indent="0" marL="0">
              <a:buNone/>
            </a:pPr>
            <a:r>
              <a:rPr lang="en-US" sz="1100" u="sng" dirty="0">
                <a:solidFill>
                  <a:srgbClr val="2A78D6"/>
                </a:solidFill>
                <a:latin typeface="Calibri" pitchFamily="34" charset="0"/>
                <a:ea typeface="Calibri" pitchFamily="34" charset="-122"/>
                <a:cs typeface="Calibri" pitchFamily="34" charset="-120"/>
                <a:hlinkClick r:id="rId1" action="ppaction://hlinksldjump" tooltip="Go to slide 30">
                  <a:extLst>
                    <a:ext uri="{A12FA001-AC4F-418D-AE19-62706E023703}">
                      <ahyp:hlinkClr xmlns:ahyp="http://schemas.microsoft.com/office/drawing/2018/hyperlinkcolor" val="tx"/>
                    </a:ext>
                  </a:extLst>
                </a:hlinkClick>
              </a:rPr>
              <a:t>Code key: B1 →</a:t>
            </a:r>
            <a:endParaRPr lang="en-US" sz="1100" dirty="0"/>
          </a:p>
        </p:txBody>
      </p:sp>
      <p:sp>
        <p:nvSpPr>
          <p:cNvPr id="13" name="Text 9"/>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src/sim/lyft.py; engine.py:305-330; docs/technical/scenario_spec.md v0.8 §6–§7; preregistration_v2.md (draft).</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What does ‘Lyft arrives sooner’ actually compare?</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18</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rule compares predicted van pickup with expected Lyft pickup, including the ordering delay.</a:t>
            </a:r>
            <a:endParaRPr lang="en-US" sz="1700" dirty="0"/>
          </a:p>
        </p:txBody>
      </p:sp>
      <p:sp>
        <p:nvSpPr>
          <p:cNvPr id="6" name="evidence-DESIGNED"/>
          <p:cNvSpPr/>
          <p:nvPr/>
        </p:nvSpPr>
        <p:spPr>
          <a:xfrm>
            <a:off x="457200" y="1463040"/>
            <a:ext cx="1097280" cy="256032"/>
          </a:xfrm>
          <a:prstGeom prst="roundRect">
            <a:avLst>
              <a:gd name="adj" fmla="val 50000"/>
            </a:avLst>
          </a:prstGeom>
          <a:solidFill>
            <a:srgbClr val="E8E4FA"/>
          </a:solidFill>
          <a:ln w="12700">
            <a:solidFill>
              <a:srgbClr val="E8E4FA"/>
            </a:solidFill>
            <a:prstDash val="solid"/>
          </a:ln>
        </p:spPr>
      </p:sp>
      <p:sp>
        <p:nvSpPr>
          <p:cNvPr id="7" name="Text 4"/>
          <p:cNvSpPr txBox="1"/>
          <p:nvPr/>
        </p:nvSpPr>
        <p:spPr>
          <a:xfrm>
            <a:off x="457200" y="1463040"/>
            <a:ext cx="1097280" cy="256032"/>
          </a:xfrm>
          <a:prstGeom prst="rect">
            <a:avLst/>
          </a:prstGeom>
          <a:noFill/>
          <a:ln/>
        </p:spPr>
        <p:txBody>
          <a:bodyPr wrap="square" lIns="0" tIns="0" rIns="0" bIns="0" rtlCol="0" anchor="ctr"/>
          <a:lstStyle/>
          <a:p>
            <a:pPr algn="ctr" indent="0" marL="0">
              <a:buNone/>
            </a:pPr>
            <a:r>
              <a:rPr lang="en-US" sz="950" b="1" dirty="0">
                <a:solidFill>
                  <a:srgbClr val="3F2F9E"/>
                </a:solidFill>
                <a:latin typeface="Calibri" pitchFamily="34" charset="0"/>
                <a:ea typeface="Calibri" pitchFamily="34" charset="-122"/>
                <a:cs typeface="Calibri" pitchFamily="34" charset="-120"/>
              </a:rPr>
              <a:t>DESIGNED</a:t>
            </a:r>
            <a:endParaRPr lang="en-US" sz="950" dirty="0"/>
          </a:p>
        </p:txBody>
      </p:sp>
      <p:sp>
        <p:nvSpPr>
          <p:cNvPr id="8" name="Text 5"/>
          <p:cNvSpPr txBox="1"/>
          <p:nvPr/>
        </p:nvSpPr>
        <p:spPr>
          <a:xfrm>
            <a:off x="1645920" y="1426464"/>
            <a:ext cx="10058400" cy="329184"/>
          </a:xfrm>
          <a:prstGeom prst="rect">
            <a:avLst/>
          </a:prstGeom>
          <a:noFill/>
          <a:ln/>
        </p:spPr>
        <p:txBody>
          <a:bodyPr wrap="square" lIns="635" tIns="635" rIns="635" bIns="635" rtlCol="0" anchor="t"/>
          <a:lstStyle/>
          <a:p>
            <a:pPr indent="0" marL="0">
              <a:buNone/>
            </a:pPr>
            <a:r>
              <a:rPr lang="en-US" sz="1250" dirty="0">
                <a:solidFill>
                  <a:srgbClr val="5B6670"/>
                </a:solidFill>
                <a:latin typeface="Calibri" pitchFamily="34" charset="0"/>
                <a:ea typeface="Calibri" pitchFamily="34" charset="-122"/>
                <a:cs typeface="Calibri" pitchFamily="34" charset="-120"/>
              </a:rPr>
              <a:t>A small hand-built evening, separate from the randomized pilot. Here the Lyft delay is fixed, so expected and realized Lyft times coincide by design.</a:t>
            </a:r>
            <a:endParaRPr lang="en-US" sz="1250" dirty="0"/>
          </a:p>
        </p:txBody>
      </p:sp>
      <p:sp>
        <p:nvSpPr>
          <p:cNvPr id="9" name="Shape 6"/>
          <p:cNvSpPr/>
          <p:nvPr/>
        </p:nvSpPr>
        <p:spPr>
          <a:xfrm>
            <a:off x="731520" y="4069080"/>
            <a:ext cx="10789920" cy="914"/>
          </a:xfrm>
          <a:prstGeom prst="line">
            <a:avLst/>
          </a:prstGeom>
          <a:noFill/>
          <a:ln w="19050">
            <a:solidFill>
              <a:srgbClr val="1E2933"/>
            </a:solidFill>
            <a:prstDash val="solid"/>
          </a:ln>
        </p:spPr>
      </p:sp>
      <p:sp>
        <p:nvSpPr>
          <p:cNvPr id="10" name="Shape 7"/>
          <p:cNvSpPr/>
          <p:nvPr/>
        </p:nvSpPr>
        <p:spPr>
          <a:xfrm>
            <a:off x="731520" y="4005072"/>
            <a:ext cx="914" cy="128016"/>
          </a:xfrm>
          <a:prstGeom prst="line">
            <a:avLst/>
          </a:prstGeom>
          <a:noFill/>
          <a:ln w="12700">
            <a:solidFill>
              <a:srgbClr val="1E2933"/>
            </a:solidFill>
            <a:prstDash val="solid"/>
          </a:ln>
        </p:spPr>
      </p:sp>
      <p:sp>
        <p:nvSpPr>
          <p:cNvPr id="11" name="Text 8"/>
          <p:cNvSpPr txBox="1"/>
          <p:nvPr/>
        </p:nvSpPr>
        <p:spPr>
          <a:xfrm>
            <a:off x="365760" y="4160520"/>
            <a:ext cx="731520" cy="256032"/>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18:15</a:t>
            </a:r>
            <a:endParaRPr lang="en-US" sz="1000" dirty="0"/>
          </a:p>
        </p:txBody>
      </p:sp>
      <p:sp>
        <p:nvSpPr>
          <p:cNvPr id="12" name="Shape 9"/>
          <p:cNvSpPr/>
          <p:nvPr/>
        </p:nvSpPr>
        <p:spPr>
          <a:xfrm>
            <a:off x="3905026" y="4005072"/>
            <a:ext cx="914" cy="128016"/>
          </a:xfrm>
          <a:prstGeom prst="line">
            <a:avLst/>
          </a:prstGeom>
          <a:noFill/>
          <a:ln w="12700">
            <a:solidFill>
              <a:srgbClr val="1E2933"/>
            </a:solidFill>
            <a:prstDash val="solid"/>
          </a:ln>
        </p:spPr>
      </p:sp>
      <p:sp>
        <p:nvSpPr>
          <p:cNvPr id="13" name="Text 10"/>
          <p:cNvSpPr txBox="1"/>
          <p:nvPr/>
        </p:nvSpPr>
        <p:spPr>
          <a:xfrm>
            <a:off x="3539266" y="4160520"/>
            <a:ext cx="731520" cy="256032"/>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18:20</a:t>
            </a:r>
            <a:endParaRPr lang="en-US" sz="1000" dirty="0"/>
          </a:p>
        </p:txBody>
      </p:sp>
      <p:sp>
        <p:nvSpPr>
          <p:cNvPr id="14" name="Shape 11"/>
          <p:cNvSpPr/>
          <p:nvPr/>
        </p:nvSpPr>
        <p:spPr>
          <a:xfrm>
            <a:off x="7078532" y="4005072"/>
            <a:ext cx="914" cy="128016"/>
          </a:xfrm>
          <a:prstGeom prst="line">
            <a:avLst/>
          </a:prstGeom>
          <a:noFill/>
          <a:ln w="12700">
            <a:solidFill>
              <a:srgbClr val="1E2933"/>
            </a:solidFill>
            <a:prstDash val="solid"/>
          </a:ln>
        </p:spPr>
      </p:sp>
      <p:sp>
        <p:nvSpPr>
          <p:cNvPr id="15" name="Text 12"/>
          <p:cNvSpPr txBox="1"/>
          <p:nvPr/>
        </p:nvSpPr>
        <p:spPr>
          <a:xfrm>
            <a:off x="6712772" y="4160520"/>
            <a:ext cx="731520" cy="256032"/>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18:25</a:t>
            </a:r>
            <a:endParaRPr lang="en-US" sz="1000" dirty="0"/>
          </a:p>
        </p:txBody>
      </p:sp>
      <p:sp>
        <p:nvSpPr>
          <p:cNvPr id="16" name="Shape 13"/>
          <p:cNvSpPr/>
          <p:nvPr/>
        </p:nvSpPr>
        <p:spPr>
          <a:xfrm>
            <a:off x="10252038" y="4005072"/>
            <a:ext cx="914" cy="128016"/>
          </a:xfrm>
          <a:prstGeom prst="line">
            <a:avLst/>
          </a:prstGeom>
          <a:noFill/>
          <a:ln w="12700">
            <a:solidFill>
              <a:srgbClr val="1E2933"/>
            </a:solidFill>
            <a:prstDash val="solid"/>
          </a:ln>
        </p:spPr>
      </p:sp>
      <p:sp>
        <p:nvSpPr>
          <p:cNvPr id="17" name="Text 14"/>
          <p:cNvSpPr txBox="1"/>
          <p:nvPr/>
        </p:nvSpPr>
        <p:spPr>
          <a:xfrm>
            <a:off x="9886278" y="4160520"/>
            <a:ext cx="731520" cy="256032"/>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18:30</a:t>
            </a:r>
            <a:endParaRPr lang="en-US" sz="1000" dirty="0"/>
          </a:p>
        </p:txBody>
      </p:sp>
      <p:sp>
        <p:nvSpPr>
          <p:cNvPr id="18" name="Shape 15"/>
          <p:cNvSpPr/>
          <p:nvPr/>
        </p:nvSpPr>
        <p:spPr>
          <a:xfrm>
            <a:off x="1683572" y="3959352"/>
            <a:ext cx="6664362" cy="219456"/>
          </a:xfrm>
          <a:prstGeom prst="rect">
            <a:avLst/>
          </a:prstGeom>
          <a:solidFill>
            <a:srgbClr val="EDA100">
              <a:alpha val="45000"/>
            </a:srgbClr>
          </a:solidFill>
          <a:ln w="12700">
            <a:solidFill>
              <a:srgbClr val="EDA100"/>
            </a:solidFill>
            <a:prstDash val="solid"/>
          </a:ln>
        </p:spPr>
      </p:sp>
      <p:sp>
        <p:nvSpPr>
          <p:cNvPr id="19" name="Shape 16"/>
          <p:cNvSpPr/>
          <p:nvPr/>
        </p:nvSpPr>
        <p:spPr>
          <a:xfrm>
            <a:off x="8347934" y="4014216"/>
            <a:ext cx="2168562" cy="109728"/>
          </a:xfrm>
          <a:prstGeom prst="rect">
            <a:avLst/>
          </a:prstGeom>
          <a:solidFill>
            <a:srgbClr val="EB6834"/>
          </a:solidFill>
          <a:ln w="12700">
            <a:solidFill>
              <a:srgbClr val="EB6834"/>
            </a:solidFill>
            <a:prstDash val="solid"/>
          </a:ln>
        </p:spPr>
      </p:sp>
      <p:sp>
        <p:nvSpPr>
          <p:cNvPr id="20" name="Shape 17"/>
          <p:cNvSpPr/>
          <p:nvPr/>
        </p:nvSpPr>
        <p:spPr>
          <a:xfrm>
            <a:off x="1592132" y="3977640"/>
            <a:ext cx="182880" cy="182880"/>
          </a:xfrm>
          <a:prstGeom prst="ellipse">
            <a:avLst/>
          </a:prstGeom>
          <a:solidFill>
            <a:srgbClr val="1E2933"/>
          </a:solidFill>
          <a:ln w="15875">
            <a:solidFill>
              <a:srgbClr val="1E2933"/>
            </a:solidFill>
            <a:prstDash val="solid"/>
          </a:ln>
        </p:spPr>
      </p:sp>
      <p:sp>
        <p:nvSpPr>
          <p:cNvPr id="21" name="Shape 18"/>
          <p:cNvSpPr/>
          <p:nvPr/>
        </p:nvSpPr>
        <p:spPr>
          <a:xfrm>
            <a:off x="1683572" y="3154680"/>
            <a:ext cx="914" cy="822960"/>
          </a:xfrm>
          <a:prstGeom prst="line">
            <a:avLst/>
          </a:prstGeom>
          <a:noFill/>
          <a:ln w="12700">
            <a:solidFill>
              <a:srgbClr val="D5DADF"/>
            </a:solidFill>
            <a:prstDash val="solid"/>
          </a:ln>
        </p:spPr>
      </p:sp>
      <p:sp>
        <p:nvSpPr>
          <p:cNvPr id="22" name="Text 19"/>
          <p:cNvSpPr txBox="1"/>
          <p:nvPr/>
        </p:nvSpPr>
        <p:spPr>
          <a:xfrm>
            <a:off x="769172" y="2651760"/>
            <a:ext cx="1828800" cy="502920"/>
          </a:xfrm>
          <a:prstGeom prst="rect">
            <a:avLst/>
          </a:prstGeom>
          <a:noFill/>
          <a:ln/>
        </p:spPr>
        <p:txBody>
          <a:bodyPr wrap="square" lIns="635" tIns="635" rIns="635" bIns="635" rtlCol="0" anchor="t"/>
          <a:lstStyle/>
          <a:p>
            <a:pPr algn="ctr" indent="0" marL="0">
              <a:buNone/>
            </a:pPr>
            <a:r>
              <a:rPr lang="en-US" sz="1200" b="1" dirty="0">
                <a:solidFill>
                  <a:srgbClr val="1E2933"/>
                </a:solidFill>
                <a:latin typeface="Calibri" pitchFamily="34" charset="0"/>
                <a:ea typeface="Calibri" pitchFamily="34" charset="-122"/>
                <a:cs typeface="Calibri" pitchFamily="34" charset="-120"/>
              </a:rPr>
              <a:t>Request</a:t>
            </a:r>
            <a:endParaRPr lang="en-US" sz="1200" dirty="0"/>
          </a:p>
          <a:p>
            <a:pPr algn="ctr" indent="0" marL="0">
              <a:buNone/>
            </a:pPr>
            <a:r>
              <a:rPr lang="en-US" sz="1200" dirty="0">
                <a:solidFill>
                  <a:srgbClr val="5B6670"/>
                </a:solidFill>
                <a:latin typeface="Calibri" pitchFamily="34" charset="0"/>
                <a:ea typeface="Calibri" pitchFamily="34" charset="-122"/>
                <a:cs typeface="Calibri" pitchFamily="34" charset="-120"/>
              </a:rPr>
              <a:t>18:16:30</a:t>
            </a:r>
            <a:endParaRPr lang="en-US" sz="1200" dirty="0"/>
          </a:p>
        </p:txBody>
      </p:sp>
      <p:sp>
        <p:nvSpPr>
          <p:cNvPr id="23" name="Shape 20"/>
          <p:cNvSpPr/>
          <p:nvPr/>
        </p:nvSpPr>
        <p:spPr>
          <a:xfrm>
            <a:off x="1909482" y="3977640"/>
            <a:ext cx="182880" cy="182880"/>
          </a:xfrm>
          <a:prstGeom prst="ellipse">
            <a:avLst/>
          </a:prstGeom>
          <a:solidFill>
            <a:srgbClr val="1E2933"/>
          </a:solidFill>
          <a:ln w="15875">
            <a:solidFill>
              <a:srgbClr val="1E2933"/>
            </a:solidFill>
            <a:prstDash val="solid"/>
          </a:ln>
        </p:spPr>
      </p:sp>
      <p:sp>
        <p:nvSpPr>
          <p:cNvPr id="24" name="Shape 21"/>
          <p:cNvSpPr/>
          <p:nvPr/>
        </p:nvSpPr>
        <p:spPr>
          <a:xfrm>
            <a:off x="2000922" y="4160520"/>
            <a:ext cx="914" cy="411480"/>
          </a:xfrm>
          <a:prstGeom prst="line">
            <a:avLst/>
          </a:prstGeom>
          <a:noFill/>
          <a:ln w="12700">
            <a:solidFill>
              <a:srgbClr val="D5DADF"/>
            </a:solidFill>
            <a:prstDash val="solid"/>
          </a:ln>
        </p:spPr>
      </p:sp>
      <p:sp>
        <p:nvSpPr>
          <p:cNvPr id="25" name="Text 22"/>
          <p:cNvSpPr txBox="1"/>
          <p:nvPr/>
        </p:nvSpPr>
        <p:spPr>
          <a:xfrm>
            <a:off x="1086522" y="4572000"/>
            <a:ext cx="1828800" cy="502920"/>
          </a:xfrm>
          <a:prstGeom prst="rect">
            <a:avLst/>
          </a:prstGeom>
          <a:noFill/>
          <a:ln/>
        </p:spPr>
        <p:txBody>
          <a:bodyPr wrap="square" lIns="635" tIns="635" rIns="635" bIns="635" rtlCol="0" anchor="t"/>
          <a:lstStyle/>
          <a:p>
            <a:pPr algn="ctr" indent="0" marL="0">
              <a:buNone/>
            </a:pPr>
            <a:r>
              <a:rPr lang="en-US" sz="1200" b="1" dirty="0">
                <a:solidFill>
                  <a:srgbClr val="1E2933"/>
                </a:solidFill>
                <a:latin typeface="Calibri" pitchFamily="34" charset="0"/>
                <a:ea typeface="Calibri" pitchFamily="34" charset="-122"/>
                <a:cs typeface="Calibri" pitchFamily="34" charset="-120"/>
              </a:rPr>
              <a:t>Decision: compare</a:t>
            </a:r>
            <a:endParaRPr lang="en-US" sz="1200" dirty="0"/>
          </a:p>
          <a:p>
            <a:pPr algn="ctr" indent="0" marL="0">
              <a:buNone/>
            </a:pPr>
            <a:r>
              <a:rPr lang="en-US" sz="1200" dirty="0">
                <a:solidFill>
                  <a:srgbClr val="5B6670"/>
                </a:solidFill>
                <a:latin typeface="Calibri" pitchFamily="34" charset="0"/>
                <a:ea typeface="Calibri" pitchFamily="34" charset="-122"/>
                <a:cs typeface="Calibri" pitchFamily="34" charset="-120"/>
              </a:rPr>
              <a:t>18:17:00</a:t>
            </a:r>
            <a:endParaRPr lang="en-US" sz="1200" dirty="0"/>
          </a:p>
        </p:txBody>
      </p:sp>
      <p:sp>
        <p:nvSpPr>
          <p:cNvPr id="26" name="Shape 23"/>
          <p:cNvSpPr/>
          <p:nvPr/>
        </p:nvSpPr>
        <p:spPr>
          <a:xfrm>
            <a:off x="3178885" y="3977640"/>
            <a:ext cx="182880" cy="182880"/>
          </a:xfrm>
          <a:prstGeom prst="ellipse">
            <a:avLst/>
          </a:prstGeom>
          <a:solidFill>
            <a:srgbClr val="EB6834"/>
          </a:solidFill>
          <a:ln w="15875">
            <a:solidFill>
              <a:srgbClr val="EB6834"/>
            </a:solidFill>
            <a:prstDash val="solid"/>
          </a:ln>
        </p:spPr>
      </p:sp>
      <p:sp>
        <p:nvSpPr>
          <p:cNvPr id="27" name="Shape 24"/>
          <p:cNvSpPr/>
          <p:nvPr/>
        </p:nvSpPr>
        <p:spPr>
          <a:xfrm>
            <a:off x="3270325" y="3657600"/>
            <a:ext cx="914" cy="320040"/>
          </a:xfrm>
          <a:prstGeom prst="line">
            <a:avLst/>
          </a:prstGeom>
          <a:noFill/>
          <a:ln w="12700">
            <a:solidFill>
              <a:srgbClr val="D5DADF"/>
            </a:solidFill>
            <a:prstDash val="solid"/>
          </a:ln>
        </p:spPr>
      </p:sp>
      <p:sp>
        <p:nvSpPr>
          <p:cNvPr id="28" name="Text 25"/>
          <p:cNvSpPr txBox="1"/>
          <p:nvPr/>
        </p:nvSpPr>
        <p:spPr>
          <a:xfrm>
            <a:off x="2355925" y="3154680"/>
            <a:ext cx="1828800" cy="502920"/>
          </a:xfrm>
          <a:prstGeom prst="rect">
            <a:avLst/>
          </a:prstGeom>
          <a:noFill/>
          <a:ln/>
        </p:spPr>
        <p:txBody>
          <a:bodyPr wrap="square" lIns="635" tIns="635" rIns="635" bIns="635" rtlCol="0" anchor="t"/>
          <a:lstStyle/>
          <a:p>
            <a:pPr algn="ctr" indent="0" marL="0">
              <a:buNone/>
            </a:pPr>
            <a:r>
              <a:rPr lang="en-US" sz="1200" b="1" dirty="0">
                <a:solidFill>
                  <a:srgbClr val="1E2933"/>
                </a:solidFill>
                <a:latin typeface="Calibri" pitchFamily="34" charset="0"/>
                <a:ea typeface="Calibri" pitchFamily="34" charset="-122"/>
                <a:cs typeface="Calibri" pitchFamily="34" charset="-120"/>
              </a:rPr>
              <a:t>Lyft ordered</a:t>
            </a:r>
            <a:endParaRPr lang="en-US" sz="1200" dirty="0"/>
          </a:p>
          <a:p>
            <a:pPr algn="ctr" indent="0" marL="0">
              <a:buNone/>
            </a:pPr>
            <a:r>
              <a:rPr lang="en-US" sz="1200" dirty="0">
                <a:solidFill>
                  <a:srgbClr val="5B6670"/>
                </a:solidFill>
                <a:latin typeface="Calibri" pitchFamily="34" charset="0"/>
                <a:ea typeface="Calibri" pitchFamily="34" charset="-122"/>
                <a:cs typeface="Calibri" pitchFamily="34" charset="-120"/>
              </a:rPr>
              <a:t>18:19:00</a:t>
            </a:r>
            <a:endParaRPr lang="en-US" sz="1200" dirty="0"/>
          </a:p>
        </p:txBody>
      </p:sp>
      <p:sp>
        <p:nvSpPr>
          <p:cNvPr id="29" name="Shape 26"/>
          <p:cNvSpPr/>
          <p:nvPr/>
        </p:nvSpPr>
        <p:spPr>
          <a:xfrm>
            <a:off x="8256494" y="3977640"/>
            <a:ext cx="182880" cy="182880"/>
          </a:xfrm>
          <a:prstGeom prst="ellipse">
            <a:avLst/>
          </a:prstGeom>
          <a:solidFill>
            <a:srgbClr val="EB6834"/>
          </a:solidFill>
          <a:ln w="15875">
            <a:solidFill>
              <a:srgbClr val="EB6834"/>
            </a:solidFill>
            <a:prstDash val="solid"/>
          </a:ln>
        </p:spPr>
      </p:sp>
      <p:sp>
        <p:nvSpPr>
          <p:cNvPr id="30" name="Shape 27"/>
          <p:cNvSpPr/>
          <p:nvPr/>
        </p:nvSpPr>
        <p:spPr>
          <a:xfrm>
            <a:off x="8347934" y="4160520"/>
            <a:ext cx="914" cy="411480"/>
          </a:xfrm>
          <a:prstGeom prst="line">
            <a:avLst/>
          </a:prstGeom>
          <a:noFill/>
          <a:ln w="12700">
            <a:solidFill>
              <a:srgbClr val="D5DADF"/>
            </a:solidFill>
            <a:prstDash val="solid"/>
          </a:ln>
        </p:spPr>
      </p:sp>
      <p:sp>
        <p:nvSpPr>
          <p:cNvPr id="31" name="Text 28"/>
          <p:cNvSpPr txBox="1"/>
          <p:nvPr/>
        </p:nvSpPr>
        <p:spPr>
          <a:xfrm>
            <a:off x="7433534" y="4572000"/>
            <a:ext cx="1828800" cy="502920"/>
          </a:xfrm>
          <a:prstGeom prst="rect">
            <a:avLst/>
          </a:prstGeom>
          <a:noFill/>
          <a:ln/>
        </p:spPr>
        <p:txBody>
          <a:bodyPr wrap="square" lIns="635" tIns="635" rIns="635" bIns="635" rtlCol="0" anchor="t"/>
          <a:lstStyle/>
          <a:p>
            <a:pPr algn="ctr" indent="0" marL="0">
              <a:buNone/>
            </a:pPr>
            <a:r>
              <a:rPr lang="en-US" sz="1200" b="1" dirty="0">
                <a:solidFill>
                  <a:srgbClr val="1E2933"/>
                </a:solidFill>
                <a:latin typeface="Calibri" pitchFamily="34" charset="0"/>
                <a:ea typeface="Calibri" pitchFamily="34" charset="-122"/>
                <a:cs typeface="Calibri" pitchFamily="34" charset="-120"/>
              </a:rPr>
              <a:t>Lyft at the curb (realized)</a:t>
            </a:r>
            <a:endParaRPr lang="en-US" sz="1200" dirty="0"/>
          </a:p>
          <a:p>
            <a:pPr algn="ctr" indent="0" marL="0">
              <a:buNone/>
            </a:pPr>
            <a:r>
              <a:rPr lang="en-US" sz="1200" dirty="0">
                <a:solidFill>
                  <a:srgbClr val="5B6670"/>
                </a:solidFill>
                <a:latin typeface="Calibri" pitchFamily="34" charset="0"/>
                <a:ea typeface="Calibri" pitchFamily="34" charset="-122"/>
                <a:cs typeface="Calibri" pitchFamily="34" charset="-120"/>
              </a:rPr>
              <a:t>18:27:00</a:t>
            </a:r>
            <a:endParaRPr lang="en-US" sz="1200" dirty="0"/>
          </a:p>
        </p:txBody>
      </p:sp>
      <p:sp>
        <p:nvSpPr>
          <p:cNvPr id="32" name="Shape 29"/>
          <p:cNvSpPr/>
          <p:nvPr/>
        </p:nvSpPr>
        <p:spPr>
          <a:xfrm>
            <a:off x="10425056" y="3977640"/>
            <a:ext cx="182880" cy="182880"/>
          </a:xfrm>
          <a:prstGeom prst="ellipse">
            <a:avLst/>
          </a:prstGeom>
          <a:solidFill>
            <a:srgbClr val="1E2933"/>
          </a:solidFill>
          <a:ln w="15875">
            <a:solidFill>
              <a:srgbClr val="1E2933"/>
            </a:solidFill>
            <a:prstDash val="solid"/>
          </a:ln>
        </p:spPr>
      </p:sp>
      <p:sp>
        <p:nvSpPr>
          <p:cNvPr id="33" name="Shape 30"/>
          <p:cNvSpPr/>
          <p:nvPr/>
        </p:nvSpPr>
        <p:spPr>
          <a:xfrm>
            <a:off x="10516496" y="4160520"/>
            <a:ext cx="914" cy="777240"/>
          </a:xfrm>
          <a:prstGeom prst="line">
            <a:avLst/>
          </a:prstGeom>
          <a:noFill/>
          <a:ln w="12700">
            <a:solidFill>
              <a:srgbClr val="D5DADF"/>
            </a:solidFill>
            <a:prstDash val="solid"/>
          </a:ln>
        </p:spPr>
      </p:sp>
      <p:sp>
        <p:nvSpPr>
          <p:cNvPr id="34" name="Text 31"/>
          <p:cNvSpPr txBox="1"/>
          <p:nvPr/>
        </p:nvSpPr>
        <p:spPr>
          <a:xfrm>
            <a:off x="9602096" y="4937760"/>
            <a:ext cx="1828800" cy="502920"/>
          </a:xfrm>
          <a:prstGeom prst="rect">
            <a:avLst/>
          </a:prstGeom>
          <a:noFill/>
          <a:ln/>
        </p:spPr>
        <p:txBody>
          <a:bodyPr wrap="square" lIns="635" tIns="635" rIns="635" bIns="635" rtlCol="0" anchor="t"/>
          <a:lstStyle/>
          <a:p>
            <a:pPr algn="ctr" indent="0" marL="0">
              <a:buNone/>
            </a:pPr>
            <a:r>
              <a:rPr lang="en-US" sz="1200" b="1" dirty="0">
                <a:solidFill>
                  <a:srgbClr val="1E2933"/>
                </a:solidFill>
                <a:latin typeface="Calibri" pitchFamily="34" charset="0"/>
                <a:ea typeface="Calibri" pitchFamily="34" charset="-122"/>
                <a:cs typeface="Calibri" pitchFamily="34" charset="-120"/>
              </a:rPr>
              <a:t>Dropped off by the Lyft</a:t>
            </a:r>
            <a:endParaRPr lang="en-US" sz="1200" dirty="0"/>
          </a:p>
          <a:p>
            <a:pPr algn="ctr" indent="0" marL="0">
              <a:buNone/>
            </a:pPr>
            <a:r>
              <a:rPr lang="en-US" sz="1200" dirty="0">
                <a:solidFill>
                  <a:srgbClr val="5B6670"/>
                </a:solidFill>
                <a:latin typeface="Calibri" pitchFamily="34" charset="0"/>
                <a:ea typeface="Calibri" pitchFamily="34" charset="-122"/>
                <a:cs typeface="Calibri" pitchFamily="34" charset="-120"/>
              </a:rPr>
              <a:t>18:30:25</a:t>
            </a:r>
            <a:endParaRPr lang="en-US" sz="1200" dirty="0"/>
          </a:p>
        </p:txBody>
      </p:sp>
      <p:sp>
        <p:nvSpPr>
          <p:cNvPr id="35" name="Shape 32"/>
          <p:cNvSpPr/>
          <p:nvPr/>
        </p:nvSpPr>
        <p:spPr>
          <a:xfrm>
            <a:off x="10236080" y="3968496"/>
            <a:ext cx="201168" cy="201168"/>
          </a:xfrm>
          <a:prstGeom prst="ellipse">
            <a:avLst/>
          </a:prstGeom>
          <a:solidFill>
            <a:srgbClr val="FFFFFF"/>
          </a:solidFill>
          <a:ln w="15875">
            <a:solidFill>
              <a:srgbClr val="6250D6"/>
            </a:solidFill>
            <a:prstDash val="solid"/>
          </a:ln>
        </p:spPr>
      </p:sp>
      <p:sp>
        <p:nvSpPr>
          <p:cNvPr id="36" name="Shape 33"/>
          <p:cNvSpPr/>
          <p:nvPr/>
        </p:nvSpPr>
        <p:spPr>
          <a:xfrm flipV="1">
            <a:off x="10336664" y="3108960"/>
            <a:ext cx="914" cy="850392"/>
          </a:xfrm>
          <a:prstGeom prst="line">
            <a:avLst/>
          </a:prstGeom>
          <a:noFill/>
          <a:ln w="12700">
            <a:solidFill>
              <a:srgbClr val="6250D6"/>
            </a:solidFill>
            <a:prstDash val="dash"/>
          </a:ln>
        </p:spPr>
      </p:sp>
      <p:sp>
        <p:nvSpPr>
          <p:cNvPr id="37" name="Text 34"/>
          <p:cNvSpPr txBox="1"/>
          <p:nvPr/>
        </p:nvSpPr>
        <p:spPr>
          <a:xfrm>
            <a:off x="9147944" y="2587752"/>
            <a:ext cx="2194560" cy="530352"/>
          </a:xfrm>
          <a:prstGeom prst="rect">
            <a:avLst/>
          </a:prstGeom>
          <a:noFill/>
          <a:ln/>
        </p:spPr>
        <p:txBody>
          <a:bodyPr wrap="square" lIns="635" tIns="635" rIns="635" bIns="635" rtlCol="0" anchor="t"/>
          <a:lstStyle/>
          <a:p>
            <a:pPr algn="ctr" indent="0" marL="0">
              <a:buNone/>
            </a:pPr>
            <a:r>
              <a:rPr lang="en-US" sz="1200" b="1" dirty="0">
                <a:solidFill>
                  <a:srgbClr val="6250D6"/>
                </a:solidFill>
                <a:latin typeface="Calibri" pitchFamily="34" charset="0"/>
                <a:ea typeface="Calibri" pitchFamily="34" charset="-122"/>
                <a:cs typeface="Calibri" pitchFamily="34" charset="-120"/>
              </a:rPr>
              <a:t>Predicted van pickup</a:t>
            </a:r>
            <a:endParaRPr lang="en-US" sz="1200" dirty="0"/>
          </a:p>
          <a:p>
            <a:pPr algn="ctr" indent="0" marL="0">
              <a:buNone/>
            </a:pPr>
            <a:r>
              <a:rPr lang="en-US" sz="1200" dirty="0">
                <a:solidFill>
                  <a:srgbClr val="6250D6"/>
                </a:solidFill>
                <a:latin typeface="Calibri" pitchFamily="34" charset="0"/>
                <a:ea typeface="Calibri" pitchFamily="34" charset="-122"/>
                <a:cs typeface="Calibri" pitchFamily="34" charset="-120"/>
              </a:rPr>
              <a:t>18:30:08 (a prediction only)</a:t>
            </a:r>
            <a:endParaRPr lang="en-US" sz="1200" dirty="0"/>
          </a:p>
        </p:txBody>
      </p:sp>
      <p:sp>
        <p:nvSpPr>
          <p:cNvPr id="38" name="Shape 35"/>
          <p:cNvSpPr/>
          <p:nvPr/>
        </p:nvSpPr>
        <p:spPr>
          <a:xfrm>
            <a:off x="8347934" y="2331720"/>
            <a:ext cx="1988730" cy="914"/>
          </a:xfrm>
          <a:prstGeom prst="line">
            <a:avLst/>
          </a:prstGeom>
          <a:noFill/>
          <a:ln w="15875">
            <a:solidFill>
              <a:srgbClr val="1E2933"/>
            </a:solidFill>
            <a:prstDash val="solid"/>
          </a:ln>
        </p:spPr>
      </p:sp>
      <p:sp>
        <p:nvSpPr>
          <p:cNvPr id="39" name="Shape 36"/>
          <p:cNvSpPr/>
          <p:nvPr/>
        </p:nvSpPr>
        <p:spPr>
          <a:xfrm>
            <a:off x="8347934" y="2258568"/>
            <a:ext cx="914" cy="146304"/>
          </a:xfrm>
          <a:prstGeom prst="line">
            <a:avLst/>
          </a:prstGeom>
          <a:noFill/>
          <a:ln w="15875">
            <a:solidFill>
              <a:srgbClr val="1E2933"/>
            </a:solidFill>
            <a:prstDash val="solid"/>
          </a:ln>
        </p:spPr>
      </p:sp>
      <p:sp>
        <p:nvSpPr>
          <p:cNvPr id="40" name="Shape 37"/>
          <p:cNvSpPr/>
          <p:nvPr/>
        </p:nvSpPr>
        <p:spPr>
          <a:xfrm>
            <a:off x="10336664" y="2258568"/>
            <a:ext cx="914" cy="146304"/>
          </a:xfrm>
          <a:prstGeom prst="line">
            <a:avLst/>
          </a:prstGeom>
          <a:noFill/>
          <a:ln w="15875">
            <a:solidFill>
              <a:srgbClr val="1E2933"/>
            </a:solidFill>
            <a:prstDash val="solid"/>
          </a:ln>
        </p:spPr>
      </p:sp>
      <p:sp>
        <p:nvSpPr>
          <p:cNvPr id="41" name="Text 38"/>
          <p:cNvSpPr txBox="1"/>
          <p:nvPr/>
        </p:nvSpPr>
        <p:spPr>
          <a:xfrm>
            <a:off x="5513294" y="1938528"/>
            <a:ext cx="4206240" cy="320040"/>
          </a:xfrm>
          <a:prstGeom prst="rect">
            <a:avLst/>
          </a:prstGeom>
          <a:noFill/>
          <a:ln/>
        </p:spPr>
        <p:txBody>
          <a:bodyPr wrap="square" lIns="635" tIns="635" rIns="635" bIns="635" rtlCol="0" anchor="t"/>
          <a:lstStyle/>
          <a:p>
            <a:pPr algn="r" indent="0" marL="0">
              <a:buNone/>
            </a:pPr>
            <a:r>
              <a:rPr lang="en-US" sz="1250" b="1" dirty="0">
                <a:solidFill>
                  <a:srgbClr val="1E2933"/>
                </a:solidFill>
                <a:latin typeface="Calibri" pitchFamily="34" charset="0"/>
                <a:ea typeface="Calibri" pitchFamily="34" charset="-122"/>
                <a:cs typeface="Calibri" pitchFamily="34" charset="-120"/>
              </a:rPr>
              <a:t>expected Lyft 18:27:00 is 3 min 8 s sooner &gt; 2 min → transfer</a:t>
            </a:r>
            <a:endParaRPr lang="en-US" sz="1250" dirty="0"/>
          </a:p>
        </p:txBody>
      </p:sp>
      <p:sp>
        <p:nvSpPr>
          <p:cNvPr id="42" name="Text 39"/>
          <p:cNvSpPr txBox="1"/>
          <p:nvPr/>
        </p:nvSpPr>
        <p:spPr>
          <a:xfrm>
            <a:off x="1592132" y="5029200"/>
            <a:ext cx="3840480" cy="320040"/>
          </a:xfrm>
          <a:prstGeom prst="rect">
            <a:avLst/>
          </a:prstGeom>
          <a:noFill/>
          <a:ln/>
        </p:spPr>
        <p:txBody>
          <a:bodyPr wrap="square" lIns="635" tIns="635" rIns="635" bIns="635" rtlCol="0" anchor="t"/>
          <a:lstStyle/>
          <a:p>
            <a:pPr indent="0" marL="0">
              <a:buNone/>
            </a:pPr>
            <a:r>
              <a:rPr lang="en-US" sz="1300" b="1" dirty="0">
                <a:solidFill>
                  <a:srgbClr val="8A6400"/>
                </a:solidFill>
                <a:latin typeface="Calibri" pitchFamily="34" charset="0"/>
                <a:ea typeface="Calibri" pitchFamily="34" charset="-122"/>
                <a:cs typeface="Calibri" pitchFamily="34" charset="-120"/>
              </a:rPr>
              <a:t>Wait from request to curb: 10 min 30 s</a:t>
            </a:r>
            <a:endParaRPr lang="en-US" sz="1300" dirty="0"/>
          </a:p>
        </p:txBody>
      </p:sp>
      <p:sp>
        <p:nvSpPr>
          <p:cNvPr id="43" name="Shape 40"/>
          <p:cNvSpPr/>
          <p:nvPr/>
        </p:nvSpPr>
        <p:spPr>
          <a:xfrm>
            <a:off x="457200" y="5486400"/>
            <a:ext cx="11247120" cy="731520"/>
          </a:xfrm>
          <a:prstGeom prst="roundRect">
            <a:avLst>
              <a:gd name="adj" fmla="val 8750"/>
            </a:avLst>
          </a:prstGeom>
          <a:solidFill>
            <a:srgbClr val="EEF1F4"/>
          </a:solidFill>
          <a:ln w="9525">
            <a:solidFill>
              <a:srgbClr val="EEF1F4"/>
            </a:solidFill>
            <a:prstDash val="solid"/>
          </a:ln>
        </p:spPr>
      </p:sp>
      <p:sp>
        <p:nvSpPr>
          <p:cNvPr id="44" name="Text 41"/>
          <p:cNvSpPr txBox="1"/>
          <p:nvPr/>
        </p:nvSpPr>
        <p:spPr>
          <a:xfrm>
            <a:off x="594360" y="5504688"/>
            <a:ext cx="10972800" cy="694944"/>
          </a:xfrm>
          <a:prstGeom prst="rect">
            <a:avLst/>
          </a:prstGeom>
          <a:noFill/>
          <a:ln/>
        </p:spPr>
        <p:txBody>
          <a:bodyPr wrap="square" lIns="635" tIns="635" rIns="635" bIns="635" rtlCol="0" anchor="ctr"/>
          <a:lstStyle/>
          <a:p>
            <a:pPr indent="0" marL="0">
              <a:buNone/>
            </a:pPr>
            <a:r>
              <a:rPr lang="en-US" sz="1350" dirty="0">
                <a:solidFill>
                  <a:srgbClr val="1E2933"/>
                </a:solidFill>
                <a:latin typeface="Calibri" pitchFamily="34" charset="0"/>
                <a:ea typeface="Calibri" pitchFamily="34" charset="-122"/>
                <a:cs typeface="Calibri" pitchFamily="34" charset="-120"/>
              </a:rPr>
              <a:t>Expected Lyft pickup = 18:17:00 + 2-min ordering lag + 8-min typical delay = 18:27:00. The van pickup time is a prediction. We do not observe what that van would have done after choosing a different action.</a:t>
            </a:r>
            <a:endParaRPr lang="en-US" sz="1350" dirty="0"/>
          </a:p>
        </p:txBody>
      </p:sp>
      <p:sp>
        <p:nvSpPr>
          <p:cNvPr id="45" name="Text 4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outputs/sim/L4_R3-2 (epochs.jsonl, outcomes.csv: request R011); docs/technical/scenario_spec.md §6.</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A cheap postponement price could keep a rider waiting</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19</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first formulation could price postponement more cheaply than a physically possible pickup.</a:t>
            </a:r>
            <a:endParaRPr lang="en-US" sz="1700" dirty="0"/>
          </a:p>
        </p:txBody>
      </p:sp>
      <p:sp>
        <p:nvSpPr>
          <p:cNvPr id="6" name="Text 3"/>
          <p:cNvSpPr txBox="1"/>
          <p:nvPr/>
        </p:nvSpPr>
        <p:spPr>
          <a:xfrm>
            <a:off x="457200" y="1463040"/>
            <a:ext cx="5577840" cy="365760"/>
          </a:xfrm>
          <a:prstGeom prst="rect">
            <a:avLst/>
          </a:prstGeom>
          <a:noFill/>
          <a:ln/>
        </p:spPr>
        <p:txBody>
          <a:bodyPr wrap="square" lIns="635" tIns="635" rIns="635" bIns="635" rtlCol="0" anchor="t"/>
          <a:lstStyle/>
          <a:p>
            <a:pPr indent="0" marL="0">
              <a:buNone/>
            </a:pPr>
            <a:r>
              <a:rPr lang="en-US" sz="1400" b="1" dirty="0">
                <a:solidFill>
                  <a:srgbClr val="1E2933"/>
                </a:solidFill>
                <a:latin typeface="Calibri" pitchFamily="34" charset="0"/>
                <a:ea typeface="Calibri" pitchFamily="34" charset="-122"/>
                <a:cs typeface="Calibri" pitchFamily="34" charset="-120"/>
              </a:rPr>
              <a:t>1  The flaw: at 18:15 on the designed evening, a party of five had waited 15 min</a:t>
            </a:r>
            <a:endParaRPr lang="en-US" sz="1400" dirty="0"/>
          </a:p>
        </p:txBody>
      </p:sp>
      <p:graphicFrame>
        <p:nvGraphicFramePr>
          <p:cNvPr id="7" name="Chart 0" descr=""/>
          <p:cNvGraphicFramePr/>
          <p:nvPr/>
        </p:nvGraphicFramePr>
        <p:xfrm>
          <a:off x="365760" y="1828800"/>
          <a:ext cx="5669280" cy="237744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457200" y="4206240"/>
            <a:ext cx="5577840" cy="548640"/>
          </a:xfrm>
          <a:prstGeom prst="rect">
            <a:avLst/>
          </a:prstGeom>
          <a:noFill/>
          <a:ln/>
        </p:spPr>
        <p:txBody>
          <a:bodyPr wrap="square" lIns="635" tIns="635" rIns="635" bIns="635" rtlCol="0" anchor="t"/>
          <a:lstStyle/>
          <a:p>
            <a:pPr indent="0" marL="0">
              <a:buNone/>
            </a:pPr>
            <a:r>
              <a:rPr lang="en-US" sz="1250" dirty="0">
                <a:solidFill>
                  <a:srgbClr val="5B6670"/>
                </a:solidFill>
                <a:latin typeface="Calibri" pitchFamily="34" charset="0"/>
                <a:ea typeface="Calibri" pitchFamily="34" charset="-122"/>
                <a:cs typeface="Calibri" pitchFamily="34" charset="-120"/>
              </a:rPr>
              <a:t>Postponing looked cheaper than any service a van could really give, so a long-waiting party could be left waiting.</a:t>
            </a:r>
            <a:endParaRPr lang="en-US" sz="1250" dirty="0"/>
          </a:p>
        </p:txBody>
      </p:sp>
      <p:sp>
        <p:nvSpPr>
          <p:cNvPr id="9" name="Text 5"/>
          <p:cNvSpPr txBox="1"/>
          <p:nvPr/>
        </p:nvSpPr>
        <p:spPr>
          <a:xfrm>
            <a:off x="6309360" y="1463040"/>
            <a:ext cx="5394960" cy="548640"/>
          </a:xfrm>
          <a:prstGeom prst="rect">
            <a:avLst/>
          </a:prstGeom>
          <a:noFill/>
          <a:ln/>
        </p:spPr>
        <p:txBody>
          <a:bodyPr wrap="square" lIns="635" tIns="635" rIns="635" bIns="635" rtlCol="0" anchor="t"/>
          <a:lstStyle/>
          <a:p>
            <a:pPr indent="0" marL="0">
              <a:buNone/>
            </a:pPr>
            <a:r>
              <a:rPr lang="en-US" sz="1400" b="1" dirty="0">
                <a:solidFill>
                  <a:srgbClr val="1E2933"/>
                </a:solidFill>
                <a:latin typeface="Calibri" pitchFamily="34" charset="0"/>
                <a:ea typeface="Calibri" pitchFamily="34" charset="-122"/>
                <a:cs typeface="Calibri" pitchFamily="34" charset="-120"/>
              </a:rPr>
              <a:t>2  Controlled comparison: the whole designed evening, vans only, three formulations (all three in B5)</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309360" y="2057400"/>
          <a:ext cx="5394960" cy="914400"/>
        </p:xfrm>
        <a:graphic>
          <a:graphicData uri="http://schemas.openxmlformats.org/drawingml/2006/table">
            <a:tbl>
              <a:tblPr/>
              <a:tblGrid>
                <a:gridCol w="1920240"/>
                <a:gridCol w="1737360"/>
                <a:gridCol w="1737360"/>
              </a:tblGrid>
              <a:tr h="384048">
                <a:tc>
                  <a:txBody>
                    <a:bodyPr/>
                    <a:lstStyle/>
                    <a:p>
                      <a:pPr indent="0" marL="0">
                        <a:buNone/>
                      </a:pP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b="1" dirty="0">
                          <a:solidFill>
                            <a:srgbClr val="1E2933"/>
                          </a:solidFill>
                          <a:latin typeface="Calibri" pitchFamily="34" charset="0"/>
                          <a:ea typeface="Calibri" pitchFamily="34" charset="-122"/>
                          <a:cs typeface="Calibri" pitchFamily="34" charset="-120"/>
                        </a:rPr>
                        <a:t>First version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b="1" dirty="0">
                          <a:solidFill>
                            <a:srgbClr val="0F7A57"/>
                          </a:solidFill>
                          <a:latin typeface="Calibri" pitchFamily="34" charset="0"/>
                          <a:ea typeface="Calibri" pitchFamily="34" charset="-122"/>
                          <a:cs typeface="Calibri" pitchFamily="34" charset="-120"/>
                        </a:rPr>
                        <a:t>Adopted</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8404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Worst wait</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44.4 min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b="1" dirty="0">
                          <a:solidFill>
                            <a:srgbClr val="1E2933"/>
                          </a:solidFill>
                          <a:latin typeface="Calibri" pitchFamily="34" charset="0"/>
                          <a:ea typeface="Calibri" pitchFamily="34" charset="-122"/>
                          <a:cs typeface="Calibri" pitchFamily="34" charset="-120"/>
                        </a:rPr>
                        <a:t>35.6 min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8404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Mean wait</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18.8 min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18.8 min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8404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Median wait</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17.1 min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18.6 min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11" name="Text 6"/>
          <p:cNvSpPr txBox="1"/>
          <p:nvPr/>
        </p:nvSpPr>
        <p:spPr>
          <a:xfrm>
            <a:off x="6309360" y="3657600"/>
            <a:ext cx="5394960" cy="594360"/>
          </a:xfrm>
          <a:prstGeom prst="rect">
            <a:avLst/>
          </a:prstGeom>
          <a:noFill/>
          <a:ln/>
        </p:spPr>
        <p:txBody>
          <a:bodyPr wrap="square" lIns="635" tIns="635" rIns="635" bIns="635" rtlCol="0" anchor="t"/>
          <a:lstStyle/>
          <a:p>
            <a:pPr indent="0" marL="0">
              <a:buNone/>
            </a:pPr>
            <a:r>
              <a:rPr lang="en-US" sz="1350" b="1" dirty="0">
                <a:solidFill>
                  <a:srgbClr val="1E2933"/>
                </a:solidFill>
                <a:latin typeface="Calibri" pitchFamily="34" charset="0"/>
                <a:ea typeface="Calibri" pitchFamily="34" charset="-122"/>
                <a:cs typeface="Calibri" pitchFamily="34" charset="-120"/>
              </a:rPr>
              <a:t>The adopted approximation reduced the worst wait in this designed case. It did not reduce average waiting.</a:t>
            </a:r>
            <a:endParaRPr lang="en-US" sz="1350" dirty="0"/>
          </a:p>
        </p:txBody>
      </p:sp>
      <p:sp>
        <p:nvSpPr>
          <p:cNvPr id="12" name="Shape 7"/>
          <p:cNvSpPr/>
          <p:nvPr/>
        </p:nvSpPr>
        <p:spPr>
          <a:xfrm>
            <a:off x="457200" y="4892040"/>
            <a:ext cx="5486400" cy="1234440"/>
          </a:xfrm>
          <a:prstGeom prst="roundRect">
            <a:avLst>
              <a:gd name="adj" fmla="val 5185"/>
            </a:avLst>
          </a:prstGeom>
          <a:solidFill>
            <a:srgbClr val="E9F7F1"/>
          </a:solidFill>
          <a:ln w="9525">
            <a:solidFill>
              <a:srgbClr val="E9F7F1"/>
            </a:solidFill>
            <a:prstDash val="solid"/>
          </a:ln>
        </p:spPr>
      </p:sp>
      <p:sp>
        <p:nvSpPr>
          <p:cNvPr id="13" name="Text 8"/>
          <p:cNvSpPr txBox="1"/>
          <p:nvPr/>
        </p:nvSpPr>
        <p:spPr>
          <a:xfrm>
            <a:off x="594360" y="4937760"/>
            <a:ext cx="5257800" cy="1143000"/>
          </a:xfrm>
          <a:prstGeom prst="rect">
            <a:avLst/>
          </a:prstGeom>
          <a:noFill/>
          <a:ln/>
        </p:spPr>
        <p:txBody>
          <a:bodyPr wrap="square" lIns="635" tIns="635" rIns="635" bIns="635" rtlCol="0" anchor="ctr"/>
          <a:lstStyle/>
          <a:p>
            <a:pPr indent="0" marL="0">
              <a:buNone/>
            </a:pPr>
            <a:r>
              <a:rPr lang="en-US" sz="1300" b="1" dirty="0">
                <a:solidFill>
                  <a:srgbClr val="1E2933"/>
                </a:solidFill>
                <a:latin typeface="Calibri" pitchFamily="34" charset="0"/>
                <a:ea typeface="Calibri" pitchFamily="34" charset="-122"/>
                <a:cs typeface="Calibri" pitchFamily="34" charset="-120"/>
              </a:rPr>
              <a:t>3  Adopted (provisionally): </a:t>
            </a:r>
            <a:pPr indent="0" marL="0">
              <a:buNone/>
            </a:pPr>
            <a:r>
              <a:rPr lang="en-US" sz="1300" dirty="0">
                <a:solidFill>
                  <a:srgbClr val="1E2933"/>
                </a:solidFill>
                <a:latin typeface="Calibri" pitchFamily="34" charset="0"/>
                <a:ea typeface="Calibri" pitchFamily="34" charset="-122"/>
                <a:cs typeface="Calibri" pitchFamily="34" charset="-120"/>
              </a:rPr>
              <a:t>price postponement at the earliest time any on-duty van could physically reach the request. It changes cost coefficients only, adding no variables.</a:t>
            </a:r>
            <a:endParaRPr lang="en-US" sz="1300" dirty="0"/>
          </a:p>
        </p:txBody>
      </p:sp>
      <p:sp>
        <p:nvSpPr>
          <p:cNvPr id="14" name="Shape 9"/>
          <p:cNvSpPr/>
          <p:nvPr/>
        </p:nvSpPr>
        <p:spPr>
          <a:xfrm>
            <a:off x="6217920" y="4892040"/>
            <a:ext cx="5486400" cy="1234440"/>
          </a:xfrm>
          <a:prstGeom prst="roundRect">
            <a:avLst>
              <a:gd name="adj" fmla="val 5185"/>
            </a:avLst>
          </a:prstGeom>
          <a:solidFill>
            <a:srgbClr val="EFEDFB"/>
          </a:solidFill>
          <a:ln w="9525">
            <a:solidFill>
              <a:srgbClr val="EFEDFB"/>
            </a:solidFill>
            <a:prstDash val="solid"/>
          </a:ln>
        </p:spPr>
      </p:sp>
      <p:sp>
        <p:nvSpPr>
          <p:cNvPr id="15" name="Text 10"/>
          <p:cNvSpPr txBox="1"/>
          <p:nvPr/>
        </p:nvSpPr>
        <p:spPr>
          <a:xfrm>
            <a:off x="6355080" y="4937760"/>
            <a:ext cx="5257800" cy="1143000"/>
          </a:xfrm>
          <a:prstGeom prst="rect">
            <a:avLst/>
          </a:prstGeom>
          <a:noFill/>
          <a:ln/>
        </p:spPr>
        <p:txBody>
          <a:bodyPr wrap="square" lIns="635" tIns="635" rIns="635" bIns="635" rtlCol="0" anchor="ctr"/>
          <a:lstStyle/>
          <a:p>
            <a:pPr indent="0" marL="0">
              <a:buNone/>
            </a:pPr>
            <a:r>
              <a:rPr lang="en-US" sz="1300" b="1" dirty="0">
                <a:solidFill>
                  <a:srgbClr val="1E2933"/>
                </a:solidFill>
                <a:latin typeface="Calibri" pitchFamily="34" charset="0"/>
                <a:ea typeface="Calibri" pitchFamily="34" charset="-122"/>
                <a:cs typeface="Calibri" pitchFamily="34" charset="-120"/>
              </a:rPr>
              <a:t>4  Still optimistic: </a:t>
            </a:r>
            <a:pPr indent="0" marL="0">
              <a:buNone/>
            </a:pPr>
            <a:r>
              <a:rPr lang="en-US" sz="1300" dirty="0">
                <a:solidFill>
                  <a:srgbClr val="1E2933"/>
                </a:solidFill>
                <a:latin typeface="Calibri" pitchFamily="34" charset="0"/>
                <a:ea typeface="Calibri" pitchFamily="34" charset="-122"/>
                <a:cs typeface="Calibri" pitchFamily="34" charset="-120"/>
              </a:rPr>
              <a:t>it ignores the work the nearest van is already doing. One designed evening does not show a general improvement.</a:t>
            </a:r>
            <a:endParaRPr lang="en-US" sz="1300" dirty="0"/>
          </a:p>
        </p:txBody>
      </p:sp>
      <p:sp>
        <p:nvSpPr>
          <p:cNvPr id="16" name="Text 11"/>
          <p:cNvSpPr txBox="1"/>
          <p:nvPr/>
        </p:nvSpPr>
        <p:spPr>
          <a:xfrm>
            <a:off x="457200" y="6172200"/>
            <a:ext cx="219456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2" action="ppaction://hlinksldjump" tooltip="Go to slide 34">
                  <a:extLst>
                    <a:ext uri="{A12FA001-AC4F-418D-AE19-62706E023703}">
                      <ahyp:hlinkClr xmlns:ahyp="http://schemas.microsoft.com/office/drawing/2018/hyperlinkcolor" val="tx"/>
                    </a:ext>
                  </a:extLst>
                </a:hlinkClick>
              </a:rPr>
              <a:t>Three formulations: B5 →</a:t>
            </a:r>
            <a:endParaRPr lang="en-US" sz="1000" dirty="0"/>
          </a:p>
        </p:txBody>
      </p:sp>
      <p:sp>
        <p:nvSpPr>
          <p:cNvPr id="17" name="Text 1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outputs/sim/d53_experiment; docs/technical/decision_log.md D-53; model_design.md v0.5 §3.5. Provisional choice.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Replay the same night; change one rule</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20</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Each rule faces the same requests and hidden rider inputs, so differences reflect the rule within this specified model.</a:t>
            </a:r>
            <a:endParaRPr lang="en-US" sz="1700" dirty="0"/>
          </a:p>
        </p:txBody>
      </p:sp>
      <p:sp>
        <p:nvSpPr>
          <p:cNvPr id="6" name="Shape 3"/>
          <p:cNvSpPr/>
          <p:nvPr/>
        </p:nvSpPr>
        <p:spPr>
          <a:xfrm>
            <a:off x="457200" y="1783080"/>
            <a:ext cx="3108960" cy="3383280"/>
          </a:xfrm>
          <a:prstGeom prst="roundRect">
            <a:avLst>
              <a:gd name="adj" fmla="val 2059"/>
            </a:avLst>
          </a:prstGeom>
          <a:solidFill>
            <a:srgbClr val="1E2933"/>
          </a:solidFill>
          <a:ln w="9525">
            <a:solidFill>
              <a:srgbClr val="1E2933"/>
            </a:solidFill>
            <a:prstDash val="solid"/>
          </a:ln>
        </p:spPr>
      </p:sp>
      <p:sp>
        <p:nvSpPr>
          <p:cNvPr id="7" name="Text 4"/>
          <p:cNvSpPr txBox="1"/>
          <p:nvPr/>
        </p:nvSpPr>
        <p:spPr>
          <a:xfrm>
            <a:off x="594360" y="1874520"/>
            <a:ext cx="2834640" cy="3200400"/>
          </a:xfrm>
          <a:prstGeom prst="rect">
            <a:avLst/>
          </a:prstGeom>
          <a:noFill/>
          <a:ln/>
        </p:spPr>
        <p:txBody>
          <a:bodyPr wrap="square" lIns="635" tIns="635" rIns="635" bIns="635"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One constructed night</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 </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same requests, places and parties</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same hidden patience and presence</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same Lyft delay per rider</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same vans</a:t>
            </a:r>
            <a:endParaRPr lang="en-US" sz="1400" dirty="0"/>
          </a:p>
        </p:txBody>
      </p:sp>
      <p:sp>
        <p:nvSpPr>
          <p:cNvPr id="8" name="Shape 5"/>
          <p:cNvSpPr/>
          <p:nvPr/>
        </p:nvSpPr>
        <p:spPr>
          <a:xfrm flipV="1">
            <a:off x="3611880" y="2020824"/>
            <a:ext cx="731520" cy="1453896"/>
          </a:xfrm>
          <a:prstGeom prst="line">
            <a:avLst/>
          </a:prstGeom>
          <a:noFill/>
          <a:ln w="19050">
            <a:solidFill>
              <a:srgbClr val="5B6670"/>
            </a:solidFill>
            <a:prstDash val="solid"/>
            <a:tailEnd type="triangle"/>
          </a:ln>
        </p:spPr>
      </p:sp>
      <p:sp>
        <p:nvSpPr>
          <p:cNvPr id="9" name="Shape 6"/>
          <p:cNvSpPr/>
          <p:nvPr/>
        </p:nvSpPr>
        <p:spPr>
          <a:xfrm>
            <a:off x="4389120" y="1783080"/>
            <a:ext cx="3566160" cy="475488"/>
          </a:xfrm>
          <a:prstGeom prst="roundRect">
            <a:avLst>
              <a:gd name="adj" fmla="val 13462"/>
            </a:avLst>
          </a:prstGeom>
          <a:solidFill>
            <a:srgbClr val="FFF4EC"/>
          </a:solidFill>
          <a:ln w="15875">
            <a:solidFill>
              <a:srgbClr val="EB6834"/>
            </a:solidFill>
            <a:prstDash val="solid"/>
          </a:ln>
        </p:spPr>
      </p:sp>
      <p:sp>
        <p:nvSpPr>
          <p:cNvPr id="10" name="Text 7"/>
          <p:cNvSpPr txBox="1"/>
          <p:nvPr/>
        </p:nvSpPr>
        <p:spPr>
          <a:xfrm>
            <a:off x="4462272" y="1819656"/>
            <a:ext cx="3419856" cy="402336"/>
          </a:xfrm>
          <a:prstGeom prst="rect">
            <a:avLst/>
          </a:prstGeom>
          <a:noFill/>
          <a:ln/>
        </p:spPr>
        <p:txBody>
          <a:bodyPr wrap="square" lIns="635" tIns="635" rIns="635" bIns="635" rtlCol="0" anchor="ctr"/>
          <a:lstStyle/>
          <a:p>
            <a:pPr algn="l" indent="0" marL="0">
              <a:buNone/>
            </a:pPr>
            <a:r>
              <a:rPr lang="en-US" sz="1300" b="1" dirty="0">
                <a:solidFill>
                  <a:srgbClr val="EB6834"/>
                </a:solidFill>
                <a:latin typeface="Calibri" pitchFamily="34" charset="0"/>
                <a:ea typeface="Calibri" pitchFamily="34" charset="-122"/>
                <a:cs typeface="Calibri" pitchFamily="34" charset="-120"/>
              </a:rPr>
              <a:t>Vans only</a:t>
            </a:r>
            <a:endParaRPr lang="en-US" sz="1300" dirty="0"/>
          </a:p>
        </p:txBody>
      </p:sp>
      <p:sp>
        <p:nvSpPr>
          <p:cNvPr id="11" name="Shape 8"/>
          <p:cNvSpPr/>
          <p:nvPr/>
        </p:nvSpPr>
        <p:spPr>
          <a:xfrm flipV="1">
            <a:off x="3611880" y="2596896"/>
            <a:ext cx="731520" cy="877824"/>
          </a:xfrm>
          <a:prstGeom prst="line">
            <a:avLst/>
          </a:prstGeom>
          <a:noFill/>
          <a:ln w="19050">
            <a:solidFill>
              <a:srgbClr val="5B6670"/>
            </a:solidFill>
            <a:prstDash val="solid"/>
            <a:tailEnd type="triangle"/>
          </a:ln>
        </p:spPr>
      </p:sp>
      <p:sp>
        <p:nvSpPr>
          <p:cNvPr id="12" name="Shape 9"/>
          <p:cNvSpPr/>
          <p:nvPr/>
        </p:nvSpPr>
        <p:spPr>
          <a:xfrm>
            <a:off x="4389120" y="2359152"/>
            <a:ext cx="3566160" cy="475488"/>
          </a:xfrm>
          <a:prstGeom prst="roundRect">
            <a:avLst>
              <a:gd name="adj" fmla="val 13462"/>
            </a:avLst>
          </a:prstGeom>
          <a:solidFill>
            <a:srgbClr val="FFF4EC"/>
          </a:solidFill>
          <a:ln w="15875">
            <a:solidFill>
              <a:srgbClr val="EB6834"/>
            </a:solidFill>
            <a:prstDash val="solid"/>
          </a:ln>
        </p:spPr>
      </p:sp>
      <p:sp>
        <p:nvSpPr>
          <p:cNvPr id="13" name="Text 10"/>
          <p:cNvSpPr txBox="1"/>
          <p:nvPr/>
        </p:nvSpPr>
        <p:spPr>
          <a:xfrm>
            <a:off x="4462272" y="2395728"/>
            <a:ext cx="3419856" cy="402336"/>
          </a:xfrm>
          <a:prstGeom prst="rect">
            <a:avLst/>
          </a:prstGeom>
          <a:noFill/>
          <a:ln/>
        </p:spPr>
        <p:txBody>
          <a:bodyPr wrap="square" lIns="635" tIns="635" rIns="635" bIns="635" rtlCol="0" anchor="ctr"/>
          <a:lstStyle/>
          <a:p>
            <a:pPr algn="l" indent="0" marL="0">
              <a:buNone/>
            </a:pPr>
            <a:r>
              <a:rPr lang="en-US" sz="1300" b="1" dirty="0">
                <a:solidFill>
                  <a:srgbClr val="EB6834"/>
                </a:solidFill>
                <a:latin typeface="Calibri" pitchFamily="34" charset="0"/>
                <a:ea typeface="Calibri" pitchFamily="34" charset="-122"/>
                <a:cs typeface="Calibri" pitchFamily="34" charset="-120"/>
              </a:rPr>
              <a:t>Wait ten minutes</a:t>
            </a:r>
            <a:endParaRPr lang="en-US" sz="1300" dirty="0"/>
          </a:p>
        </p:txBody>
      </p:sp>
      <p:sp>
        <p:nvSpPr>
          <p:cNvPr id="14" name="Shape 11"/>
          <p:cNvSpPr/>
          <p:nvPr/>
        </p:nvSpPr>
        <p:spPr>
          <a:xfrm flipV="1">
            <a:off x="3611880" y="3172968"/>
            <a:ext cx="731520" cy="301752"/>
          </a:xfrm>
          <a:prstGeom prst="line">
            <a:avLst/>
          </a:prstGeom>
          <a:noFill/>
          <a:ln w="19050">
            <a:solidFill>
              <a:srgbClr val="5B6670"/>
            </a:solidFill>
            <a:prstDash val="solid"/>
            <a:tailEnd type="triangle"/>
          </a:ln>
        </p:spPr>
      </p:sp>
      <p:sp>
        <p:nvSpPr>
          <p:cNvPr id="15" name="Shape 12"/>
          <p:cNvSpPr/>
          <p:nvPr/>
        </p:nvSpPr>
        <p:spPr>
          <a:xfrm>
            <a:off x="4389120" y="2935224"/>
            <a:ext cx="3566160" cy="475488"/>
          </a:xfrm>
          <a:prstGeom prst="roundRect">
            <a:avLst>
              <a:gd name="adj" fmla="val 13462"/>
            </a:avLst>
          </a:prstGeom>
          <a:solidFill>
            <a:srgbClr val="FFF4EC"/>
          </a:solidFill>
          <a:ln w="15875">
            <a:solidFill>
              <a:srgbClr val="EB6834"/>
            </a:solidFill>
            <a:prstDash val="solid"/>
          </a:ln>
        </p:spPr>
      </p:sp>
      <p:sp>
        <p:nvSpPr>
          <p:cNvPr id="16" name="Text 13"/>
          <p:cNvSpPr txBox="1"/>
          <p:nvPr/>
        </p:nvSpPr>
        <p:spPr>
          <a:xfrm>
            <a:off x="4462272" y="2971800"/>
            <a:ext cx="3419856" cy="402336"/>
          </a:xfrm>
          <a:prstGeom prst="rect">
            <a:avLst/>
          </a:prstGeom>
          <a:noFill/>
          <a:ln/>
        </p:spPr>
        <p:txBody>
          <a:bodyPr wrap="square" lIns="635" tIns="635" rIns="635" bIns="635" rtlCol="0" anchor="ctr"/>
          <a:lstStyle/>
          <a:p>
            <a:pPr algn="l" indent="0" marL="0">
              <a:buNone/>
            </a:pPr>
            <a:r>
              <a:rPr lang="en-US" sz="1300" b="1" dirty="0">
                <a:solidFill>
                  <a:srgbClr val="EB6834"/>
                </a:solidFill>
                <a:latin typeface="Calibri" pitchFamily="34" charset="0"/>
                <a:ea typeface="Calibri" pitchFamily="34" charset="-122"/>
                <a:cs typeface="Calibri" pitchFamily="34" charset="-120"/>
              </a:rPr>
              <a:t>Wait fifteen minutes</a:t>
            </a:r>
            <a:endParaRPr lang="en-US" sz="1300" dirty="0"/>
          </a:p>
        </p:txBody>
      </p:sp>
      <p:sp>
        <p:nvSpPr>
          <p:cNvPr id="17" name="Shape 14"/>
          <p:cNvSpPr/>
          <p:nvPr/>
        </p:nvSpPr>
        <p:spPr>
          <a:xfrm>
            <a:off x="3611880" y="3474720"/>
            <a:ext cx="731520" cy="274320"/>
          </a:xfrm>
          <a:prstGeom prst="line">
            <a:avLst/>
          </a:prstGeom>
          <a:noFill/>
          <a:ln w="19050">
            <a:solidFill>
              <a:srgbClr val="5B6670"/>
            </a:solidFill>
            <a:prstDash val="solid"/>
            <a:tailEnd type="triangle"/>
          </a:ln>
        </p:spPr>
      </p:sp>
      <p:sp>
        <p:nvSpPr>
          <p:cNvPr id="18" name="Shape 15"/>
          <p:cNvSpPr/>
          <p:nvPr/>
        </p:nvSpPr>
        <p:spPr>
          <a:xfrm>
            <a:off x="4389120" y="3511296"/>
            <a:ext cx="3566160" cy="475488"/>
          </a:xfrm>
          <a:prstGeom prst="roundRect">
            <a:avLst>
              <a:gd name="adj" fmla="val 13462"/>
            </a:avLst>
          </a:prstGeom>
          <a:solidFill>
            <a:srgbClr val="FFF4EC"/>
          </a:solidFill>
          <a:ln w="15875">
            <a:solidFill>
              <a:srgbClr val="EB6834"/>
            </a:solidFill>
            <a:prstDash val="solid"/>
          </a:ln>
        </p:spPr>
      </p:sp>
      <p:sp>
        <p:nvSpPr>
          <p:cNvPr id="19" name="Text 16"/>
          <p:cNvSpPr txBox="1"/>
          <p:nvPr/>
        </p:nvSpPr>
        <p:spPr>
          <a:xfrm>
            <a:off x="4462272" y="3547872"/>
            <a:ext cx="3419856" cy="402336"/>
          </a:xfrm>
          <a:prstGeom prst="rect">
            <a:avLst/>
          </a:prstGeom>
          <a:noFill/>
          <a:ln/>
        </p:spPr>
        <p:txBody>
          <a:bodyPr wrap="square" lIns="635" tIns="635" rIns="635" bIns="635" rtlCol="0" anchor="ctr"/>
          <a:lstStyle/>
          <a:p>
            <a:pPr algn="l" indent="0" marL="0">
              <a:buNone/>
            </a:pPr>
            <a:r>
              <a:rPr lang="en-US" sz="1300" b="1" dirty="0">
                <a:solidFill>
                  <a:srgbClr val="EB6834"/>
                </a:solidFill>
                <a:latin typeface="Calibri" pitchFamily="34" charset="0"/>
                <a:ea typeface="Calibri" pitchFamily="34" charset="-122"/>
                <a:cs typeface="Calibri" pitchFamily="34" charset="-120"/>
              </a:rPr>
              <a:t>Unassigned for ten minutes</a:t>
            </a:r>
            <a:endParaRPr lang="en-US" sz="1300" dirty="0"/>
          </a:p>
        </p:txBody>
      </p:sp>
      <p:sp>
        <p:nvSpPr>
          <p:cNvPr id="20" name="Shape 17"/>
          <p:cNvSpPr/>
          <p:nvPr/>
        </p:nvSpPr>
        <p:spPr>
          <a:xfrm>
            <a:off x="3611880" y="3474720"/>
            <a:ext cx="731520" cy="850392"/>
          </a:xfrm>
          <a:prstGeom prst="line">
            <a:avLst/>
          </a:prstGeom>
          <a:noFill/>
          <a:ln w="19050">
            <a:solidFill>
              <a:srgbClr val="5B6670"/>
            </a:solidFill>
            <a:prstDash val="solid"/>
            <a:tailEnd type="triangle"/>
          </a:ln>
        </p:spPr>
      </p:sp>
      <p:sp>
        <p:nvSpPr>
          <p:cNvPr id="21" name="Shape 18"/>
          <p:cNvSpPr/>
          <p:nvPr/>
        </p:nvSpPr>
        <p:spPr>
          <a:xfrm>
            <a:off x="4389120" y="4087368"/>
            <a:ext cx="3566160" cy="475488"/>
          </a:xfrm>
          <a:prstGeom prst="roundRect">
            <a:avLst>
              <a:gd name="adj" fmla="val 13462"/>
            </a:avLst>
          </a:prstGeom>
          <a:solidFill>
            <a:srgbClr val="FFF4EC"/>
          </a:solidFill>
          <a:ln w="15875">
            <a:solidFill>
              <a:srgbClr val="EB6834"/>
            </a:solidFill>
            <a:prstDash val="solid"/>
          </a:ln>
        </p:spPr>
      </p:sp>
      <p:sp>
        <p:nvSpPr>
          <p:cNvPr id="22" name="Text 19"/>
          <p:cNvSpPr txBox="1"/>
          <p:nvPr/>
        </p:nvSpPr>
        <p:spPr>
          <a:xfrm>
            <a:off x="4462272" y="4123944"/>
            <a:ext cx="3419856" cy="402336"/>
          </a:xfrm>
          <a:prstGeom prst="rect">
            <a:avLst/>
          </a:prstGeom>
          <a:noFill/>
          <a:ln/>
        </p:spPr>
        <p:txBody>
          <a:bodyPr wrap="square" lIns="635" tIns="635" rIns="635" bIns="635" rtlCol="0" anchor="ctr"/>
          <a:lstStyle/>
          <a:p>
            <a:pPr algn="l" indent="0" marL="0">
              <a:buNone/>
            </a:pPr>
            <a:r>
              <a:rPr lang="en-US" sz="1300" b="1" dirty="0">
                <a:solidFill>
                  <a:srgbClr val="EB6834"/>
                </a:solidFill>
                <a:latin typeface="Calibri" pitchFamily="34" charset="0"/>
                <a:ea typeface="Calibri" pitchFamily="34" charset="-122"/>
                <a:cs typeface="Calibri" pitchFamily="34" charset="-120"/>
              </a:rPr>
              <a:t>Predicted total wait exceeds fifteen minutes</a:t>
            </a:r>
            <a:endParaRPr lang="en-US" sz="1300" dirty="0"/>
          </a:p>
        </p:txBody>
      </p:sp>
      <p:sp>
        <p:nvSpPr>
          <p:cNvPr id="23" name="Shape 20"/>
          <p:cNvSpPr/>
          <p:nvPr/>
        </p:nvSpPr>
        <p:spPr>
          <a:xfrm>
            <a:off x="3611880" y="3474720"/>
            <a:ext cx="731520" cy="1426464"/>
          </a:xfrm>
          <a:prstGeom prst="line">
            <a:avLst/>
          </a:prstGeom>
          <a:noFill/>
          <a:ln w="19050">
            <a:solidFill>
              <a:srgbClr val="5B6670"/>
            </a:solidFill>
            <a:prstDash val="solid"/>
            <a:tailEnd type="triangle"/>
          </a:ln>
        </p:spPr>
      </p:sp>
      <p:sp>
        <p:nvSpPr>
          <p:cNvPr id="24" name="Shape 21"/>
          <p:cNvSpPr/>
          <p:nvPr/>
        </p:nvSpPr>
        <p:spPr>
          <a:xfrm>
            <a:off x="4389120" y="4663440"/>
            <a:ext cx="3566160" cy="475488"/>
          </a:xfrm>
          <a:prstGeom prst="roundRect">
            <a:avLst>
              <a:gd name="adj" fmla="val 13462"/>
            </a:avLst>
          </a:prstGeom>
          <a:solidFill>
            <a:srgbClr val="FFF4EC"/>
          </a:solidFill>
          <a:ln w="15875">
            <a:solidFill>
              <a:srgbClr val="EB6834"/>
            </a:solidFill>
            <a:prstDash val="solid"/>
          </a:ln>
        </p:spPr>
      </p:sp>
      <p:sp>
        <p:nvSpPr>
          <p:cNvPr id="25" name="Text 22"/>
          <p:cNvSpPr txBox="1"/>
          <p:nvPr/>
        </p:nvSpPr>
        <p:spPr>
          <a:xfrm>
            <a:off x="4462272" y="4700016"/>
            <a:ext cx="3419856" cy="402336"/>
          </a:xfrm>
          <a:prstGeom prst="rect">
            <a:avLst/>
          </a:prstGeom>
          <a:noFill/>
          <a:ln/>
        </p:spPr>
        <p:txBody>
          <a:bodyPr wrap="square" lIns="635" tIns="635" rIns="635" bIns="635" rtlCol="0" anchor="ctr"/>
          <a:lstStyle/>
          <a:p>
            <a:pPr algn="l" indent="0" marL="0">
              <a:buNone/>
            </a:pPr>
            <a:r>
              <a:rPr lang="en-US" sz="1300" b="1" dirty="0">
                <a:solidFill>
                  <a:srgbClr val="EB6834"/>
                </a:solidFill>
                <a:latin typeface="Calibri" pitchFamily="34" charset="0"/>
                <a:ea typeface="Calibri" pitchFamily="34" charset="-122"/>
                <a:cs typeface="Calibri" pitchFamily="34" charset="-120"/>
              </a:rPr>
              <a:t>Lyft arrives sooner</a:t>
            </a:r>
            <a:endParaRPr lang="en-US" sz="1300" dirty="0"/>
          </a:p>
        </p:txBody>
      </p:sp>
      <p:sp>
        <p:nvSpPr>
          <p:cNvPr id="26" name="Shape 23"/>
          <p:cNvSpPr/>
          <p:nvPr/>
        </p:nvSpPr>
        <p:spPr>
          <a:xfrm>
            <a:off x="8321040" y="1783080"/>
            <a:ext cx="3383280" cy="3383280"/>
          </a:xfrm>
          <a:prstGeom prst="roundRect">
            <a:avLst>
              <a:gd name="adj" fmla="val 1892"/>
            </a:avLst>
          </a:prstGeom>
          <a:solidFill>
            <a:srgbClr val="E8F1FB"/>
          </a:solidFill>
          <a:ln w="9525">
            <a:solidFill>
              <a:srgbClr val="E8F1FB"/>
            </a:solidFill>
            <a:prstDash val="solid"/>
          </a:ln>
        </p:spPr>
      </p:sp>
      <p:sp>
        <p:nvSpPr>
          <p:cNvPr id="27" name="Text 24"/>
          <p:cNvSpPr txBox="1"/>
          <p:nvPr/>
        </p:nvSpPr>
        <p:spPr>
          <a:xfrm>
            <a:off x="8458200" y="1874520"/>
            <a:ext cx="3108960" cy="3200400"/>
          </a:xfrm>
          <a:prstGeom prst="rect">
            <a:avLst/>
          </a:prstGeom>
          <a:noFill/>
          <a:ln/>
        </p:spPr>
        <p:txBody>
          <a:bodyPr wrap="square" lIns="635" tIns="635" rIns="635" bIns="635" rtlCol="0" anchor="ctr"/>
          <a:lstStyle/>
          <a:p>
            <a:pPr indent="0" marL="0">
              <a:buNone/>
            </a:pPr>
            <a:r>
              <a:rPr lang="en-US" sz="1400" b="1" dirty="0">
                <a:solidFill>
                  <a:srgbClr val="1E2933"/>
                </a:solidFill>
                <a:latin typeface="Calibri" pitchFamily="34" charset="0"/>
                <a:ea typeface="Calibri" pitchFamily="34" charset="-122"/>
                <a:cs typeface="Calibri" pitchFamily="34" charset="-120"/>
              </a:rPr>
              <a:t>Thirty nights replayed six ways are thirty paired scenarios—not 180 independent nights.</a:t>
            </a:r>
            <a:endParaRPr lang="en-US" sz="1400" dirty="0"/>
          </a:p>
          <a:p>
            <a:pPr indent="0" marL="0">
              <a:buNone/>
            </a:pPr>
            <a:r>
              <a:rPr lang="en-US" sz="1400" dirty="0">
                <a:solidFill>
                  <a:srgbClr val="1E2933"/>
                </a:solidFill>
                <a:latin typeface="Calibri" pitchFamily="34" charset="0"/>
                <a:ea typeface="Calibri" pitchFamily="34" charset="-122"/>
                <a:cs typeface="Calibri" pitchFamily="34" charset="-120"/>
              </a:rPr>
              <a:t> </a:t>
            </a:r>
            <a:endParaRPr lang="en-US" sz="1400" dirty="0"/>
          </a:p>
          <a:p>
            <a:pPr indent="0" marL="0">
              <a:buNone/>
            </a:pPr>
            <a:r>
              <a:rPr lang="en-US" sz="1400" dirty="0">
                <a:solidFill>
                  <a:srgbClr val="1E2933"/>
                </a:solidFill>
                <a:latin typeface="Calibri" pitchFamily="34" charset="0"/>
                <a:ea typeface="Calibri" pitchFamily="34" charset="-122"/>
                <a:cs typeface="Calibri" pitchFamily="34" charset="-120"/>
              </a:rPr>
              <a:t>Pairing removes night-to-night differences from each comparison. It does not make the nights representative of April.</a:t>
            </a:r>
            <a:endParaRPr lang="en-US" sz="1400" dirty="0"/>
          </a:p>
        </p:txBody>
      </p:sp>
      <p:sp>
        <p:nvSpPr>
          <p:cNvPr id="28" name="status-TESTED"/>
          <p:cNvSpPr/>
          <p:nvPr/>
        </p:nvSpPr>
        <p:spPr>
          <a:xfrm>
            <a:off x="457200" y="5394960"/>
            <a:ext cx="2743200" cy="292608"/>
          </a:xfrm>
          <a:prstGeom prst="rect">
            <a:avLst/>
          </a:prstGeom>
          <a:solidFill>
            <a:srgbClr val="FFFFFF"/>
          </a:solidFill>
          <a:ln w="19050">
            <a:solidFill>
              <a:srgbClr val="0F7A57"/>
            </a:solidFill>
            <a:prstDash val="solid"/>
          </a:ln>
        </p:spPr>
      </p:sp>
      <p:sp>
        <p:nvSpPr>
          <p:cNvPr id="29" name="Text 26"/>
          <p:cNvSpPr txBox="1"/>
          <p:nvPr/>
        </p:nvSpPr>
        <p:spPr>
          <a:xfrm>
            <a:off x="457200" y="5394960"/>
            <a:ext cx="2743200" cy="292608"/>
          </a:xfrm>
          <a:prstGeom prst="rect">
            <a:avLst/>
          </a:prstGeom>
          <a:noFill/>
          <a:ln/>
        </p:spPr>
        <p:txBody>
          <a:bodyPr wrap="square" lIns="0" tIns="0" rIns="0" bIns="0" rtlCol="0" anchor="ctr"/>
          <a:lstStyle/>
          <a:p>
            <a:pPr algn="ctr" indent="0" marL="0">
              <a:buNone/>
            </a:pPr>
            <a:r>
              <a:rPr lang="en-US" sz="1050" b="1" dirty="0">
                <a:solidFill>
                  <a:srgbClr val="0F7A57"/>
                </a:solidFill>
                <a:latin typeface="Calibri" pitchFamily="34" charset="0"/>
                <a:ea typeface="Calibri" pitchFamily="34" charset="-122"/>
                <a:cs typeface="Calibri" pitchFamily="34" charset="-120"/>
              </a:rPr>
              <a:t>TESTED IN SIMULATION</a:t>
            </a:r>
            <a:endParaRPr lang="en-US" sz="1050" dirty="0"/>
          </a:p>
        </p:txBody>
      </p:sp>
      <p:sp>
        <p:nvSpPr>
          <p:cNvPr id="30" name="Text 27"/>
          <p:cNvSpPr txBox="1"/>
          <p:nvPr/>
        </p:nvSpPr>
        <p:spPr>
          <a:xfrm>
            <a:off x="3383280" y="5349240"/>
            <a:ext cx="8321040" cy="685800"/>
          </a:xfrm>
          <a:prstGeom prst="rect">
            <a:avLst/>
          </a:prstGeom>
          <a:noFill/>
          <a:ln/>
        </p:spPr>
        <p:txBody>
          <a:bodyPr wrap="square" lIns="635" tIns="635" rIns="635" bIns="635" rtlCol="0" anchor="t"/>
          <a:lstStyle/>
          <a:p>
            <a:pPr indent="0" marL="0">
              <a:buNone/>
            </a:pPr>
            <a:r>
              <a:rPr lang="en-US" sz="1350" dirty="0">
                <a:solidFill>
                  <a:srgbClr val="1E2933"/>
                </a:solidFill>
                <a:latin typeface="Calibri" pitchFamily="34" charset="0"/>
                <a:ea typeface="Calibri" pitchFamily="34" charset="-122"/>
                <a:cs typeface="Calibri" pitchFamily="34" charset="-120"/>
              </a:rPr>
              <a:t>Provisional settings: 2-min ordering lag; every Lyft offer accepted; 8.9% no-show per arrival; placeholder patience; van travel × 1.2.</a:t>
            </a:r>
            <a:endParaRPr lang="en-US" sz="1350" dirty="0"/>
          </a:p>
        </p:txBody>
      </p:sp>
      <p:sp>
        <p:nvSpPr>
          <p:cNvPr id="31" name="Text 28"/>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docs/technical/decision_log.md D-56, D-57; outputs/sim/batch_L5_v1/summary.md.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We checked implementation before interpreting outcomes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21</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Verification asks whether the code implements the specified model. Validation asks whether the model represents the real service.</a:t>
            </a:r>
            <a:endParaRPr lang="en-US" sz="1700" dirty="0"/>
          </a:p>
        </p:txBody>
      </p:sp>
      <p:sp>
        <p:nvSpPr>
          <p:cNvPr id="6" name="Shape 3"/>
          <p:cNvSpPr/>
          <p:nvPr/>
        </p:nvSpPr>
        <p:spPr>
          <a:xfrm>
            <a:off x="457200" y="1691640"/>
            <a:ext cx="6949440" cy="3429000"/>
          </a:xfrm>
          <a:prstGeom prst="roundRect">
            <a:avLst>
              <a:gd name="adj" fmla="val 1867"/>
            </a:avLst>
          </a:prstGeom>
          <a:solidFill>
            <a:srgbClr val="E9F7F1"/>
          </a:solidFill>
          <a:ln w="9525">
            <a:solidFill>
              <a:srgbClr val="E9F7F1"/>
            </a:solidFill>
            <a:prstDash val="solid"/>
          </a:ln>
        </p:spPr>
      </p:sp>
      <p:sp>
        <p:nvSpPr>
          <p:cNvPr id="7" name="Text 4"/>
          <p:cNvSpPr txBox="1"/>
          <p:nvPr/>
        </p:nvSpPr>
        <p:spPr>
          <a:xfrm>
            <a:off x="640080" y="1755648"/>
            <a:ext cx="6583680" cy="365760"/>
          </a:xfrm>
          <a:prstGeom prst="rect">
            <a:avLst/>
          </a:prstGeom>
          <a:noFill/>
          <a:ln/>
        </p:spPr>
        <p:txBody>
          <a:bodyPr wrap="square" lIns="635" tIns="635" rIns="635" bIns="635" rtlCol="0" anchor="t"/>
          <a:lstStyle/>
          <a:p>
            <a:pPr indent="0" marL="0">
              <a:buNone/>
            </a:pPr>
            <a:r>
              <a:rPr lang="en-US" sz="1700" b="1" dirty="0">
                <a:solidFill>
                  <a:srgbClr val="0F7A57"/>
                </a:solidFill>
                <a:latin typeface="Calibri" pitchFamily="34" charset="0"/>
                <a:ea typeface="Calibri" pitchFamily="34" charset="-122"/>
                <a:cs typeface="Calibri" pitchFamily="34" charset="-120"/>
              </a:rPr>
              <a:t>Verification evidence</a:t>
            </a:r>
            <a:endParaRPr lang="en-US" sz="1700" dirty="0"/>
          </a:p>
        </p:txBody>
      </p:sp>
      <p:sp>
        <p:nvSpPr>
          <p:cNvPr id="8" name="Text 5"/>
          <p:cNvSpPr txBox="1"/>
          <p:nvPr/>
        </p:nvSpPr>
        <p:spPr>
          <a:xfrm>
            <a:off x="640080" y="2176272"/>
            <a:ext cx="2011680" cy="658368"/>
          </a:xfrm>
          <a:prstGeom prst="rect">
            <a:avLst/>
          </a:prstGeom>
          <a:noFill/>
          <a:ln/>
        </p:spPr>
        <p:txBody>
          <a:bodyPr wrap="square" lIns="635" tIns="635" rIns="635" bIns="635" rtlCol="0" anchor="ctr"/>
          <a:lstStyle/>
          <a:p>
            <a:pPr indent="0" marL="0">
              <a:buNone/>
            </a:pPr>
            <a:r>
              <a:rPr lang="en-US" sz="2100" b="1" dirty="0">
                <a:solidFill>
                  <a:srgbClr val="0F7A57"/>
                </a:solidFill>
                <a:latin typeface="Calibri" pitchFamily="34" charset="0"/>
                <a:ea typeface="Calibri" pitchFamily="34" charset="-122"/>
                <a:cs typeface="Calibri" pitchFamily="34" charset="-120"/>
              </a:rPr>
              <a:t>to the second</a:t>
            </a:r>
            <a:endParaRPr lang="en-US" sz="2100" dirty="0"/>
          </a:p>
        </p:txBody>
      </p:sp>
      <p:sp>
        <p:nvSpPr>
          <p:cNvPr id="9" name="Text 6"/>
          <p:cNvSpPr txBox="1"/>
          <p:nvPr/>
        </p:nvSpPr>
        <p:spPr>
          <a:xfrm>
            <a:off x="2651760" y="2176272"/>
            <a:ext cx="4663440" cy="658368"/>
          </a:xfrm>
          <a:prstGeom prst="rect">
            <a:avLst/>
          </a:prstGeom>
          <a:noFill/>
          <a:ln/>
        </p:spPr>
        <p:txBody>
          <a:bodyPr wrap="square" lIns="635" tIns="635" rIns="635" bIns="635" rtlCol="0" anchor="ctr"/>
          <a:lstStyle/>
          <a:p>
            <a:pPr indent="0" marL="0">
              <a:buNone/>
            </a:pPr>
            <a:r>
              <a:rPr lang="en-US" sz="1300" dirty="0">
                <a:solidFill>
                  <a:srgbClr val="1E2933"/>
                </a:solidFill>
                <a:latin typeface="Calibri" pitchFamily="34" charset="0"/>
                <a:ea typeface="Calibri" pitchFamily="34" charset="-122"/>
                <a:cs typeface="Calibri" pitchFamily="34" charset="-120"/>
              </a:rPr>
              <a:t>3 small designed evenings reproduce hand-computed event times</a:t>
            </a:r>
            <a:endParaRPr lang="en-US" sz="1300" dirty="0"/>
          </a:p>
        </p:txBody>
      </p:sp>
      <p:sp>
        <p:nvSpPr>
          <p:cNvPr id="10" name="Text 7"/>
          <p:cNvSpPr txBox="1"/>
          <p:nvPr/>
        </p:nvSpPr>
        <p:spPr>
          <a:xfrm>
            <a:off x="640080" y="2907792"/>
            <a:ext cx="2011680" cy="658368"/>
          </a:xfrm>
          <a:prstGeom prst="rect">
            <a:avLst/>
          </a:prstGeom>
          <a:noFill/>
          <a:ln/>
        </p:spPr>
        <p:txBody>
          <a:bodyPr wrap="square" lIns="635" tIns="635" rIns="635" bIns="635" rtlCol="0" anchor="ctr"/>
          <a:lstStyle/>
          <a:p>
            <a:pPr indent="0" marL="0">
              <a:buNone/>
            </a:pPr>
            <a:r>
              <a:rPr lang="en-US" sz="2100" b="1" dirty="0">
                <a:solidFill>
                  <a:srgbClr val="0F7A57"/>
                </a:solidFill>
                <a:latin typeface="Calibri" pitchFamily="34" charset="0"/>
                <a:ea typeface="Calibri" pitchFamily="34" charset="-122"/>
                <a:cs typeface="Calibri" pitchFamily="34" charset="-120"/>
              </a:rPr>
              <a:t>292,181</a:t>
            </a:r>
            <a:endParaRPr lang="en-US" sz="2100" dirty="0"/>
          </a:p>
        </p:txBody>
      </p:sp>
      <p:sp>
        <p:nvSpPr>
          <p:cNvPr id="11" name="Text 8"/>
          <p:cNvSpPr txBox="1"/>
          <p:nvPr/>
        </p:nvSpPr>
        <p:spPr>
          <a:xfrm>
            <a:off x="2651760" y="2907792"/>
            <a:ext cx="4663440" cy="658368"/>
          </a:xfrm>
          <a:prstGeom prst="rect">
            <a:avLst/>
          </a:prstGeom>
          <a:noFill/>
          <a:ln/>
        </p:spPr>
        <p:txBody>
          <a:bodyPr wrap="square" lIns="635" tIns="635" rIns="635" bIns="635" rtlCol="0" anchor="ctr"/>
          <a:lstStyle/>
          <a:p>
            <a:pPr indent="0" marL="0">
              <a:buNone/>
            </a:pPr>
            <a:r>
              <a:rPr lang="en-US" sz="1300" dirty="0">
                <a:solidFill>
                  <a:srgbClr val="1E2933"/>
                </a:solidFill>
                <a:latin typeface="Calibri" pitchFamily="34" charset="0"/>
                <a:ea typeface="Calibri" pitchFamily="34" charset="-122"/>
                <a:cs typeface="Calibri" pitchFamily="34" charset="-120"/>
              </a:rPr>
              <a:t>plan combinations on a designed evening, enumerated by a separate brute-force program over the same candidates; always the same choice</a:t>
            </a:r>
            <a:endParaRPr lang="en-US" sz="1300" dirty="0"/>
          </a:p>
        </p:txBody>
      </p:sp>
      <p:sp>
        <p:nvSpPr>
          <p:cNvPr id="12" name="Text 9"/>
          <p:cNvSpPr txBox="1"/>
          <p:nvPr/>
        </p:nvSpPr>
        <p:spPr>
          <a:xfrm>
            <a:off x="640080" y="3639312"/>
            <a:ext cx="2011680" cy="658368"/>
          </a:xfrm>
          <a:prstGeom prst="rect">
            <a:avLst/>
          </a:prstGeom>
          <a:noFill/>
          <a:ln/>
        </p:spPr>
        <p:txBody>
          <a:bodyPr wrap="square" lIns="635" tIns="635" rIns="635" bIns="635" rtlCol="0" anchor="ctr"/>
          <a:lstStyle/>
          <a:p>
            <a:pPr indent="0" marL="0">
              <a:buNone/>
            </a:pPr>
            <a:r>
              <a:rPr lang="en-US" sz="2100" b="1" dirty="0">
                <a:solidFill>
                  <a:srgbClr val="0F7A57"/>
                </a:solidFill>
                <a:latin typeface="Calibri" pitchFamily="34" charset="0"/>
                <a:ea typeface="Calibri" pitchFamily="34" charset="-122"/>
                <a:cs typeface="Calibri" pitchFamily="34" charset="-120"/>
              </a:rPr>
              <a:t>253 tests</a:t>
            </a:r>
            <a:endParaRPr lang="en-US" sz="2100" dirty="0"/>
          </a:p>
        </p:txBody>
      </p:sp>
      <p:sp>
        <p:nvSpPr>
          <p:cNvPr id="13" name="Text 10"/>
          <p:cNvSpPr txBox="1"/>
          <p:nvPr/>
        </p:nvSpPr>
        <p:spPr>
          <a:xfrm>
            <a:off x="2651760" y="3639312"/>
            <a:ext cx="4663440" cy="658368"/>
          </a:xfrm>
          <a:prstGeom prst="rect">
            <a:avLst/>
          </a:prstGeom>
          <a:noFill/>
          <a:ln/>
        </p:spPr>
        <p:txBody>
          <a:bodyPr wrap="square" lIns="635" tIns="635" rIns="635" bIns="635" rtlCol="0" anchor="ctr"/>
          <a:lstStyle/>
          <a:p>
            <a:pPr indent="0" marL="0">
              <a:buNone/>
            </a:pPr>
            <a:r>
              <a:rPr lang="en-US" sz="1300" dirty="0">
                <a:solidFill>
                  <a:srgbClr val="1E2933"/>
                </a:solidFill>
                <a:latin typeface="Calibri" pitchFamily="34" charset="0"/>
                <a:ea typeface="Calibri" pitchFamily="34" charset="-122"/>
                <a:cs typeface="Calibri" pitchFamily="34" charset="-120"/>
              </a:rPr>
              <a:t>pass; 168 written by separate AI review agents that did not reuse the simulator's code</a:t>
            </a:r>
            <a:endParaRPr lang="en-US" sz="1300" dirty="0"/>
          </a:p>
        </p:txBody>
      </p:sp>
      <p:sp>
        <p:nvSpPr>
          <p:cNvPr id="14" name="Text 11"/>
          <p:cNvSpPr txBox="1"/>
          <p:nvPr/>
        </p:nvSpPr>
        <p:spPr>
          <a:xfrm>
            <a:off x="640080" y="4370832"/>
            <a:ext cx="2011680" cy="658368"/>
          </a:xfrm>
          <a:prstGeom prst="rect">
            <a:avLst/>
          </a:prstGeom>
          <a:noFill/>
          <a:ln/>
        </p:spPr>
        <p:txBody>
          <a:bodyPr wrap="square" lIns="635" tIns="635" rIns="635" bIns="635" rtlCol="0" anchor="ctr"/>
          <a:lstStyle/>
          <a:p>
            <a:pPr indent="0" marL="0">
              <a:buNone/>
            </a:pPr>
            <a:r>
              <a:rPr lang="en-US" sz="2100" b="1" dirty="0">
                <a:solidFill>
                  <a:srgbClr val="0F7A57"/>
                </a:solidFill>
                <a:latin typeface="Calibri" pitchFamily="34" charset="0"/>
                <a:ea typeface="Calibri" pitchFamily="34" charset="-122"/>
                <a:cs typeface="Calibri" pitchFamily="34" charset="-120"/>
              </a:rPr>
              <a:t>6 of 6</a:t>
            </a:r>
            <a:endParaRPr lang="en-US" sz="2100" dirty="0"/>
          </a:p>
        </p:txBody>
      </p:sp>
      <p:sp>
        <p:nvSpPr>
          <p:cNvPr id="15" name="Text 12"/>
          <p:cNvSpPr txBox="1"/>
          <p:nvPr/>
        </p:nvSpPr>
        <p:spPr>
          <a:xfrm>
            <a:off x="2651760" y="4370832"/>
            <a:ext cx="4663440" cy="658368"/>
          </a:xfrm>
          <a:prstGeom prst="rect">
            <a:avLst/>
          </a:prstGeom>
          <a:noFill/>
          <a:ln/>
        </p:spPr>
        <p:txBody>
          <a:bodyPr wrap="square" lIns="635" tIns="635" rIns="635" bIns="635" rtlCol="0" anchor="ctr"/>
          <a:lstStyle/>
          <a:p>
            <a:pPr indent="0" marL="0">
              <a:buNone/>
            </a:pPr>
            <a:r>
              <a:rPr lang="en-US" sz="1300" dirty="0">
                <a:solidFill>
                  <a:srgbClr val="1E2933"/>
                </a:solidFill>
                <a:latin typeface="Calibri" pitchFamily="34" charset="0"/>
                <a:ea typeface="Calibri" pitchFamily="34" charset="-122"/>
                <a:cs typeface="Calibri" pitchFamily="34" charset="-120"/>
              </a:rPr>
              <a:t>sampled reruns byte-identical</a:t>
            </a:r>
            <a:endParaRPr lang="en-US" sz="1300" dirty="0"/>
          </a:p>
        </p:txBody>
      </p:sp>
      <p:sp>
        <p:nvSpPr>
          <p:cNvPr id="16" name="Shape 13"/>
          <p:cNvSpPr/>
          <p:nvPr/>
        </p:nvSpPr>
        <p:spPr>
          <a:xfrm>
            <a:off x="7680960" y="1691640"/>
            <a:ext cx="4023360" cy="3429000"/>
          </a:xfrm>
          <a:prstGeom prst="roundRect">
            <a:avLst>
              <a:gd name="adj" fmla="val 1867"/>
            </a:avLst>
          </a:prstGeom>
          <a:solidFill>
            <a:srgbClr val="FFF4EC"/>
          </a:solidFill>
          <a:ln w="9525">
            <a:solidFill>
              <a:srgbClr val="FFF4EC"/>
            </a:solidFill>
            <a:prstDash val="solid"/>
          </a:ln>
        </p:spPr>
      </p:sp>
      <p:sp>
        <p:nvSpPr>
          <p:cNvPr id="17" name="Text 14"/>
          <p:cNvSpPr txBox="1"/>
          <p:nvPr/>
        </p:nvSpPr>
        <p:spPr>
          <a:xfrm>
            <a:off x="7863840" y="1755648"/>
            <a:ext cx="3657600" cy="365760"/>
          </a:xfrm>
          <a:prstGeom prst="rect">
            <a:avLst/>
          </a:prstGeom>
          <a:noFill/>
          <a:ln/>
        </p:spPr>
        <p:txBody>
          <a:bodyPr wrap="square" lIns="635" tIns="635" rIns="635" bIns="635" rtlCol="0" anchor="t"/>
          <a:lstStyle/>
          <a:p>
            <a:pPr indent="0" marL="0">
              <a:buNone/>
            </a:pPr>
            <a:r>
              <a:rPr lang="en-US" sz="1700" b="1" dirty="0">
                <a:solidFill>
                  <a:srgbClr val="EB6834"/>
                </a:solidFill>
                <a:latin typeface="Calibri" pitchFamily="34" charset="0"/>
                <a:ea typeface="Calibri" pitchFamily="34" charset="-122"/>
                <a:cs typeface="Calibri" pitchFamily="34" charset="-120"/>
              </a:rPr>
              <a:t>Not validation</a:t>
            </a:r>
            <a:endParaRPr lang="en-US" sz="1700" dirty="0"/>
          </a:p>
        </p:txBody>
      </p:sp>
      <p:sp>
        <p:nvSpPr>
          <p:cNvPr id="18" name="Text 15"/>
          <p:cNvSpPr txBox="1"/>
          <p:nvPr/>
        </p:nvSpPr>
        <p:spPr>
          <a:xfrm>
            <a:off x="7863840" y="2194560"/>
            <a:ext cx="3703320" cy="283464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Do riders behave like our hidden draws?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Do our evenings resemble real Homewood nights?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Would the rules behave the same in real operations?</a:t>
            </a:r>
            <a:endParaRPr lang="en-US" sz="1400" dirty="0"/>
          </a:p>
        </p:txBody>
      </p:sp>
      <p:sp>
        <p:nvSpPr>
          <p:cNvPr id="19" name="Shape 16"/>
          <p:cNvSpPr/>
          <p:nvPr/>
        </p:nvSpPr>
        <p:spPr>
          <a:xfrm>
            <a:off x="457200" y="5303520"/>
            <a:ext cx="11247120" cy="822960"/>
          </a:xfrm>
          <a:prstGeom prst="roundRect">
            <a:avLst>
              <a:gd name="adj" fmla="val 7778"/>
            </a:avLst>
          </a:prstGeom>
          <a:solidFill>
            <a:srgbClr val="FFFFFF"/>
          </a:solidFill>
          <a:ln w="15875">
            <a:solidFill>
              <a:srgbClr val="D5DADF"/>
            </a:solidFill>
            <a:prstDash val="solid"/>
          </a:ln>
        </p:spPr>
      </p:sp>
      <p:sp>
        <p:nvSpPr>
          <p:cNvPr id="20" name="Text 17"/>
          <p:cNvSpPr txBox="1"/>
          <p:nvPr/>
        </p:nvSpPr>
        <p:spPr>
          <a:xfrm>
            <a:off x="594360" y="5321808"/>
            <a:ext cx="10972800" cy="786384"/>
          </a:xfrm>
          <a:prstGeom prst="rect">
            <a:avLst/>
          </a:prstGeom>
          <a:noFill/>
          <a:ln/>
        </p:spPr>
        <p:txBody>
          <a:bodyPr wrap="square" lIns="635" tIns="635" rIns="635" bIns="635" rtlCol="0" anchor="ctr"/>
          <a:lstStyle/>
          <a:p>
            <a:pPr indent="0" marL="0">
              <a:buNone/>
            </a:pPr>
            <a:r>
              <a:rPr lang="en-US" sz="1350" b="1" dirty="0">
                <a:solidFill>
                  <a:srgbClr val="1E2933"/>
                </a:solidFill>
                <a:latin typeface="Calibri" pitchFamily="34" charset="0"/>
                <a:ea typeface="Calibri" pitchFamily="34" charset="-122"/>
                <a:cs typeface="Calibri" pitchFamily="34" charset="-120"/>
              </a:rPr>
              <a:t>AI wrote the simulator code and the checks, under our direction. Separate implementations are useful checks, but they share our assumptions and do not replace our own understanding of the model.</a:t>
            </a:r>
            <a:endParaRPr lang="en-US" sz="1350" dirty="0"/>
          </a:p>
        </p:txBody>
      </p:sp>
      <p:sp>
        <p:nvSpPr>
          <p:cNvPr id="21" name="Text 18"/>
          <p:cNvSpPr txBox="1"/>
          <p:nvPr/>
        </p:nvSpPr>
        <p:spPr>
          <a:xfrm>
            <a:off x="457200" y="6144768"/>
            <a:ext cx="182880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37">
                  <a:extLst>
                    <a:ext uri="{A12FA001-AC4F-418D-AE19-62706E023703}">
                      <ahyp:hlinkClr xmlns:ahyp="http://schemas.microsoft.com/office/drawing/2018/hyperlinkcolor" val="tx"/>
                    </a:ext>
                  </a:extLst>
                </a:hlinkClick>
              </a:rPr>
              <a:t>Diagnostics: B8 →</a:t>
            </a:r>
            <a:endParaRPr lang="en-US" sz="1000" dirty="0"/>
          </a:p>
        </p:txBody>
      </p:sp>
      <p:sp>
        <p:nvSpPr>
          <p:cNvPr id="22" name="Text 19"/>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Phase 4 log; tests/; outputs/sim/batch_L5_v1/reproducibility.json; docs/ai_use_log.md.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The predictive rules reached more requests promptly—and used more Lyft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22</a:t>
            </a:r>
            <a:endParaRPr lang="en-US" sz="1000" dirty="0"/>
          </a:p>
        </p:txBody>
      </p:sp>
      <p:sp>
        <p:nvSpPr>
          <p:cNvPr id="5" name="Text 2"/>
          <p:cNvSpPr txBox="1"/>
          <p:nvPr/>
        </p:nvSpPr>
        <p:spPr>
          <a:xfrm>
            <a:off x="457200" y="914400"/>
            <a:ext cx="11247120" cy="365760"/>
          </a:xfrm>
          <a:prstGeom prst="rect">
            <a:avLst/>
          </a:prstGeom>
          <a:noFill/>
          <a:ln/>
        </p:spPr>
        <p:txBody>
          <a:bodyPr wrap="square" lIns="635" tIns="635" rIns="635" bIns="635" rtlCol="0" anchor="t"/>
          <a:lstStyle/>
          <a:p>
            <a:pPr indent="0" marL="0">
              <a:buNone/>
            </a:pPr>
            <a:r>
              <a:rPr lang="en-US" sz="1600" b="1" dirty="0">
                <a:solidFill>
                  <a:srgbClr val="EB6834"/>
                </a:solidFill>
                <a:latin typeface="Calibri" pitchFamily="34" charset="0"/>
                <a:ea typeface="Calibri" pitchFamily="34" charset="-122"/>
                <a:cs typeface="Calibri" pitchFamily="34" charset="-120"/>
              </a:rPr>
              <a:t>30 constructed burst-demand nights; provisional rider behaviour.</a:t>
            </a:r>
            <a:endParaRPr lang="en-US" sz="1600" dirty="0"/>
          </a:p>
        </p:txBody>
      </p:sp>
      <p:graphicFrame>
        <p:nvGraphicFramePr>
          <p:cNvPr id="6" name="Chart 0" descr=""/>
          <p:cNvGraphicFramePr/>
          <p:nvPr/>
        </p:nvGraphicFramePr>
        <p:xfrm>
          <a:off x="365760" y="1325880"/>
          <a:ext cx="7498080" cy="4846320"/>
        </p:xfrm>
        <a:graphic xmlns:a="http://schemas.openxmlformats.org/drawingml/2006/main">
          <a:graphicData uri="http://schemas.openxmlformats.org/drawingml/2006/chart">
            <c:chart xmlns:c="http://schemas.openxmlformats.org/drawingml/2006/chart" r:id="rId1"/>
          </a:graphicData>
        </a:graphic>
      </p:graphicFrame>
      <p:sp>
        <p:nvSpPr>
          <p:cNvPr id="7" name="status-TESTED"/>
          <p:cNvSpPr/>
          <p:nvPr/>
        </p:nvSpPr>
        <p:spPr>
          <a:xfrm>
            <a:off x="4937760" y="5897880"/>
            <a:ext cx="2743200" cy="292608"/>
          </a:xfrm>
          <a:prstGeom prst="rect">
            <a:avLst/>
          </a:prstGeom>
          <a:solidFill>
            <a:srgbClr val="FFFFFF"/>
          </a:solidFill>
          <a:ln w="19050">
            <a:solidFill>
              <a:srgbClr val="0F7A57"/>
            </a:solidFill>
            <a:prstDash val="solid"/>
          </a:ln>
        </p:spPr>
      </p:sp>
      <p:sp>
        <p:nvSpPr>
          <p:cNvPr id="8" name="Text 4"/>
          <p:cNvSpPr txBox="1"/>
          <p:nvPr/>
        </p:nvSpPr>
        <p:spPr>
          <a:xfrm>
            <a:off x="4937760" y="5897880"/>
            <a:ext cx="2743200" cy="292608"/>
          </a:xfrm>
          <a:prstGeom prst="rect">
            <a:avLst/>
          </a:prstGeom>
          <a:noFill/>
          <a:ln/>
        </p:spPr>
        <p:txBody>
          <a:bodyPr wrap="square" lIns="0" tIns="0" rIns="0" bIns="0" rtlCol="0" anchor="ctr"/>
          <a:lstStyle/>
          <a:p>
            <a:pPr algn="ctr" indent="0" marL="0">
              <a:buNone/>
            </a:pPr>
            <a:r>
              <a:rPr lang="en-US" sz="1050" b="1" dirty="0">
                <a:solidFill>
                  <a:srgbClr val="0F7A57"/>
                </a:solidFill>
                <a:latin typeface="Calibri" pitchFamily="34" charset="0"/>
                <a:ea typeface="Calibri" pitchFamily="34" charset="-122"/>
                <a:cs typeface="Calibri" pitchFamily="34" charset="-120"/>
              </a:rPr>
              <a:t>TESTED IN SIMULATION</a:t>
            </a:r>
            <a:endParaRPr lang="en-US" sz="1050" dirty="0"/>
          </a:p>
        </p:txBody>
      </p:sp>
      <p:sp>
        <p:nvSpPr>
          <p:cNvPr id="9" name="Text 5"/>
          <p:cNvSpPr txBox="1"/>
          <p:nvPr/>
        </p:nvSpPr>
        <p:spPr>
          <a:xfrm>
            <a:off x="457200" y="6172200"/>
            <a:ext cx="4114800" cy="228600"/>
          </a:xfrm>
          <a:prstGeom prst="rect">
            <a:avLst/>
          </a:prstGeom>
          <a:noFill/>
          <a:ln/>
        </p:spPr>
        <p:txBody>
          <a:bodyPr wrap="square" lIns="635" tIns="635" rIns="635" bIns="635" rtlCol="0" anchor="t"/>
          <a:lstStyle/>
          <a:p>
            <a:pPr indent="0" marL="0">
              <a:buNone/>
            </a:pPr>
            <a:r>
              <a:rPr lang="en-US" sz="1050" dirty="0">
                <a:solidFill>
                  <a:srgbClr val="5B6670"/>
                </a:solidFill>
                <a:latin typeface="Calibri" pitchFamily="34" charset="0"/>
                <a:ea typeface="Calibri" pitchFamily="34" charset="-122"/>
                <a:cs typeface="Calibri" pitchFamily="34" charset="-120"/>
              </a:rPr>
              <a:t>blue: predictive rules · grey: the others</a:t>
            </a:r>
            <a:endParaRPr lang="en-US" sz="1050" dirty="0"/>
          </a:p>
        </p:txBody>
      </p:sp>
      <p:sp>
        <p:nvSpPr>
          <p:cNvPr id="10" name="Shape 6"/>
          <p:cNvSpPr/>
          <p:nvPr/>
        </p:nvSpPr>
        <p:spPr>
          <a:xfrm>
            <a:off x="8138160" y="1371600"/>
            <a:ext cx="3566160" cy="2011680"/>
          </a:xfrm>
          <a:prstGeom prst="roundRect">
            <a:avLst>
              <a:gd name="adj" fmla="val 3182"/>
            </a:avLst>
          </a:prstGeom>
          <a:solidFill>
            <a:srgbClr val="E8F1FB"/>
          </a:solidFill>
          <a:ln w="9525">
            <a:solidFill>
              <a:srgbClr val="E8F1FB"/>
            </a:solidFill>
            <a:prstDash val="solid"/>
          </a:ln>
        </p:spPr>
      </p:sp>
      <p:sp>
        <p:nvSpPr>
          <p:cNvPr id="11" name="Text 7"/>
          <p:cNvSpPr txBox="1"/>
          <p:nvPr/>
        </p:nvSpPr>
        <p:spPr>
          <a:xfrm>
            <a:off x="8275320" y="1417320"/>
            <a:ext cx="3291840" cy="1920240"/>
          </a:xfrm>
          <a:prstGeom prst="rect">
            <a:avLst/>
          </a:prstGeom>
          <a:noFill/>
          <a:ln/>
        </p:spPr>
        <p:txBody>
          <a:bodyPr wrap="square" lIns="635" tIns="635" rIns="635" bIns="635" rtlCol="0" anchor="t"/>
          <a:lstStyle/>
          <a:p>
            <a:pPr indent="0" marL="0">
              <a:buNone/>
            </a:pPr>
            <a:r>
              <a:rPr lang="en-US" sz="1300" dirty="0">
                <a:solidFill>
                  <a:srgbClr val="1E2933"/>
                </a:solidFill>
                <a:latin typeface="Calibri" pitchFamily="34" charset="0"/>
                <a:ea typeface="Calibri" pitchFamily="34" charset="-122"/>
                <a:cs typeface="Calibri" pitchFamily="34" charset="-120"/>
              </a:rPr>
              <a:t>In this two-van pilot, the predictive rules reached about three quarters of requests within fifteen minutes, compared with about half under vans only. They also used roughly nine to ten and a half Lyft orders per night.</a:t>
            </a:r>
            <a:endParaRPr lang="en-US" sz="1300" dirty="0"/>
          </a:p>
        </p:txBody>
      </p:sp>
      <p:sp>
        <p:nvSpPr>
          <p:cNvPr id="12" name="Shape 8"/>
          <p:cNvSpPr/>
          <p:nvPr/>
        </p:nvSpPr>
        <p:spPr>
          <a:xfrm>
            <a:off x="8138160" y="3520440"/>
            <a:ext cx="3566160" cy="1188720"/>
          </a:xfrm>
          <a:prstGeom prst="roundRect">
            <a:avLst>
              <a:gd name="adj" fmla="val 5385"/>
            </a:avLst>
          </a:prstGeom>
          <a:solidFill>
            <a:srgbClr val="EEF1F4"/>
          </a:solidFill>
          <a:ln w="9525">
            <a:solidFill>
              <a:srgbClr val="EEF1F4"/>
            </a:solidFill>
            <a:prstDash val="solid"/>
          </a:ln>
        </p:spPr>
      </p:sp>
      <p:sp>
        <p:nvSpPr>
          <p:cNvPr id="13" name="Text 9"/>
          <p:cNvSpPr txBox="1"/>
          <p:nvPr/>
        </p:nvSpPr>
        <p:spPr>
          <a:xfrm>
            <a:off x="8275320" y="3547872"/>
            <a:ext cx="3291840" cy="1143000"/>
          </a:xfrm>
          <a:prstGeom prst="rect">
            <a:avLst/>
          </a:prstGeom>
          <a:noFill/>
          <a:ln/>
        </p:spPr>
        <p:txBody>
          <a:bodyPr wrap="square" lIns="635" tIns="635" rIns="635" bIns="635" rtlCol="0" anchor="ctr"/>
          <a:lstStyle/>
          <a:p>
            <a:pPr indent="0" marL="0">
              <a:buNone/>
            </a:pPr>
            <a:r>
              <a:rPr lang="en-US" sz="1150" b="1" dirty="0">
                <a:solidFill>
                  <a:srgbClr val="1E2933"/>
                </a:solidFill>
                <a:latin typeface="Calibri" pitchFamily="34" charset="0"/>
                <a:ea typeface="Calibri" pitchFamily="34" charset="-122"/>
                <a:cs typeface="Calibri" pitchFamily="34" charset="-120"/>
              </a:rPr>
              <a:t>Metric: a vehicle reaching the curb—not boarding or a completed trip. </a:t>
            </a:r>
            <a:pPr indent="0" marL="0">
              <a:buNone/>
            </a:pPr>
            <a:r>
              <a:rPr lang="en-US" sz="1150" dirty="0">
                <a:solidFill>
                  <a:srgbClr val="1E2933"/>
                </a:solidFill>
                <a:latin typeface="Calibri" pitchFamily="34" charset="0"/>
                <a:ea typeface="Calibri" pitchFamily="34" charset="-122"/>
                <a:cs typeface="Calibri" pitchFamily="34" charset="-120"/>
              </a:rPr>
              <a:t>A rider moved after 10–15 min of waiting almost never reaches the curb within 15 min, so this measure favours early transfer.</a:t>
            </a:r>
            <a:endParaRPr lang="en-US" sz="1150" dirty="0"/>
          </a:p>
        </p:txBody>
      </p:sp>
      <p:sp>
        <p:nvSpPr>
          <p:cNvPr id="14" name="Shape 10"/>
          <p:cNvSpPr/>
          <p:nvPr/>
        </p:nvSpPr>
        <p:spPr>
          <a:xfrm>
            <a:off x="8138160" y="4846320"/>
            <a:ext cx="3566160" cy="1280160"/>
          </a:xfrm>
          <a:prstGeom prst="roundRect">
            <a:avLst>
              <a:gd name="adj" fmla="val 5000"/>
            </a:avLst>
          </a:prstGeom>
          <a:solidFill>
            <a:srgbClr val="FFF4EC"/>
          </a:solidFill>
          <a:ln w="9525">
            <a:solidFill>
              <a:srgbClr val="FFF4EC"/>
            </a:solidFill>
            <a:prstDash val="solid"/>
          </a:ln>
        </p:spPr>
      </p:sp>
      <p:sp>
        <p:nvSpPr>
          <p:cNvPr id="15" name="Text 11"/>
          <p:cNvSpPr txBox="1"/>
          <p:nvPr/>
        </p:nvSpPr>
        <p:spPr>
          <a:xfrm>
            <a:off x="8275320" y="4892040"/>
            <a:ext cx="3291840" cy="1188720"/>
          </a:xfrm>
          <a:prstGeom prst="rect">
            <a:avLst/>
          </a:prstGeom>
          <a:noFill/>
          <a:ln/>
        </p:spPr>
        <p:txBody>
          <a:bodyPr wrap="square" lIns="635" tIns="635" rIns="635" bIns="635" rtlCol="0" anchor="ctr"/>
          <a:lstStyle/>
          <a:p>
            <a:pPr indent="0" marL="0">
              <a:buNone/>
            </a:pPr>
            <a:r>
              <a:rPr lang="en-US" sz="1350" b="1" dirty="0">
                <a:solidFill>
                  <a:srgbClr val="1E2933"/>
                </a:solidFill>
                <a:latin typeface="Calibri" pitchFamily="34" charset="0"/>
                <a:ea typeface="Calibri" pitchFamily="34" charset="-122"/>
                <a:cs typeface="Calibri" pitchFamily="34" charset="-120"/>
              </a:rPr>
              <a:t>This comparison does not isolate the benefit of prediction at an equal Lyft budget.</a:t>
            </a:r>
            <a:endParaRPr lang="en-US" sz="1350" dirty="0"/>
          </a:p>
        </p:txBody>
      </p:sp>
      <p:sp>
        <p:nvSpPr>
          <p:cNvPr id="16" name="Text 12"/>
          <p:cNvSpPr txBox="1"/>
          <p:nvPr/>
        </p:nvSpPr>
        <p:spPr>
          <a:xfrm>
            <a:off x="8138160" y="6172200"/>
            <a:ext cx="1828800" cy="237744"/>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2" action="ppaction://hlinksldjump" tooltip="Go to slide 35">
                  <a:extLst>
                    <a:ext uri="{A12FA001-AC4F-418D-AE19-62706E023703}">
                      <ahyp:hlinkClr xmlns:ahyp="http://schemas.microsoft.com/office/drawing/2018/hyperlinkcolor" val="tx"/>
                    </a:ext>
                  </a:extLst>
                </a:hlinkClick>
              </a:rPr>
              <a:t>All metrics: B6 →</a:t>
            </a:r>
            <a:endParaRPr lang="en-US" sz="1000" dirty="0"/>
          </a:p>
        </p:txBody>
      </p:sp>
      <p:sp>
        <p:nvSpPr>
          <p:cNvPr id="17" name="Text 1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outputs/sim/batch_L5_v1 (tradeoff.md, summary.md). Descriptive means; between-night SD 0.07–0.10.</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Moving a request to Lyft does not end its wait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23</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rider still waits through ordering and Lyft arrival. Their original patience clock continues running.</a:t>
            </a:r>
            <a:endParaRPr lang="en-US" sz="1700" dirty="0"/>
          </a:p>
        </p:txBody>
      </p:sp>
      <p:sp>
        <p:nvSpPr>
          <p:cNvPr id="6" name="Shape 3"/>
          <p:cNvSpPr/>
          <p:nvPr/>
        </p:nvSpPr>
        <p:spPr>
          <a:xfrm>
            <a:off x="548640" y="1508760"/>
            <a:ext cx="2743200" cy="438912"/>
          </a:xfrm>
          <a:prstGeom prst="rect">
            <a:avLst/>
          </a:prstGeom>
          <a:solidFill>
            <a:srgbClr val="8A939B"/>
          </a:solidFill>
          <a:ln w="25400">
            <a:solidFill>
              <a:srgbClr val="FFFFFF"/>
            </a:solidFill>
            <a:prstDash val="solid"/>
          </a:ln>
        </p:spPr>
      </p:sp>
      <p:sp>
        <p:nvSpPr>
          <p:cNvPr id="7" name="Text 4"/>
          <p:cNvSpPr txBox="1"/>
          <p:nvPr/>
        </p:nvSpPr>
        <p:spPr>
          <a:xfrm>
            <a:off x="548640" y="1508760"/>
            <a:ext cx="2743200" cy="438912"/>
          </a:xfrm>
          <a:prstGeom prst="rect">
            <a:avLst/>
          </a:prstGeom>
          <a:noFill/>
          <a:ln/>
        </p:spPr>
        <p:txBody>
          <a:bodyPr wrap="square" lIns="0" tIns="0" rIns="0" bIns="0"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Waiting for a van</a:t>
            </a:r>
            <a:endParaRPr lang="en-US" sz="1250" dirty="0"/>
          </a:p>
        </p:txBody>
      </p:sp>
      <p:sp>
        <p:nvSpPr>
          <p:cNvPr id="8" name="Shape 5"/>
          <p:cNvSpPr/>
          <p:nvPr/>
        </p:nvSpPr>
        <p:spPr>
          <a:xfrm>
            <a:off x="3291840" y="1508760"/>
            <a:ext cx="1188720" cy="438912"/>
          </a:xfrm>
          <a:prstGeom prst="rect">
            <a:avLst/>
          </a:prstGeom>
          <a:solidFill>
            <a:srgbClr val="EDA100"/>
          </a:solidFill>
          <a:ln w="25400">
            <a:solidFill>
              <a:srgbClr val="FFFFFF"/>
            </a:solidFill>
            <a:prstDash val="solid"/>
          </a:ln>
        </p:spPr>
      </p:sp>
      <p:sp>
        <p:nvSpPr>
          <p:cNvPr id="9" name="Text 6"/>
          <p:cNvSpPr txBox="1"/>
          <p:nvPr/>
        </p:nvSpPr>
        <p:spPr>
          <a:xfrm>
            <a:off x="3291840" y="1508760"/>
            <a:ext cx="1188720" cy="438912"/>
          </a:xfrm>
          <a:prstGeom prst="rect">
            <a:avLst/>
          </a:prstGeom>
          <a:noFill/>
          <a:ln/>
        </p:spPr>
        <p:txBody>
          <a:bodyPr wrap="square" lIns="0" tIns="0" rIns="0" bIns="0"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Ordering lag 2 min</a:t>
            </a:r>
            <a:endParaRPr lang="en-US" sz="1250" dirty="0"/>
          </a:p>
        </p:txBody>
      </p:sp>
      <p:sp>
        <p:nvSpPr>
          <p:cNvPr id="10" name="Shape 7"/>
          <p:cNvSpPr/>
          <p:nvPr/>
        </p:nvSpPr>
        <p:spPr>
          <a:xfrm>
            <a:off x="4480560" y="1508760"/>
            <a:ext cx="2286000" cy="438912"/>
          </a:xfrm>
          <a:prstGeom prst="rect">
            <a:avLst/>
          </a:prstGeom>
          <a:solidFill>
            <a:srgbClr val="EB6834"/>
          </a:solidFill>
          <a:ln w="25400">
            <a:solidFill>
              <a:srgbClr val="FFFFFF"/>
            </a:solidFill>
            <a:prstDash val="solid"/>
          </a:ln>
        </p:spPr>
      </p:sp>
      <p:sp>
        <p:nvSpPr>
          <p:cNvPr id="11" name="Text 8"/>
          <p:cNvSpPr txBox="1"/>
          <p:nvPr/>
        </p:nvSpPr>
        <p:spPr>
          <a:xfrm>
            <a:off x="4480560" y="1508760"/>
            <a:ext cx="2286000" cy="43891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Lyft travelling</a:t>
            </a:r>
            <a:endParaRPr lang="en-US" sz="1250" dirty="0"/>
          </a:p>
        </p:txBody>
      </p:sp>
      <p:sp>
        <p:nvSpPr>
          <p:cNvPr id="12" name="Shape 9"/>
          <p:cNvSpPr/>
          <p:nvPr/>
        </p:nvSpPr>
        <p:spPr>
          <a:xfrm>
            <a:off x="6665976" y="1627632"/>
            <a:ext cx="201168" cy="201168"/>
          </a:xfrm>
          <a:prstGeom prst="ellipse">
            <a:avLst/>
          </a:prstGeom>
          <a:solidFill>
            <a:srgbClr val="1BAF7A"/>
          </a:solidFill>
          <a:ln w="15875">
            <a:solidFill>
              <a:srgbClr val="1BAF7A"/>
            </a:solidFill>
            <a:prstDash val="solid"/>
          </a:ln>
        </p:spPr>
      </p:sp>
      <p:sp>
        <p:nvSpPr>
          <p:cNvPr id="13" name="Text 10"/>
          <p:cNvSpPr txBox="1"/>
          <p:nvPr/>
        </p:nvSpPr>
        <p:spPr>
          <a:xfrm>
            <a:off x="6903720" y="1591056"/>
            <a:ext cx="640080" cy="274320"/>
          </a:xfrm>
          <a:prstGeom prst="rect">
            <a:avLst/>
          </a:prstGeom>
          <a:noFill/>
          <a:ln/>
        </p:spPr>
        <p:txBody>
          <a:bodyPr wrap="square" lIns="635" tIns="635" rIns="635" bIns="635" rtlCol="0" anchor="t"/>
          <a:lstStyle/>
          <a:p>
            <a:pPr indent="0" marL="0">
              <a:buNone/>
            </a:pPr>
            <a:r>
              <a:rPr lang="en-US" sz="1200" dirty="0">
                <a:solidFill>
                  <a:srgbClr val="1E2933"/>
                </a:solidFill>
                <a:latin typeface="Calibri" pitchFamily="34" charset="0"/>
                <a:ea typeface="Calibri" pitchFamily="34" charset="-122"/>
                <a:cs typeface="Calibri" pitchFamily="34" charset="-120"/>
              </a:rPr>
              <a:t>curb</a:t>
            </a:r>
            <a:endParaRPr lang="en-US" sz="1200" dirty="0"/>
          </a:p>
        </p:txBody>
      </p:sp>
      <p:sp>
        <p:nvSpPr>
          <p:cNvPr id="14" name="Shape 11"/>
          <p:cNvSpPr/>
          <p:nvPr/>
        </p:nvSpPr>
        <p:spPr>
          <a:xfrm>
            <a:off x="3291840" y="1371600"/>
            <a:ext cx="914" cy="685800"/>
          </a:xfrm>
          <a:prstGeom prst="line">
            <a:avLst/>
          </a:prstGeom>
          <a:noFill/>
          <a:ln w="19050">
            <a:solidFill>
              <a:srgbClr val="1E2933"/>
            </a:solidFill>
            <a:prstDash val="solid"/>
          </a:ln>
        </p:spPr>
      </p:sp>
      <p:sp>
        <p:nvSpPr>
          <p:cNvPr id="15" name="Text 12"/>
          <p:cNvSpPr txBox="1"/>
          <p:nvPr/>
        </p:nvSpPr>
        <p:spPr>
          <a:xfrm>
            <a:off x="2834640" y="2057400"/>
            <a:ext cx="914400" cy="256032"/>
          </a:xfrm>
          <a:prstGeom prst="rect">
            <a:avLst/>
          </a:prstGeom>
          <a:noFill/>
          <a:ln/>
        </p:spPr>
        <p:txBody>
          <a:bodyPr wrap="square" lIns="635" tIns="635" rIns="635" bIns="635" rtlCol="0" anchor="t"/>
          <a:lstStyle/>
          <a:p>
            <a:pPr algn="ctr" indent="0" marL="0">
              <a:buNone/>
            </a:pPr>
            <a:r>
              <a:rPr lang="en-US" sz="1100" dirty="0">
                <a:solidFill>
                  <a:srgbClr val="1E2933"/>
                </a:solidFill>
                <a:latin typeface="Calibri" pitchFamily="34" charset="0"/>
                <a:ea typeface="Calibri" pitchFamily="34" charset="-122"/>
                <a:cs typeface="Calibri" pitchFamily="34" charset="-120"/>
              </a:rPr>
              <a:t>transfer</a:t>
            </a:r>
            <a:endParaRPr lang="en-US" sz="1100" dirty="0"/>
          </a:p>
        </p:txBody>
      </p:sp>
      <p:sp>
        <p:nvSpPr>
          <p:cNvPr id="16" name="Shape 13"/>
          <p:cNvSpPr/>
          <p:nvPr/>
        </p:nvSpPr>
        <p:spPr>
          <a:xfrm>
            <a:off x="548640" y="2395728"/>
            <a:ext cx="6217920" cy="914"/>
          </a:xfrm>
          <a:prstGeom prst="line">
            <a:avLst/>
          </a:prstGeom>
          <a:noFill/>
          <a:ln w="19050">
            <a:solidFill>
              <a:srgbClr val="6250D6"/>
            </a:solidFill>
            <a:prstDash val="dash"/>
          </a:ln>
        </p:spPr>
      </p:sp>
      <p:sp>
        <p:nvSpPr>
          <p:cNvPr id="17" name="Text 14"/>
          <p:cNvSpPr txBox="1"/>
          <p:nvPr/>
        </p:nvSpPr>
        <p:spPr>
          <a:xfrm>
            <a:off x="548640" y="2432304"/>
            <a:ext cx="6217920" cy="274320"/>
          </a:xfrm>
          <a:prstGeom prst="rect">
            <a:avLst/>
          </a:prstGeom>
          <a:noFill/>
          <a:ln/>
        </p:spPr>
        <p:txBody>
          <a:bodyPr wrap="square" lIns="635" tIns="635" rIns="635" bIns="635" rtlCol="0" anchor="t"/>
          <a:lstStyle/>
          <a:p>
            <a:pPr indent="0" marL="0">
              <a:buNone/>
            </a:pPr>
            <a:r>
              <a:rPr lang="en-US" sz="1200" i="1" dirty="0">
                <a:solidFill>
                  <a:srgbClr val="6250D6"/>
                </a:solidFill>
                <a:latin typeface="Calibri" pitchFamily="34" charset="0"/>
                <a:ea typeface="Calibri" pitchFamily="34" charset="-122"/>
                <a:cs typeface="Calibri" pitchFamily="34" charset="-120"/>
              </a:rPr>
              <a:t>the rider's hidden patience clock, running from the original request</a:t>
            </a:r>
            <a:endParaRPr lang="en-US" sz="1200" dirty="0"/>
          </a:p>
        </p:txBody>
      </p:sp>
      <p:graphicFrame>
        <p:nvGraphicFramePr>
          <p:cNvPr id="18" name="Chart 0" descr=""/>
          <p:cNvGraphicFramePr/>
          <p:nvPr/>
        </p:nvGraphicFramePr>
        <p:xfrm>
          <a:off x="365760" y="2743200"/>
          <a:ext cx="7680960" cy="3611880"/>
        </p:xfrm>
        <a:graphic xmlns:a="http://schemas.openxmlformats.org/drawingml/2006/main">
          <a:graphicData uri="http://schemas.openxmlformats.org/drawingml/2006/chart">
            <c:chart xmlns:c="http://schemas.openxmlformats.org/drawingml/2006/chart" r:id="rId1"/>
          </a:graphicData>
        </a:graphic>
      </p:graphicFrame>
      <p:sp>
        <p:nvSpPr>
          <p:cNvPr id="19" name="Shape 15"/>
          <p:cNvSpPr/>
          <p:nvPr/>
        </p:nvSpPr>
        <p:spPr>
          <a:xfrm>
            <a:off x="8321040" y="1417320"/>
            <a:ext cx="3383280" cy="1600200"/>
          </a:xfrm>
          <a:prstGeom prst="roundRect">
            <a:avLst>
              <a:gd name="adj" fmla="val 4000"/>
            </a:avLst>
          </a:prstGeom>
          <a:solidFill>
            <a:srgbClr val="FFF4EC"/>
          </a:solidFill>
          <a:ln w="9525">
            <a:solidFill>
              <a:srgbClr val="FFF4EC"/>
            </a:solidFill>
            <a:prstDash val="solid"/>
          </a:ln>
        </p:spPr>
      </p:sp>
      <p:sp>
        <p:nvSpPr>
          <p:cNvPr id="20" name="Text 16"/>
          <p:cNvSpPr txBox="1"/>
          <p:nvPr/>
        </p:nvSpPr>
        <p:spPr>
          <a:xfrm>
            <a:off x="8458200" y="1463040"/>
            <a:ext cx="3108960" cy="1508760"/>
          </a:xfrm>
          <a:prstGeom prst="rect">
            <a:avLst/>
          </a:prstGeom>
          <a:noFill/>
          <a:ln/>
        </p:spPr>
        <p:txBody>
          <a:bodyPr wrap="square" lIns="635" tIns="635" rIns="635" bIns="635" rtlCol="0" anchor="t"/>
          <a:lstStyle/>
          <a:p>
            <a:pPr indent="0" marL="0">
              <a:buNone/>
            </a:pPr>
            <a:r>
              <a:rPr lang="en-US" sz="2800" b="1" dirty="0">
                <a:solidFill>
                  <a:srgbClr val="EB6834"/>
                </a:solidFill>
                <a:latin typeface="Calibri" pitchFamily="34" charset="0"/>
                <a:ea typeface="Calibri" pitchFamily="34" charset="-122"/>
                <a:cs typeface="Calibri" pitchFamily="34" charset="-120"/>
              </a:rPr>
              <a:t>95 of 196</a:t>
            </a:r>
            <a:endParaRPr lang="en-US" sz="1600" dirty="0"/>
          </a:p>
          <a:p>
            <a:pPr indent="0" marL="0">
              <a:buNone/>
            </a:pPr>
            <a:r>
              <a:rPr lang="en-US" sz="1250" dirty="0">
                <a:solidFill>
                  <a:srgbClr val="1E2933"/>
                </a:solidFill>
                <a:latin typeface="Calibri" pitchFamily="34" charset="0"/>
                <a:ea typeface="Calibri" pitchFamily="34" charset="-122"/>
                <a:cs typeface="Calibri" pitchFamily="34" charset="-120"/>
              </a:rPr>
              <a:t>transferred under “Wait ten minutes” cancelled before the Lyft arrived; about a third under the prediction rules</a:t>
            </a:r>
            <a:endParaRPr lang="en-US" sz="1600" dirty="0"/>
          </a:p>
        </p:txBody>
      </p:sp>
      <p:sp>
        <p:nvSpPr>
          <p:cNvPr id="21" name="Shape 17"/>
          <p:cNvSpPr/>
          <p:nvPr/>
        </p:nvSpPr>
        <p:spPr>
          <a:xfrm>
            <a:off x="8321040" y="3154680"/>
            <a:ext cx="3383280" cy="1600200"/>
          </a:xfrm>
          <a:prstGeom prst="roundRect">
            <a:avLst>
              <a:gd name="adj" fmla="val 4000"/>
            </a:avLst>
          </a:prstGeom>
          <a:solidFill>
            <a:srgbClr val="E8F1FB"/>
          </a:solidFill>
          <a:ln w="9525">
            <a:solidFill>
              <a:srgbClr val="E8F1FB"/>
            </a:solidFill>
            <a:prstDash val="solid"/>
          </a:ln>
        </p:spPr>
      </p:sp>
      <p:sp>
        <p:nvSpPr>
          <p:cNvPr id="22" name="Text 18"/>
          <p:cNvSpPr txBox="1"/>
          <p:nvPr/>
        </p:nvSpPr>
        <p:spPr>
          <a:xfrm>
            <a:off x="8458200" y="3200400"/>
            <a:ext cx="3108960" cy="1508760"/>
          </a:xfrm>
          <a:prstGeom prst="rect">
            <a:avLst/>
          </a:prstGeom>
          <a:noFill/>
          <a:ln/>
        </p:spPr>
        <p:txBody>
          <a:bodyPr wrap="square" lIns="635" tIns="635" rIns="635" bIns="635" rtlCol="0" anchor="ctr"/>
          <a:lstStyle/>
          <a:p>
            <a:pPr indent="0" marL="0">
              <a:buNone/>
            </a:pPr>
            <a:r>
              <a:rPr lang="en-US" sz="1200" dirty="0">
                <a:solidFill>
                  <a:srgbClr val="1E2933"/>
                </a:solidFill>
                <a:latin typeface="Calibri" pitchFamily="34" charset="0"/>
                <a:ea typeface="Calibri" pitchFamily="34" charset="-122"/>
                <a:cs typeface="Calibri" pitchFamily="34" charset="-120"/>
              </a:rPr>
              <a:t>Riders moved by the prediction rules had usually waited less when transferred. Under our placeholder patience, that is consistent with their lower share lost after transfer: a possible contributing mechanism, not an isolated cause.</a:t>
            </a:r>
            <a:endParaRPr lang="en-US" sz="1200" dirty="0"/>
          </a:p>
        </p:txBody>
      </p:sp>
      <p:sp>
        <p:nvSpPr>
          <p:cNvPr id="23" name="Shape 19"/>
          <p:cNvSpPr/>
          <p:nvPr/>
        </p:nvSpPr>
        <p:spPr>
          <a:xfrm>
            <a:off x="8321040" y="4892040"/>
            <a:ext cx="3383280" cy="1280160"/>
          </a:xfrm>
          <a:prstGeom prst="roundRect">
            <a:avLst>
              <a:gd name="adj" fmla="val 5000"/>
            </a:avLst>
          </a:prstGeom>
          <a:solidFill>
            <a:srgbClr val="EFEDFB"/>
          </a:solidFill>
          <a:ln w="9525">
            <a:solidFill>
              <a:srgbClr val="EFEDFB"/>
            </a:solidFill>
            <a:prstDash val="solid"/>
          </a:ln>
        </p:spPr>
      </p:sp>
      <p:sp>
        <p:nvSpPr>
          <p:cNvPr id="24" name="evidence-ASSUMED"/>
          <p:cNvSpPr/>
          <p:nvPr/>
        </p:nvSpPr>
        <p:spPr>
          <a:xfrm>
            <a:off x="8412480" y="4956048"/>
            <a:ext cx="1051560" cy="256032"/>
          </a:xfrm>
          <a:prstGeom prst="roundRect">
            <a:avLst>
              <a:gd name="adj" fmla="val 50000"/>
            </a:avLst>
          </a:prstGeom>
          <a:solidFill>
            <a:srgbClr val="FDE3D3"/>
          </a:solidFill>
          <a:ln w="12700">
            <a:solidFill>
              <a:srgbClr val="FDE3D3"/>
            </a:solidFill>
            <a:prstDash val="solid"/>
          </a:ln>
        </p:spPr>
      </p:sp>
      <p:sp>
        <p:nvSpPr>
          <p:cNvPr id="25" name="Text 21"/>
          <p:cNvSpPr txBox="1"/>
          <p:nvPr/>
        </p:nvSpPr>
        <p:spPr>
          <a:xfrm>
            <a:off x="8412480" y="4956048"/>
            <a:ext cx="1051560" cy="256032"/>
          </a:xfrm>
          <a:prstGeom prst="rect">
            <a:avLst/>
          </a:prstGeom>
          <a:noFill/>
          <a:ln/>
        </p:spPr>
        <p:txBody>
          <a:bodyPr wrap="square" lIns="0" tIns="0" rIns="0" bIns="0" rtlCol="0" anchor="ctr"/>
          <a:lstStyle/>
          <a:p>
            <a:pPr algn="ctr" indent="0" marL="0">
              <a:buNone/>
            </a:pPr>
            <a:r>
              <a:rPr lang="en-US" sz="950" b="1" dirty="0">
                <a:solidFill>
                  <a:srgbClr val="8E3A0E"/>
                </a:solidFill>
                <a:latin typeface="Calibri" pitchFamily="34" charset="0"/>
                <a:ea typeface="Calibri" pitchFamily="34" charset="-122"/>
                <a:cs typeface="Calibri" pitchFamily="34" charset="-120"/>
              </a:rPr>
              <a:t>ASSUMED</a:t>
            </a:r>
            <a:endParaRPr lang="en-US" sz="950" dirty="0"/>
          </a:p>
        </p:txBody>
      </p:sp>
      <p:sp>
        <p:nvSpPr>
          <p:cNvPr id="26" name="Text 22"/>
          <p:cNvSpPr txBox="1"/>
          <p:nvPr/>
        </p:nvSpPr>
        <p:spPr>
          <a:xfrm>
            <a:off x="8412480" y="5257800"/>
            <a:ext cx="3200400" cy="86868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Whether the gap between policies survives other patience shapes is untested.</a:t>
            </a:r>
            <a:endParaRPr lang="en-US" sz="1250" dirty="0"/>
          </a:p>
        </p:txBody>
      </p:sp>
      <p:sp>
        <p:nvSpPr>
          <p:cNvPr id="27" name="Text 2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outputs/sim/batch_L5_v1 per-run outcomes; transfers = Lyft orders + cancellations during the ordering lag.</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Better service and lower Lyft use can point to different choices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24</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A tested rule is dominated if another tested rule is at least as good on both selected objectives and strictly better on one.</a:t>
            </a:r>
            <a:endParaRPr lang="en-US" sz="1700" dirty="0"/>
          </a:p>
        </p:txBody>
      </p:sp>
      <p:sp>
        <p:nvSpPr>
          <p:cNvPr id="6" name="Shape 3"/>
          <p:cNvSpPr/>
          <p:nvPr/>
        </p:nvSpPr>
        <p:spPr>
          <a:xfrm>
            <a:off x="457200" y="1645920"/>
            <a:ext cx="3291840" cy="3520440"/>
          </a:xfrm>
          <a:prstGeom prst="roundRect">
            <a:avLst>
              <a:gd name="adj" fmla="val 1944"/>
            </a:avLst>
          </a:prstGeom>
          <a:solidFill>
            <a:srgbClr val="EEF1F4"/>
          </a:solidFill>
          <a:ln w="9525">
            <a:solidFill>
              <a:srgbClr val="EEF1F4"/>
            </a:solidFill>
            <a:prstDash val="solid"/>
          </a:ln>
        </p:spPr>
      </p:sp>
      <p:sp>
        <p:nvSpPr>
          <p:cNvPr id="7" name="Text 4"/>
          <p:cNvSpPr txBox="1"/>
          <p:nvPr/>
        </p:nvSpPr>
        <p:spPr>
          <a:xfrm>
            <a:off x="594360" y="1700784"/>
            <a:ext cx="3017520" cy="320040"/>
          </a:xfrm>
          <a:prstGeom prst="rect">
            <a:avLst/>
          </a:prstGeom>
          <a:noFill/>
          <a:ln/>
        </p:spPr>
        <p:txBody>
          <a:bodyPr wrap="square" lIns="635" tIns="635" rIns="635" bIns="635" rtlCol="0" anchor="t"/>
          <a:lstStyle/>
          <a:p>
            <a:pPr indent="0" marL="0">
              <a:buNone/>
            </a:pPr>
            <a:r>
              <a:rPr lang="en-US" sz="1400" b="1" dirty="0">
                <a:solidFill>
                  <a:srgbClr val="1E2933"/>
                </a:solidFill>
                <a:latin typeface="Calibri" pitchFamily="34" charset="0"/>
                <a:ea typeface="Calibri" pitchFamily="34" charset="-122"/>
                <a:cs typeface="Calibri" pitchFamily="34" charset="-120"/>
              </a:rPr>
              <a:t>Dominance, in one picture</a:t>
            </a:r>
            <a:endParaRPr lang="en-US" sz="1400" dirty="0"/>
          </a:p>
        </p:txBody>
      </p:sp>
      <p:sp>
        <p:nvSpPr>
          <p:cNvPr id="8" name="Shape 5"/>
          <p:cNvSpPr/>
          <p:nvPr/>
        </p:nvSpPr>
        <p:spPr>
          <a:xfrm>
            <a:off x="868680" y="4343400"/>
            <a:ext cx="2697480" cy="914"/>
          </a:xfrm>
          <a:prstGeom prst="line">
            <a:avLst/>
          </a:prstGeom>
          <a:noFill/>
          <a:ln w="12700">
            <a:solidFill>
              <a:srgbClr val="5B6670"/>
            </a:solidFill>
            <a:prstDash val="solid"/>
          </a:ln>
        </p:spPr>
      </p:sp>
      <p:sp>
        <p:nvSpPr>
          <p:cNvPr id="9" name="Shape 6"/>
          <p:cNvSpPr/>
          <p:nvPr/>
        </p:nvSpPr>
        <p:spPr>
          <a:xfrm flipV="1">
            <a:off x="868680" y="2240280"/>
            <a:ext cx="914" cy="2103120"/>
          </a:xfrm>
          <a:prstGeom prst="line">
            <a:avLst/>
          </a:prstGeom>
          <a:noFill/>
          <a:ln w="12700">
            <a:solidFill>
              <a:srgbClr val="5B6670"/>
            </a:solidFill>
            <a:prstDash val="solid"/>
          </a:ln>
        </p:spPr>
      </p:sp>
      <p:sp>
        <p:nvSpPr>
          <p:cNvPr id="10" name="Text 7"/>
          <p:cNvSpPr txBox="1"/>
          <p:nvPr/>
        </p:nvSpPr>
        <p:spPr>
          <a:xfrm>
            <a:off x="2240280" y="4370832"/>
            <a:ext cx="1325880" cy="256032"/>
          </a:xfrm>
          <a:prstGeom prst="rect">
            <a:avLst/>
          </a:prstGeom>
          <a:noFill/>
          <a:ln/>
        </p:spPr>
        <p:txBody>
          <a:bodyPr wrap="square" lIns="635" tIns="635" rIns="635" bIns="635" rtlCol="0" anchor="t"/>
          <a:lstStyle/>
          <a:p>
            <a:pPr algn="r" indent="0" marL="0">
              <a:buNone/>
            </a:pPr>
            <a:r>
              <a:rPr lang="en-US" sz="1050" dirty="0">
                <a:solidFill>
                  <a:srgbClr val="5B6670"/>
                </a:solidFill>
                <a:latin typeface="Calibri" pitchFamily="34" charset="0"/>
                <a:ea typeface="Calibri" pitchFamily="34" charset="-122"/>
                <a:cs typeface="Calibri" pitchFamily="34" charset="-120"/>
              </a:rPr>
              <a:t>Lyft use →</a:t>
            </a:r>
            <a:endParaRPr lang="en-US" sz="1050" dirty="0"/>
          </a:p>
        </p:txBody>
      </p:sp>
      <p:sp>
        <p:nvSpPr>
          <p:cNvPr id="11" name="Text 8"/>
          <p:cNvSpPr txBox="1"/>
          <p:nvPr/>
        </p:nvSpPr>
        <p:spPr>
          <a:xfrm>
            <a:off x="548640" y="1965960"/>
            <a:ext cx="1097280" cy="256032"/>
          </a:xfrm>
          <a:prstGeom prst="rect">
            <a:avLst/>
          </a:prstGeom>
          <a:noFill/>
          <a:ln/>
        </p:spPr>
        <p:txBody>
          <a:bodyPr wrap="square" lIns="635" tIns="635" rIns="635" bIns="635" rtlCol="0" anchor="t"/>
          <a:lstStyle/>
          <a:p>
            <a:pPr indent="0" marL="0">
              <a:buNone/>
            </a:pPr>
            <a:r>
              <a:rPr lang="en-US" sz="1050" dirty="0">
                <a:solidFill>
                  <a:srgbClr val="5B6670"/>
                </a:solidFill>
                <a:latin typeface="Calibri" pitchFamily="34" charset="0"/>
                <a:ea typeface="Calibri" pitchFamily="34" charset="-122"/>
                <a:cs typeface="Calibri" pitchFamily="34" charset="-120"/>
              </a:rPr>
              <a:t>service ↑</a:t>
            </a:r>
            <a:endParaRPr lang="en-US" sz="1050" dirty="0"/>
          </a:p>
        </p:txBody>
      </p:sp>
      <p:sp>
        <p:nvSpPr>
          <p:cNvPr id="12" name="Shape 9"/>
          <p:cNvSpPr/>
          <p:nvPr/>
        </p:nvSpPr>
        <p:spPr>
          <a:xfrm>
            <a:off x="1572768" y="2761488"/>
            <a:ext cx="237744" cy="237744"/>
          </a:xfrm>
          <a:prstGeom prst="ellipse">
            <a:avLst/>
          </a:prstGeom>
          <a:solidFill>
            <a:srgbClr val="2A78D6"/>
          </a:solidFill>
          <a:ln w="15875">
            <a:solidFill>
              <a:srgbClr val="2A78D6"/>
            </a:solidFill>
            <a:prstDash val="solid"/>
          </a:ln>
        </p:spPr>
      </p:sp>
      <p:sp>
        <p:nvSpPr>
          <p:cNvPr id="13" name="Text 10"/>
          <p:cNvSpPr txBox="1"/>
          <p:nvPr/>
        </p:nvSpPr>
        <p:spPr>
          <a:xfrm>
            <a:off x="1828800" y="2697480"/>
            <a:ext cx="320040" cy="274320"/>
          </a:xfrm>
          <a:prstGeom prst="rect">
            <a:avLst/>
          </a:prstGeom>
          <a:noFill/>
          <a:ln/>
        </p:spPr>
        <p:txBody>
          <a:bodyPr wrap="square" lIns="635" tIns="635" rIns="635" bIns="635" rtlCol="0" anchor="t"/>
          <a:lstStyle/>
          <a:p>
            <a:pPr indent="0" marL="0">
              <a:buNone/>
            </a:pPr>
            <a:r>
              <a:rPr lang="en-US" sz="1300" b="1" dirty="0">
                <a:solidFill>
                  <a:srgbClr val="1E2933"/>
                </a:solidFill>
                <a:latin typeface="Calibri" pitchFamily="34" charset="0"/>
                <a:ea typeface="Calibri" pitchFamily="34" charset="-122"/>
                <a:cs typeface="Calibri" pitchFamily="34" charset="-120"/>
              </a:rPr>
              <a:t>A</a:t>
            </a:r>
            <a:endParaRPr lang="en-US" sz="1300" dirty="0"/>
          </a:p>
        </p:txBody>
      </p:sp>
      <p:sp>
        <p:nvSpPr>
          <p:cNvPr id="14" name="Shape 11"/>
          <p:cNvSpPr/>
          <p:nvPr/>
        </p:nvSpPr>
        <p:spPr>
          <a:xfrm>
            <a:off x="2487168" y="3493008"/>
            <a:ext cx="237744" cy="237744"/>
          </a:xfrm>
          <a:prstGeom prst="ellipse">
            <a:avLst/>
          </a:prstGeom>
          <a:solidFill>
            <a:srgbClr val="FFFFFF"/>
          </a:solidFill>
          <a:ln w="15875">
            <a:solidFill>
              <a:srgbClr val="1E2933"/>
            </a:solidFill>
            <a:prstDash val="solid"/>
          </a:ln>
        </p:spPr>
      </p:sp>
      <p:sp>
        <p:nvSpPr>
          <p:cNvPr id="15" name="Text 12"/>
          <p:cNvSpPr txBox="1"/>
          <p:nvPr/>
        </p:nvSpPr>
        <p:spPr>
          <a:xfrm>
            <a:off x="2743200" y="3429000"/>
            <a:ext cx="320040" cy="274320"/>
          </a:xfrm>
          <a:prstGeom prst="rect">
            <a:avLst/>
          </a:prstGeom>
          <a:noFill/>
          <a:ln/>
        </p:spPr>
        <p:txBody>
          <a:bodyPr wrap="square" lIns="635" tIns="635" rIns="635" bIns="635" rtlCol="0" anchor="t"/>
          <a:lstStyle/>
          <a:p>
            <a:pPr indent="0" marL="0">
              <a:buNone/>
            </a:pPr>
            <a:r>
              <a:rPr lang="en-US" sz="1300" b="1" dirty="0">
                <a:solidFill>
                  <a:srgbClr val="1E2933"/>
                </a:solidFill>
                <a:latin typeface="Calibri" pitchFamily="34" charset="0"/>
                <a:ea typeface="Calibri" pitchFamily="34" charset="-122"/>
                <a:cs typeface="Calibri" pitchFamily="34" charset="-120"/>
              </a:rPr>
              <a:t>B</a:t>
            </a:r>
            <a:endParaRPr lang="en-US" sz="1300" dirty="0"/>
          </a:p>
        </p:txBody>
      </p:sp>
      <p:sp>
        <p:nvSpPr>
          <p:cNvPr id="16" name="Shape 13"/>
          <p:cNvSpPr/>
          <p:nvPr/>
        </p:nvSpPr>
        <p:spPr>
          <a:xfrm>
            <a:off x="3127248" y="2350008"/>
            <a:ext cx="237744" cy="237744"/>
          </a:xfrm>
          <a:prstGeom prst="ellipse">
            <a:avLst/>
          </a:prstGeom>
          <a:solidFill>
            <a:srgbClr val="2A78D6"/>
          </a:solidFill>
          <a:ln w="15875">
            <a:solidFill>
              <a:srgbClr val="2A78D6"/>
            </a:solidFill>
            <a:prstDash val="solid"/>
          </a:ln>
        </p:spPr>
      </p:sp>
      <p:sp>
        <p:nvSpPr>
          <p:cNvPr id="17" name="Text 14"/>
          <p:cNvSpPr txBox="1"/>
          <p:nvPr/>
        </p:nvSpPr>
        <p:spPr>
          <a:xfrm>
            <a:off x="3383280" y="2286000"/>
            <a:ext cx="320040" cy="274320"/>
          </a:xfrm>
          <a:prstGeom prst="rect">
            <a:avLst/>
          </a:prstGeom>
          <a:noFill/>
          <a:ln/>
        </p:spPr>
        <p:txBody>
          <a:bodyPr wrap="square" lIns="635" tIns="635" rIns="635" bIns="635" rtlCol="0" anchor="t"/>
          <a:lstStyle/>
          <a:p>
            <a:pPr indent="0" marL="0">
              <a:buNone/>
            </a:pPr>
            <a:r>
              <a:rPr lang="en-US" sz="1300" b="1" dirty="0">
                <a:solidFill>
                  <a:srgbClr val="1E2933"/>
                </a:solidFill>
                <a:latin typeface="Calibri" pitchFamily="34" charset="0"/>
                <a:ea typeface="Calibri" pitchFamily="34" charset="-122"/>
                <a:cs typeface="Calibri" pitchFamily="34" charset="-120"/>
              </a:rPr>
              <a:t>C</a:t>
            </a:r>
            <a:endParaRPr lang="en-US" sz="1300" dirty="0"/>
          </a:p>
        </p:txBody>
      </p:sp>
      <p:sp>
        <p:nvSpPr>
          <p:cNvPr id="18" name="Text 15"/>
          <p:cNvSpPr txBox="1"/>
          <p:nvPr/>
        </p:nvSpPr>
        <p:spPr>
          <a:xfrm>
            <a:off x="594360" y="4709160"/>
            <a:ext cx="3063240" cy="411480"/>
          </a:xfrm>
          <a:prstGeom prst="rect">
            <a:avLst/>
          </a:prstGeom>
          <a:noFill/>
          <a:ln/>
        </p:spPr>
        <p:txBody>
          <a:bodyPr wrap="square" lIns="635" tIns="635" rIns="635" bIns="635" rtlCol="0" anchor="t"/>
          <a:lstStyle/>
          <a:p>
            <a:pPr indent="0" marL="0">
              <a:buNone/>
            </a:pPr>
            <a:r>
              <a:rPr lang="en-US" sz="1150" dirty="0">
                <a:solidFill>
                  <a:srgbClr val="5B6670"/>
                </a:solidFill>
                <a:latin typeface="Calibri" pitchFamily="34" charset="0"/>
                <a:ea typeface="Calibri" pitchFamily="34" charset="-122"/>
                <a:cs typeface="Calibri" pitchFamily="34" charset="-120"/>
              </a:rPr>
              <a:t>A dominates B. A and C: neither dominates the other.</a:t>
            </a:r>
            <a:endParaRPr lang="en-US" sz="1150" dirty="0"/>
          </a:p>
        </p:txBody>
      </p:sp>
      <p:sp>
        <p:nvSpPr>
          <p:cNvPr id="19" name="Shape 16"/>
          <p:cNvSpPr/>
          <p:nvPr/>
        </p:nvSpPr>
        <p:spPr>
          <a:xfrm>
            <a:off x="4526280" y="4892040"/>
            <a:ext cx="4114800" cy="914"/>
          </a:xfrm>
          <a:prstGeom prst="line">
            <a:avLst/>
          </a:prstGeom>
          <a:noFill/>
          <a:ln w="12700">
            <a:solidFill>
              <a:srgbClr val="5B6670"/>
            </a:solidFill>
            <a:prstDash val="solid"/>
          </a:ln>
        </p:spPr>
      </p:sp>
      <p:sp>
        <p:nvSpPr>
          <p:cNvPr id="20" name="Shape 17"/>
          <p:cNvSpPr/>
          <p:nvPr/>
        </p:nvSpPr>
        <p:spPr>
          <a:xfrm flipV="1">
            <a:off x="4526280" y="2057400"/>
            <a:ext cx="914" cy="2834640"/>
          </a:xfrm>
          <a:prstGeom prst="line">
            <a:avLst/>
          </a:prstGeom>
          <a:noFill/>
          <a:ln w="12700">
            <a:solidFill>
              <a:srgbClr val="5B6670"/>
            </a:solidFill>
            <a:prstDash val="solid"/>
          </a:ln>
        </p:spPr>
      </p:sp>
      <p:sp>
        <p:nvSpPr>
          <p:cNvPr id="21" name="Text 18"/>
          <p:cNvSpPr txBox="1"/>
          <p:nvPr/>
        </p:nvSpPr>
        <p:spPr>
          <a:xfrm>
            <a:off x="4297680" y="4919472"/>
            <a:ext cx="457200" cy="228600"/>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0</a:t>
            </a:r>
            <a:endParaRPr lang="en-US" sz="1000" dirty="0"/>
          </a:p>
        </p:txBody>
      </p:sp>
      <p:sp>
        <p:nvSpPr>
          <p:cNvPr id="22" name="Text 19"/>
          <p:cNvSpPr txBox="1"/>
          <p:nvPr/>
        </p:nvSpPr>
        <p:spPr>
          <a:xfrm>
            <a:off x="5669280" y="4919472"/>
            <a:ext cx="457200" cy="228600"/>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4</a:t>
            </a:r>
            <a:endParaRPr lang="en-US" sz="1000" dirty="0"/>
          </a:p>
        </p:txBody>
      </p:sp>
      <p:sp>
        <p:nvSpPr>
          <p:cNvPr id="23" name="Text 20"/>
          <p:cNvSpPr txBox="1"/>
          <p:nvPr/>
        </p:nvSpPr>
        <p:spPr>
          <a:xfrm>
            <a:off x="7040880" y="4919472"/>
            <a:ext cx="457200" cy="228600"/>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8</a:t>
            </a:r>
            <a:endParaRPr lang="en-US" sz="1000" dirty="0"/>
          </a:p>
        </p:txBody>
      </p:sp>
      <p:sp>
        <p:nvSpPr>
          <p:cNvPr id="24" name="Text 21"/>
          <p:cNvSpPr txBox="1"/>
          <p:nvPr/>
        </p:nvSpPr>
        <p:spPr>
          <a:xfrm>
            <a:off x="8412480" y="4919472"/>
            <a:ext cx="457200" cy="228600"/>
          </a:xfrm>
          <a:prstGeom prst="rect">
            <a:avLst/>
          </a:prstGeom>
          <a:noFill/>
          <a:ln/>
        </p:spPr>
        <p:txBody>
          <a:bodyPr wrap="square" lIns="635" tIns="635" rIns="635" bIns="635" rtlCol="0" anchor="t"/>
          <a:lstStyle/>
          <a:p>
            <a:pPr algn="ctr" indent="0" marL="0">
              <a:buNone/>
            </a:pPr>
            <a:r>
              <a:rPr lang="en-US" sz="1000" dirty="0">
                <a:solidFill>
                  <a:srgbClr val="8A939B"/>
                </a:solidFill>
                <a:latin typeface="Calibri" pitchFamily="34" charset="0"/>
                <a:ea typeface="Calibri" pitchFamily="34" charset="-122"/>
                <a:cs typeface="Calibri" pitchFamily="34" charset="-120"/>
              </a:rPr>
              <a:t>12</a:t>
            </a:r>
            <a:endParaRPr lang="en-US" sz="1000" dirty="0"/>
          </a:p>
        </p:txBody>
      </p:sp>
      <p:sp>
        <p:nvSpPr>
          <p:cNvPr id="25" name="Text 22"/>
          <p:cNvSpPr txBox="1"/>
          <p:nvPr/>
        </p:nvSpPr>
        <p:spPr>
          <a:xfrm>
            <a:off x="4023360" y="4773168"/>
            <a:ext cx="457200" cy="228600"/>
          </a:xfrm>
          <a:prstGeom prst="rect">
            <a:avLst/>
          </a:prstGeom>
          <a:noFill/>
          <a:ln/>
        </p:spPr>
        <p:txBody>
          <a:bodyPr wrap="square" lIns="635" tIns="635" rIns="635" bIns="635" rtlCol="0" anchor="t"/>
          <a:lstStyle/>
          <a:p>
            <a:pPr algn="r" indent="0" marL="0">
              <a:buNone/>
            </a:pPr>
            <a:r>
              <a:rPr lang="en-US" sz="1000" dirty="0">
                <a:solidFill>
                  <a:srgbClr val="8A939B"/>
                </a:solidFill>
                <a:latin typeface="Calibri" pitchFamily="34" charset="0"/>
                <a:ea typeface="Calibri" pitchFamily="34" charset="-122"/>
                <a:cs typeface="Calibri" pitchFamily="34" charset="-120"/>
              </a:rPr>
              <a:t>40%</a:t>
            </a:r>
            <a:endParaRPr lang="en-US" sz="1000" dirty="0"/>
          </a:p>
        </p:txBody>
      </p:sp>
      <p:sp>
        <p:nvSpPr>
          <p:cNvPr id="26" name="Text 23"/>
          <p:cNvSpPr txBox="1"/>
          <p:nvPr/>
        </p:nvSpPr>
        <p:spPr>
          <a:xfrm>
            <a:off x="4023360" y="3355848"/>
            <a:ext cx="457200" cy="228600"/>
          </a:xfrm>
          <a:prstGeom prst="rect">
            <a:avLst/>
          </a:prstGeom>
          <a:noFill/>
          <a:ln/>
        </p:spPr>
        <p:txBody>
          <a:bodyPr wrap="square" lIns="635" tIns="635" rIns="635" bIns="635" rtlCol="0" anchor="t"/>
          <a:lstStyle/>
          <a:p>
            <a:pPr algn="r" indent="0" marL="0">
              <a:buNone/>
            </a:pPr>
            <a:r>
              <a:rPr lang="en-US" sz="1000" dirty="0">
                <a:solidFill>
                  <a:srgbClr val="8A939B"/>
                </a:solidFill>
                <a:latin typeface="Calibri" pitchFamily="34" charset="0"/>
                <a:ea typeface="Calibri" pitchFamily="34" charset="-122"/>
                <a:cs typeface="Calibri" pitchFamily="34" charset="-120"/>
              </a:rPr>
              <a:t>60%</a:t>
            </a:r>
            <a:endParaRPr lang="en-US" sz="1000" dirty="0"/>
          </a:p>
        </p:txBody>
      </p:sp>
      <p:sp>
        <p:nvSpPr>
          <p:cNvPr id="27" name="Text 24"/>
          <p:cNvSpPr txBox="1"/>
          <p:nvPr/>
        </p:nvSpPr>
        <p:spPr>
          <a:xfrm>
            <a:off x="4023360" y="1938528"/>
            <a:ext cx="457200" cy="228600"/>
          </a:xfrm>
          <a:prstGeom prst="rect">
            <a:avLst/>
          </a:prstGeom>
          <a:noFill/>
          <a:ln/>
        </p:spPr>
        <p:txBody>
          <a:bodyPr wrap="square" lIns="635" tIns="635" rIns="635" bIns="635" rtlCol="0" anchor="t"/>
          <a:lstStyle/>
          <a:p>
            <a:pPr algn="r" indent="0" marL="0">
              <a:buNone/>
            </a:pPr>
            <a:r>
              <a:rPr lang="en-US" sz="1000" dirty="0">
                <a:solidFill>
                  <a:srgbClr val="8A939B"/>
                </a:solidFill>
                <a:latin typeface="Calibri" pitchFamily="34" charset="0"/>
                <a:ea typeface="Calibri" pitchFamily="34" charset="-122"/>
                <a:cs typeface="Calibri" pitchFamily="34" charset="-120"/>
              </a:rPr>
              <a:t>80%</a:t>
            </a:r>
            <a:endParaRPr lang="en-US" sz="1000" dirty="0"/>
          </a:p>
        </p:txBody>
      </p:sp>
      <p:sp>
        <p:nvSpPr>
          <p:cNvPr id="28" name="Text 25"/>
          <p:cNvSpPr txBox="1"/>
          <p:nvPr/>
        </p:nvSpPr>
        <p:spPr>
          <a:xfrm>
            <a:off x="4526280" y="5138928"/>
            <a:ext cx="4114800" cy="256032"/>
          </a:xfrm>
          <a:prstGeom prst="rect">
            <a:avLst/>
          </a:prstGeom>
          <a:noFill/>
          <a:ln/>
        </p:spPr>
        <p:txBody>
          <a:bodyPr wrap="square" lIns="635" tIns="635" rIns="635" bIns="635" rtlCol="0" anchor="t"/>
          <a:lstStyle/>
          <a:p>
            <a:pPr algn="ctr" indent="0" marL="0">
              <a:buNone/>
            </a:pPr>
            <a:r>
              <a:rPr lang="en-US" sz="1100" dirty="0">
                <a:solidFill>
                  <a:srgbClr val="5B6670"/>
                </a:solidFill>
                <a:latin typeface="Calibri" pitchFamily="34" charset="0"/>
                <a:ea typeface="Calibri" pitchFamily="34" charset="-122"/>
                <a:cs typeface="Calibri" pitchFamily="34" charset="-120"/>
              </a:rPr>
              <a:t>Lyft orders per night (lower is better)</a:t>
            </a:r>
            <a:endParaRPr lang="en-US" sz="1100" dirty="0"/>
          </a:p>
        </p:txBody>
      </p:sp>
      <p:sp>
        <p:nvSpPr>
          <p:cNvPr id="29" name="Text 26"/>
          <p:cNvSpPr txBox="1"/>
          <p:nvPr/>
        </p:nvSpPr>
        <p:spPr>
          <a:xfrm>
            <a:off x="3977640" y="1645920"/>
            <a:ext cx="4206240" cy="256032"/>
          </a:xfrm>
          <a:prstGeom prst="rect">
            <a:avLst/>
          </a:prstGeom>
          <a:noFill/>
          <a:ln/>
        </p:spPr>
        <p:txBody>
          <a:bodyPr wrap="square" lIns="635" tIns="635" rIns="635" bIns="635" rtlCol="0" anchor="t"/>
          <a:lstStyle/>
          <a:p>
            <a:pPr indent="0" marL="0">
              <a:buNone/>
            </a:pPr>
            <a:r>
              <a:rPr lang="en-US" sz="1100" dirty="0">
                <a:solidFill>
                  <a:srgbClr val="5B6670"/>
                </a:solidFill>
                <a:latin typeface="Calibri" pitchFamily="34" charset="0"/>
                <a:ea typeface="Calibri" pitchFamily="34" charset="-122"/>
                <a:cs typeface="Calibri" pitchFamily="34" charset="-120"/>
              </a:rPr>
              <a:t>Reached within 15 min (higher is better)</a:t>
            </a:r>
            <a:endParaRPr lang="en-US" sz="1100" dirty="0"/>
          </a:p>
        </p:txBody>
      </p:sp>
      <p:sp>
        <p:nvSpPr>
          <p:cNvPr id="30" name="Shape 27"/>
          <p:cNvSpPr/>
          <p:nvPr/>
        </p:nvSpPr>
        <p:spPr>
          <a:xfrm>
            <a:off x="4434840" y="4252239"/>
            <a:ext cx="182880" cy="182880"/>
          </a:xfrm>
          <a:prstGeom prst="ellipse">
            <a:avLst/>
          </a:prstGeom>
          <a:solidFill>
            <a:srgbClr val="2A78D6"/>
          </a:solidFill>
          <a:ln w="15875">
            <a:solidFill>
              <a:srgbClr val="2A78D6"/>
            </a:solidFill>
            <a:prstDash val="solid"/>
          </a:ln>
        </p:spPr>
      </p:sp>
      <p:sp>
        <p:nvSpPr>
          <p:cNvPr id="31" name="Text 28"/>
          <p:cNvSpPr txBox="1"/>
          <p:nvPr/>
        </p:nvSpPr>
        <p:spPr>
          <a:xfrm>
            <a:off x="4663440" y="4508271"/>
            <a:ext cx="2377440" cy="274320"/>
          </a:xfrm>
          <a:prstGeom prst="rect">
            <a:avLst/>
          </a:prstGeom>
          <a:noFill/>
          <a:ln/>
        </p:spPr>
        <p:txBody>
          <a:bodyPr wrap="square" lIns="635" tIns="635" rIns="635" bIns="635" rtlCol="0" anchor="t"/>
          <a:lstStyle/>
          <a:p>
            <a:pPr algn="l" indent="0" marL="0">
              <a:buNone/>
            </a:pPr>
            <a:r>
              <a:rPr lang="en-US" sz="1050" dirty="0">
                <a:solidFill>
                  <a:srgbClr val="1E2933"/>
                </a:solidFill>
                <a:latin typeface="Calibri" pitchFamily="34" charset="0"/>
                <a:ea typeface="Calibri" pitchFamily="34" charset="-122"/>
                <a:cs typeface="Calibri" pitchFamily="34" charset="-120"/>
              </a:rPr>
              <a:t>Vans only; Unassigned for ten minutes (overlap)</a:t>
            </a:r>
            <a:endParaRPr lang="en-US" sz="1050" dirty="0"/>
          </a:p>
        </p:txBody>
      </p:sp>
      <p:sp>
        <p:nvSpPr>
          <p:cNvPr id="32" name="Shape 29"/>
          <p:cNvSpPr/>
          <p:nvPr/>
        </p:nvSpPr>
        <p:spPr>
          <a:xfrm>
            <a:off x="6468237" y="3990672"/>
            <a:ext cx="182880" cy="182880"/>
          </a:xfrm>
          <a:prstGeom prst="ellipse">
            <a:avLst/>
          </a:prstGeom>
          <a:solidFill>
            <a:srgbClr val="2A78D6"/>
          </a:solidFill>
          <a:ln w="15875">
            <a:solidFill>
              <a:srgbClr val="2A78D6"/>
            </a:solidFill>
            <a:prstDash val="solid"/>
          </a:ln>
        </p:spPr>
      </p:sp>
      <p:sp>
        <p:nvSpPr>
          <p:cNvPr id="33" name="Text 30"/>
          <p:cNvSpPr txBox="1"/>
          <p:nvPr/>
        </p:nvSpPr>
        <p:spPr>
          <a:xfrm>
            <a:off x="6669405" y="3679776"/>
            <a:ext cx="1828800" cy="274320"/>
          </a:xfrm>
          <a:prstGeom prst="rect">
            <a:avLst/>
          </a:prstGeom>
          <a:noFill/>
          <a:ln/>
        </p:spPr>
        <p:txBody>
          <a:bodyPr wrap="square" lIns="635" tIns="635" rIns="635" bIns="635" rtlCol="0" anchor="t"/>
          <a:lstStyle/>
          <a:p>
            <a:pPr algn="l" indent="0" marL="0">
              <a:buNone/>
            </a:pPr>
            <a:r>
              <a:rPr lang="en-US" sz="1050" dirty="0">
                <a:solidFill>
                  <a:srgbClr val="1E2933"/>
                </a:solidFill>
                <a:latin typeface="Calibri" pitchFamily="34" charset="0"/>
                <a:ea typeface="Calibri" pitchFamily="34" charset="-122"/>
                <a:cs typeface="Calibri" pitchFamily="34" charset="-120"/>
              </a:rPr>
              <a:t>Wait ten minutes</a:t>
            </a:r>
            <a:endParaRPr lang="en-US" sz="1050" dirty="0"/>
          </a:p>
        </p:txBody>
      </p:sp>
      <p:sp>
        <p:nvSpPr>
          <p:cNvPr id="34" name="Shape 31"/>
          <p:cNvSpPr/>
          <p:nvPr/>
        </p:nvSpPr>
        <p:spPr>
          <a:xfrm>
            <a:off x="5497830" y="4125672"/>
            <a:ext cx="182880" cy="182880"/>
          </a:xfrm>
          <a:prstGeom prst="ellipse">
            <a:avLst/>
          </a:prstGeom>
          <a:solidFill>
            <a:srgbClr val="2A78D6"/>
          </a:solidFill>
          <a:ln w="15875">
            <a:solidFill>
              <a:srgbClr val="2A78D6"/>
            </a:solidFill>
            <a:prstDash val="solid"/>
          </a:ln>
        </p:spPr>
      </p:sp>
      <p:sp>
        <p:nvSpPr>
          <p:cNvPr id="35" name="Text 32"/>
          <p:cNvSpPr txBox="1"/>
          <p:nvPr/>
        </p:nvSpPr>
        <p:spPr>
          <a:xfrm>
            <a:off x="4766310" y="3814776"/>
            <a:ext cx="1828800" cy="274320"/>
          </a:xfrm>
          <a:prstGeom prst="rect">
            <a:avLst/>
          </a:prstGeom>
          <a:noFill/>
          <a:ln/>
        </p:spPr>
        <p:txBody>
          <a:bodyPr wrap="square" lIns="635" tIns="635" rIns="635" bIns="635" rtlCol="0" anchor="t"/>
          <a:lstStyle/>
          <a:p>
            <a:pPr algn="l" indent="0" marL="0">
              <a:buNone/>
            </a:pPr>
            <a:r>
              <a:rPr lang="en-US" sz="1050" dirty="0">
                <a:solidFill>
                  <a:srgbClr val="1E2933"/>
                </a:solidFill>
                <a:latin typeface="Calibri" pitchFamily="34" charset="0"/>
                <a:ea typeface="Calibri" pitchFamily="34" charset="-122"/>
                <a:cs typeface="Calibri" pitchFamily="34" charset="-120"/>
              </a:rPr>
              <a:t>Wait fifteen minutes</a:t>
            </a:r>
            <a:endParaRPr lang="en-US" sz="1050" dirty="0"/>
          </a:p>
        </p:txBody>
      </p:sp>
      <p:sp>
        <p:nvSpPr>
          <p:cNvPr id="36" name="Shape 33"/>
          <p:cNvSpPr/>
          <p:nvPr/>
        </p:nvSpPr>
        <p:spPr>
          <a:xfrm>
            <a:off x="4513707" y="4260672"/>
            <a:ext cx="182880" cy="182880"/>
          </a:xfrm>
          <a:prstGeom prst="ellipse">
            <a:avLst/>
          </a:prstGeom>
          <a:solidFill>
            <a:srgbClr val="FFFFFF"/>
          </a:solidFill>
          <a:ln w="15875">
            <a:solidFill>
              <a:srgbClr val="1E2933"/>
            </a:solidFill>
            <a:prstDash val="solid"/>
          </a:ln>
        </p:spPr>
      </p:sp>
      <p:sp>
        <p:nvSpPr>
          <p:cNvPr id="37" name="Shape 34"/>
          <p:cNvSpPr/>
          <p:nvPr/>
        </p:nvSpPr>
        <p:spPr>
          <a:xfrm>
            <a:off x="7634097" y="2429991"/>
            <a:ext cx="182880" cy="182880"/>
          </a:xfrm>
          <a:prstGeom prst="ellipse">
            <a:avLst/>
          </a:prstGeom>
          <a:solidFill>
            <a:srgbClr val="2A78D6"/>
          </a:solidFill>
          <a:ln w="15875">
            <a:solidFill>
              <a:srgbClr val="2A78D6"/>
            </a:solidFill>
            <a:prstDash val="solid"/>
          </a:ln>
        </p:spPr>
      </p:sp>
      <p:sp>
        <p:nvSpPr>
          <p:cNvPr id="38" name="Text 35"/>
          <p:cNvSpPr txBox="1"/>
          <p:nvPr/>
        </p:nvSpPr>
        <p:spPr>
          <a:xfrm>
            <a:off x="4799457" y="2503143"/>
            <a:ext cx="2788920" cy="274320"/>
          </a:xfrm>
          <a:prstGeom prst="rect">
            <a:avLst/>
          </a:prstGeom>
          <a:noFill/>
          <a:ln/>
        </p:spPr>
        <p:txBody>
          <a:bodyPr wrap="square" lIns="635" tIns="635" rIns="635" bIns="635" rtlCol="0" anchor="t"/>
          <a:lstStyle/>
          <a:p>
            <a:pPr algn="r" indent="0" marL="0">
              <a:buNone/>
            </a:pPr>
            <a:r>
              <a:rPr lang="en-US" sz="1050" dirty="0">
                <a:solidFill>
                  <a:srgbClr val="1E2933"/>
                </a:solidFill>
                <a:latin typeface="Calibri" pitchFamily="34" charset="0"/>
                <a:ea typeface="Calibri" pitchFamily="34" charset="-122"/>
                <a:cs typeface="Calibri" pitchFamily="34" charset="-120"/>
              </a:rPr>
              <a:t>Predicted total wait exceeds fifteen minutes</a:t>
            </a:r>
            <a:endParaRPr lang="en-US" sz="1050" dirty="0"/>
          </a:p>
        </p:txBody>
      </p:sp>
      <p:sp>
        <p:nvSpPr>
          <p:cNvPr id="39" name="Shape 36"/>
          <p:cNvSpPr/>
          <p:nvPr/>
        </p:nvSpPr>
        <p:spPr>
          <a:xfrm>
            <a:off x="8025003" y="2320290"/>
            <a:ext cx="182880" cy="182880"/>
          </a:xfrm>
          <a:prstGeom prst="ellipse">
            <a:avLst/>
          </a:prstGeom>
          <a:solidFill>
            <a:srgbClr val="2A78D6"/>
          </a:solidFill>
          <a:ln w="15875">
            <a:solidFill>
              <a:srgbClr val="2A78D6"/>
            </a:solidFill>
            <a:prstDash val="solid"/>
          </a:ln>
        </p:spPr>
      </p:sp>
      <p:sp>
        <p:nvSpPr>
          <p:cNvPr id="40" name="Text 37"/>
          <p:cNvSpPr txBox="1"/>
          <p:nvPr/>
        </p:nvSpPr>
        <p:spPr>
          <a:xfrm>
            <a:off x="6013323" y="2100834"/>
            <a:ext cx="1920240" cy="274320"/>
          </a:xfrm>
          <a:prstGeom prst="rect">
            <a:avLst/>
          </a:prstGeom>
          <a:noFill/>
          <a:ln/>
        </p:spPr>
        <p:txBody>
          <a:bodyPr wrap="square" lIns="635" tIns="635" rIns="635" bIns="635" rtlCol="0" anchor="t"/>
          <a:lstStyle/>
          <a:p>
            <a:pPr algn="r" indent="0" marL="0">
              <a:buNone/>
            </a:pPr>
            <a:r>
              <a:rPr lang="en-US" sz="1050" dirty="0">
                <a:solidFill>
                  <a:srgbClr val="1E2933"/>
                </a:solidFill>
                <a:latin typeface="Calibri" pitchFamily="34" charset="0"/>
                <a:ea typeface="Calibri" pitchFamily="34" charset="-122"/>
                <a:cs typeface="Calibri" pitchFamily="34" charset="-120"/>
              </a:rPr>
              <a:t>Lyft arrives sooner</a:t>
            </a:r>
            <a:endParaRPr lang="en-US" sz="1050" dirty="0"/>
          </a:p>
        </p:txBody>
      </p:sp>
      <p:sp>
        <p:nvSpPr>
          <p:cNvPr id="41" name="Text 38"/>
          <p:cNvSpPr txBox="1"/>
          <p:nvPr/>
        </p:nvSpPr>
        <p:spPr>
          <a:xfrm>
            <a:off x="4526280" y="5394960"/>
            <a:ext cx="4114800" cy="256032"/>
          </a:xfrm>
          <a:prstGeom prst="rect">
            <a:avLst/>
          </a:prstGeom>
          <a:noFill/>
          <a:ln/>
        </p:spPr>
        <p:txBody>
          <a:bodyPr wrap="square" lIns="635" tIns="635" rIns="635" bIns="635" rtlCol="0" anchor="t"/>
          <a:lstStyle/>
          <a:p>
            <a:pPr algn="ctr" indent="0" marL="0">
              <a:buNone/>
            </a:pPr>
            <a:r>
              <a:rPr lang="en-US" sz="1050" dirty="0">
                <a:solidFill>
                  <a:srgbClr val="5B6670"/>
                </a:solidFill>
                <a:latin typeface="Calibri" pitchFamily="34" charset="0"/>
                <a:ea typeface="Calibri" pitchFamily="34" charset="-122"/>
                <a:cs typeface="Calibri" pitchFamily="34" charset="-120"/>
              </a:rPr>
              <a:t>filled = not dominated among the six (means of 30 nights)</a:t>
            </a:r>
            <a:endParaRPr lang="en-US" sz="1050" dirty="0"/>
          </a:p>
        </p:txBody>
      </p:sp>
      <p:sp>
        <p:nvSpPr>
          <p:cNvPr id="42" name="Shape 39"/>
          <p:cNvSpPr/>
          <p:nvPr/>
        </p:nvSpPr>
        <p:spPr>
          <a:xfrm>
            <a:off x="9006840" y="1645920"/>
            <a:ext cx="2697480" cy="4526280"/>
          </a:xfrm>
          <a:prstGeom prst="roundRect">
            <a:avLst>
              <a:gd name="adj" fmla="val 2373"/>
            </a:avLst>
          </a:prstGeom>
          <a:solidFill>
            <a:srgbClr val="E8F1FB"/>
          </a:solidFill>
          <a:ln w="9525">
            <a:solidFill>
              <a:srgbClr val="E8F1FB"/>
            </a:solidFill>
            <a:prstDash val="solid"/>
          </a:ln>
        </p:spPr>
      </p:sp>
      <p:sp>
        <p:nvSpPr>
          <p:cNvPr id="43" name="Text 40"/>
          <p:cNvSpPr txBox="1"/>
          <p:nvPr/>
        </p:nvSpPr>
        <p:spPr>
          <a:xfrm>
            <a:off x="9098280" y="1719072"/>
            <a:ext cx="2560320" cy="4389120"/>
          </a:xfrm>
          <a:prstGeom prst="rect">
            <a:avLst/>
          </a:prstGeom>
          <a:noFill/>
          <a:ln/>
        </p:spPr>
        <p:txBody>
          <a:bodyPr wrap="square" lIns="635" tIns="635" rIns="635" bIns="635" rtlCol="0" anchor="t"/>
          <a:lstStyle/>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Nondominated does not mean recommended.</a:t>
            </a:r>
            <a:endParaRPr lang="en-US" sz="1150" dirty="0"/>
          </a:p>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Vans only stays nondominated through zero Lyft use.</a:t>
            </a:r>
            <a:endParaRPr lang="en-US" sz="1150" dirty="0"/>
          </a:p>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“Unassigned for ten minutes” is dominated on the means: service within about one request in 840 of vans only, slightly more Lyft (0.23 vs 0 a night). No noise margin applied.</a:t>
            </a:r>
            <a:endParaRPr lang="en-US" sz="1150" dirty="0"/>
          </a:p>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This is the nondominated set among six tested rules under these two objectives—not the complete frontier of possible policies.</a:t>
            </a:r>
            <a:endParaRPr lang="en-US" sz="1150" dirty="0"/>
          </a:p>
          <a:p>
            <a:pPr marL="342900" indent="-342900">
              <a:spcAft>
                <a:spcPts val="500"/>
              </a:spcAft>
              <a:buSzPct val="100000"/>
              <a:buChar char="•"/>
            </a:pPr>
            <a:r>
              <a:rPr lang="en-US" sz="1150" dirty="0">
                <a:solidFill>
                  <a:srgbClr val="1E2933"/>
                </a:solidFill>
                <a:latin typeface="Calibri" pitchFamily="34" charset="0"/>
                <a:ea typeface="Calibri" pitchFamily="34" charset="-122"/>
                <a:cs typeface="Calibri" pitchFamily="34" charset="-120"/>
              </a:rPr>
              <a:t>Adding objectives or decision criteria can change the assessment.</a:t>
            </a:r>
            <a:endParaRPr lang="en-US" sz="1150" dirty="0"/>
          </a:p>
        </p:txBody>
      </p:sp>
      <p:sp>
        <p:nvSpPr>
          <p:cNvPr id="44" name="Text 41"/>
          <p:cNvSpPr txBox="1"/>
          <p:nvPr/>
        </p:nvSpPr>
        <p:spPr>
          <a:xfrm>
            <a:off x="457200" y="5852160"/>
            <a:ext cx="2011680" cy="274320"/>
          </a:xfrm>
          <a:prstGeom prst="rect">
            <a:avLst/>
          </a:prstGeom>
          <a:noFill/>
          <a:ln/>
        </p:spPr>
        <p:txBody>
          <a:bodyPr wrap="square" lIns="635" tIns="635" rIns="635" bIns="635" rtlCol="0" anchor="t"/>
          <a:lstStyle/>
          <a:p>
            <a:pPr indent="0" marL="0">
              <a:buNone/>
            </a:pPr>
            <a:r>
              <a:rPr lang="en-US" sz="1100" u="sng" dirty="0">
                <a:solidFill>
                  <a:srgbClr val="2A78D6"/>
                </a:solidFill>
                <a:latin typeface="Calibri" pitchFamily="34" charset="0"/>
                <a:ea typeface="Calibri" pitchFamily="34" charset="-122"/>
                <a:cs typeface="Calibri" pitchFamily="34" charset="-120"/>
                <a:hlinkClick r:id="rId1" action="ppaction://hlinksldjump" tooltip="Go to slide 36">
                  <a:extLst>
                    <a:ext uri="{A12FA001-AC4F-418D-AE19-62706E023703}">
                      <ahyp:hlinkClr xmlns:ahyp="http://schemas.microsoft.com/office/drawing/2018/hyperlinkcolor" val="tx"/>
                    </a:ext>
                  </a:extLst>
                </a:hlinkClick>
              </a:rPr>
              <a:t>Night by night: B7 →</a:t>
            </a:r>
            <a:endParaRPr lang="en-US" sz="1100" dirty="0"/>
          </a:p>
        </p:txBody>
      </p:sp>
      <p:sp>
        <p:nvSpPr>
          <p:cNvPr id="45" name="Text 42"/>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src/sim/tradeoff.py; outputs/sim/batch_L5_v1/tradeoff.md. Descriptive, not a ranking; decision criteria (D-50) not agreed.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Could we choose the transfer policy systematically?</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25</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One possible extension is to optimize transfer policy while anticipating how the routing dispatcher responds.</a:t>
            </a:r>
            <a:endParaRPr lang="en-US" sz="1700" dirty="0"/>
          </a:p>
        </p:txBody>
      </p:sp>
      <p:sp>
        <p:nvSpPr>
          <p:cNvPr id="6" name="status-PROPOSED"/>
          <p:cNvSpPr/>
          <p:nvPr/>
        </p:nvSpPr>
        <p:spPr>
          <a:xfrm>
            <a:off x="457200" y="1463040"/>
            <a:ext cx="3108960" cy="292608"/>
          </a:xfrm>
          <a:prstGeom prst="rect">
            <a:avLst/>
          </a:prstGeom>
          <a:solidFill>
            <a:srgbClr val="FFFFFF"/>
          </a:solidFill>
          <a:ln w="19050">
            <a:solidFill>
              <a:srgbClr val="B23A3A"/>
            </a:solidFill>
            <a:prstDash val="dash"/>
          </a:ln>
        </p:spPr>
      </p:sp>
      <p:sp>
        <p:nvSpPr>
          <p:cNvPr id="7" name="Text 4"/>
          <p:cNvSpPr txBox="1"/>
          <p:nvPr/>
        </p:nvSpPr>
        <p:spPr>
          <a:xfrm>
            <a:off x="457200" y="1463040"/>
            <a:ext cx="3108960" cy="292608"/>
          </a:xfrm>
          <a:prstGeom prst="rect">
            <a:avLst/>
          </a:prstGeom>
          <a:noFill/>
          <a:ln/>
        </p:spPr>
        <p:txBody>
          <a:bodyPr wrap="square" lIns="0" tIns="0" rIns="0" bIns="0" rtlCol="0" anchor="ctr"/>
          <a:lstStyle/>
          <a:p>
            <a:pPr algn="ctr" indent="0" marL="0">
              <a:buNone/>
            </a:pPr>
            <a:r>
              <a:rPr lang="en-US" sz="1050" b="1" dirty="0">
                <a:solidFill>
                  <a:srgbClr val="B23A3A"/>
                </a:solidFill>
                <a:latin typeface="Calibri" pitchFamily="34" charset="0"/>
                <a:ea typeface="Calibri" pitchFamily="34" charset="-122"/>
                <a:cs typeface="Calibri" pitchFamily="34" charset="-120"/>
              </a:rPr>
              <a:t>PROPOSED — NOT IMPLEMENTED</a:t>
            </a:r>
            <a:endParaRPr lang="en-US" sz="1050" dirty="0"/>
          </a:p>
        </p:txBody>
      </p:sp>
      <p:sp>
        <p:nvSpPr>
          <p:cNvPr id="8" name="Shape 5"/>
          <p:cNvSpPr/>
          <p:nvPr/>
        </p:nvSpPr>
        <p:spPr>
          <a:xfrm>
            <a:off x="457200" y="1965960"/>
            <a:ext cx="3383280" cy="914400"/>
          </a:xfrm>
          <a:prstGeom prst="roundRect">
            <a:avLst>
              <a:gd name="adj" fmla="val 7000"/>
            </a:avLst>
          </a:prstGeom>
          <a:solidFill>
            <a:srgbClr val="FFF4EC"/>
          </a:solidFill>
          <a:ln w="15875">
            <a:solidFill>
              <a:srgbClr val="EB6834"/>
            </a:solidFill>
            <a:prstDash val="solid"/>
          </a:ln>
        </p:spPr>
      </p:sp>
      <p:sp>
        <p:nvSpPr>
          <p:cNvPr id="9" name="Text 6"/>
          <p:cNvSpPr txBox="1"/>
          <p:nvPr/>
        </p:nvSpPr>
        <p:spPr>
          <a:xfrm>
            <a:off x="530352" y="2002536"/>
            <a:ext cx="3236976" cy="841248"/>
          </a:xfrm>
          <a:prstGeom prst="rect">
            <a:avLst/>
          </a:prstGeom>
          <a:noFill/>
          <a:ln/>
        </p:spPr>
        <p:txBody>
          <a:bodyPr wrap="square" lIns="635" tIns="635" rIns="635" bIns="635" rtlCol="0" anchor="ctr"/>
          <a:lstStyle/>
          <a:p>
            <a:pPr algn="ctr" indent="0" marL="0">
              <a:buNone/>
            </a:pPr>
            <a:r>
              <a:rPr lang="en-US" sz="1250" b="1" dirty="0">
                <a:solidFill>
                  <a:srgbClr val="EB6834"/>
                </a:solidFill>
                <a:latin typeface="Calibri" pitchFamily="34" charset="0"/>
                <a:ea typeface="Calibri" pitchFamily="34" charset="-122"/>
                <a:cs typeface="Calibri" pitchFamily="34" charset="-120"/>
              </a:rPr>
              <a:t>Policy designer</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chooses the rule and its threshold</a:t>
            </a:r>
            <a:endParaRPr lang="en-US" sz="1250" dirty="0"/>
          </a:p>
        </p:txBody>
      </p:sp>
      <p:sp>
        <p:nvSpPr>
          <p:cNvPr id="10" name="Shape 7"/>
          <p:cNvSpPr/>
          <p:nvPr/>
        </p:nvSpPr>
        <p:spPr>
          <a:xfrm>
            <a:off x="3858768" y="2423160"/>
            <a:ext cx="621792" cy="914"/>
          </a:xfrm>
          <a:prstGeom prst="line">
            <a:avLst/>
          </a:prstGeom>
          <a:noFill/>
          <a:ln w="25400">
            <a:solidFill>
              <a:srgbClr val="1E2933"/>
            </a:solidFill>
            <a:prstDash val="solid"/>
            <a:tailEnd type="triangle"/>
          </a:ln>
        </p:spPr>
      </p:sp>
      <p:sp>
        <p:nvSpPr>
          <p:cNvPr id="11" name="Shape 8"/>
          <p:cNvSpPr/>
          <p:nvPr/>
        </p:nvSpPr>
        <p:spPr>
          <a:xfrm>
            <a:off x="4526280" y="1965960"/>
            <a:ext cx="3383280" cy="914400"/>
          </a:xfrm>
          <a:prstGeom prst="roundRect">
            <a:avLst>
              <a:gd name="adj" fmla="val 7000"/>
            </a:avLst>
          </a:prstGeom>
          <a:solidFill>
            <a:srgbClr val="E8F1FB"/>
          </a:solidFill>
          <a:ln w="15875">
            <a:solidFill>
              <a:srgbClr val="2A78D6"/>
            </a:solidFill>
            <a:prstDash val="solid"/>
          </a:ln>
        </p:spPr>
      </p:sp>
      <p:sp>
        <p:nvSpPr>
          <p:cNvPr id="12" name="Text 9"/>
          <p:cNvSpPr txBox="1"/>
          <p:nvPr/>
        </p:nvSpPr>
        <p:spPr>
          <a:xfrm>
            <a:off x="4599432" y="2002536"/>
            <a:ext cx="3236976" cy="841248"/>
          </a:xfrm>
          <a:prstGeom prst="rect">
            <a:avLst/>
          </a:prstGeom>
          <a:noFill/>
          <a:ln/>
        </p:spPr>
        <p:txBody>
          <a:bodyPr wrap="square" lIns="635" tIns="635" rIns="635" bIns="635" rtlCol="0" anchor="ctr"/>
          <a:lstStyle/>
          <a:p>
            <a:pPr algn="ctr" indent="0" marL="0">
              <a:buNone/>
            </a:pPr>
            <a:r>
              <a:rPr lang="en-US" sz="1250" b="1" dirty="0">
                <a:solidFill>
                  <a:srgbClr val="2A78D6"/>
                </a:solidFill>
                <a:latin typeface="Calibri" pitchFamily="34" charset="0"/>
                <a:ea typeface="Calibri" pitchFamily="34" charset="-122"/>
                <a:cs typeface="Calibri" pitchFamily="34" charset="-120"/>
              </a:rPr>
              <a:t>Dispatcher responds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re-plans the vans for the requests left after transfers</a:t>
            </a:r>
            <a:endParaRPr lang="en-US" sz="1250" dirty="0"/>
          </a:p>
        </p:txBody>
      </p:sp>
      <p:sp>
        <p:nvSpPr>
          <p:cNvPr id="13" name="Shape 10"/>
          <p:cNvSpPr/>
          <p:nvPr/>
        </p:nvSpPr>
        <p:spPr>
          <a:xfrm>
            <a:off x="6217920" y="2898648"/>
            <a:ext cx="914" cy="393192"/>
          </a:xfrm>
          <a:prstGeom prst="line">
            <a:avLst/>
          </a:prstGeom>
          <a:noFill/>
          <a:ln w="25400">
            <a:solidFill>
              <a:srgbClr val="1E2933"/>
            </a:solidFill>
            <a:prstDash val="solid"/>
            <a:tailEnd type="triangle"/>
          </a:ln>
        </p:spPr>
      </p:sp>
      <p:sp>
        <p:nvSpPr>
          <p:cNvPr id="14" name="Shape 11"/>
          <p:cNvSpPr/>
          <p:nvPr/>
        </p:nvSpPr>
        <p:spPr>
          <a:xfrm>
            <a:off x="4526280" y="3310128"/>
            <a:ext cx="3383280" cy="868680"/>
          </a:xfrm>
          <a:prstGeom prst="roundRect">
            <a:avLst>
              <a:gd name="adj" fmla="val 7368"/>
            </a:avLst>
          </a:prstGeom>
          <a:solidFill>
            <a:srgbClr val="EEF1F4"/>
          </a:solidFill>
          <a:ln w="15875">
            <a:solidFill>
              <a:srgbClr val="5B6670"/>
            </a:solidFill>
            <a:prstDash val="solid"/>
          </a:ln>
        </p:spPr>
      </p:sp>
      <p:sp>
        <p:nvSpPr>
          <p:cNvPr id="15" name="Text 12"/>
          <p:cNvSpPr txBox="1"/>
          <p:nvPr/>
        </p:nvSpPr>
        <p:spPr>
          <a:xfrm>
            <a:off x="4599432" y="3346704"/>
            <a:ext cx="3236976" cy="795528"/>
          </a:xfrm>
          <a:prstGeom prst="rect">
            <a:avLst/>
          </a:prstGeom>
          <a:noFill/>
          <a:ln/>
        </p:spPr>
        <p:txBody>
          <a:bodyPr wrap="square" lIns="635" tIns="635" rIns="635" bIns="635" rtlCol="0" anchor="ctr"/>
          <a:lstStyle/>
          <a:p>
            <a:pPr algn="ctr" indent="0" marL="0">
              <a:buNone/>
            </a:pPr>
            <a:r>
              <a:rPr lang="en-US" sz="1250" b="1" dirty="0">
                <a:solidFill>
                  <a:srgbClr val="1E2933"/>
                </a:solidFill>
                <a:latin typeface="Calibri" pitchFamily="34" charset="0"/>
                <a:ea typeface="Calibri" pitchFamily="34" charset="-122"/>
                <a:cs typeface="Calibri" pitchFamily="34" charset="-120"/>
              </a:rPr>
              <a:t>Service and resource outcomes</a:t>
            </a:r>
            <a:endParaRPr lang="en-US" sz="1250" dirty="0"/>
          </a:p>
          <a:p>
            <a:pPr algn="ctr" indent="0" marL="0">
              <a:buNone/>
            </a:pPr>
            <a:r>
              <a:rPr lang="en-US" sz="1250" dirty="0">
                <a:solidFill>
                  <a:srgbClr val="1E2933"/>
                </a:solidFill>
                <a:latin typeface="Calibri" pitchFamily="34" charset="0"/>
                <a:ea typeface="Calibri" pitchFamily="34" charset="-122"/>
                <a:cs typeface="Calibri" pitchFamily="34" charset="-120"/>
              </a:rPr>
              <a:t>share reached, Lyft orders, van-km</a:t>
            </a:r>
            <a:endParaRPr lang="en-US" sz="1250" dirty="0"/>
          </a:p>
        </p:txBody>
      </p:sp>
      <p:sp>
        <p:nvSpPr>
          <p:cNvPr id="16" name="Shape 13"/>
          <p:cNvSpPr/>
          <p:nvPr/>
        </p:nvSpPr>
        <p:spPr>
          <a:xfrm flipH="1">
            <a:off x="2148840" y="3749040"/>
            <a:ext cx="2359152" cy="914"/>
          </a:xfrm>
          <a:prstGeom prst="line">
            <a:avLst/>
          </a:prstGeom>
          <a:noFill/>
          <a:ln w="25400">
            <a:solidFill>
              <a:srgbClr val="1E2933"/>
            </a:solidFill>
            <a:prstDash val="dash"/>
            <a:tailEnd type="triangle"/>
          </a:ln>
        </p:spPr>
      </p:sp>
      <p:sp>
        <p:nvSpPr>
          <p:cNvPr id="17" name="Shape 14"/>
          <p:cNvSpPr/>
          <p:nvPr/>
        </p:nvSpPr>
        <p:spPr>
          <a:xfrm flipV="1">
            <a:off x="2148840" y="2898648"/>
            <a:ext cx="914" cy="850392"/>
          </a:xfrm>
          <a:prstGeom prst="line">
            <a:avLst/>
          </a:prstGeom>
          <a:noFill/>
          <a:ln w="25400">
            <a:solidFill>
              <a:srgbClr val="1E2933"/>
            </a:solidFill>
            <a:prstDash val="dash"/>
            <a:tailEnd type="triangle"/>
          </a:ln>
        </p:spPr>
      </p:sp>
      <p:sp>
        <p:nvSpPr>
          <p:cNvPr id="18" name="Text 15"/>
          <p:cNvSpPr txBox="1"/>
          <p:nvPr/>
        </p:nvSpPr>
        <p:spPr>
          <a:xfrm>
            <a:off x="2240280" y="3767328"/>
            <a:ext cx="2194560" cy="274320"/>
          </a:xfrm>
          <a:prstGeom prst="rect">
            <a:avLst/>
          </a:prstGeom>
          <a:noFill/>
          <a:ln/>
        </p:spPr>
        <p:txBody>
          <a:bodyPr wrap="square" lIns="635" tIns="635" rIns="635" bIns="635" rtlCol="0" anchor="t"/>
          <a:lstStyle/>
          <a:p>
            <a:pPr indent="0" marL="0">
              <a:buNone/>
            </a:pPr>
            <a:r>
              <a:rPr lang="en-US" sz="1100" i="1" dirty="0">
                <a:solidFill>
                  <a:srgbClr val="5B6670"/>
                </a:solidFill>
                <a:latin typeface="Calibri" pitchFamily="34" charset="0"/>
                <a:ea typeface="Calibri" pitchFamily="34" charset="-122"/>
                <a:cs typeface="Calibri" pitchFamily="34" charset="-120"/>
              </a:rPr>
              <a:t>outcomes inform the policy choice</a:t>
            </a:r>
            <a:endParaRPr lang="en-US" sz="1100" dirty="0"/>
          </a:p>
        </p:txBody>
      </p:sp>
      <p:sp>
        <p:nvSpPr>
          <p:cNvPr id="19" name="Shape 16"/>
          <p:cNvSpPr/>
          <p:nvPr/>
        </p:nvSpPr>
        <p:spPr>
          <a:xfrm>
            <a:off x="8183880" y="1965960"/>
            <a:ext cx="3520440" cy="2212848"/>
          </a:xfrm>
          <a:prstGeom prst="roundRect">
            <a:avLst>
              <a:gd name="adj" fmla="val 2893"/>
            </a:avLst>
          </a:prstGeom>
          <a:solidFill>
            <a:srgbClr val="EEF1F4"/>
          </a:solidFill>
          <a:ln w="9525">
            <a:solidFill>
              <a:srgbClr val="EEF1F4"/>
            </a:solidFill>
            <a:prstDash val="solid"/>
          </a:ln>
        </p:spPr>
      </p:sp>
      <p:sp>
        <p:nvSpPr>
          <p:cNvPr id="20" name="Text 17"/>
          <p:cNvSpPr txBox="1"/>
          <p:nvPr/>
        </p:nvSpPr>
        <p:spPr>
          <a:xfrm>
            <a:off x="8321040" y="2011680"/>
            <a:ext cx="3291840" cy="2121408"/>
          </a:xfrm>
          <a:prstGeom prst="rect">
            <a:avLst/>
          </a:prstGeom>
          <a:noFill/>
          <a:ln/>
        </p:spPr>
        <p:txBody>
          <a:bodyPr wrap="square" lIns="635" tIns="635" rIns="635" bIns="635" rtlCol="0" anchor="ctr"/>
          <a:lstStyle/>
          <a:p>
            <a:pPr indent="0" marL="0">
              <a:buNone/>
            </a:pPr>
            <a:r>
              <a:rPr lang="en-US" sz="1250" b="1" dirty="0">
                <a:solidFill>
                  <a:srgbClr val="1E2933"/>
                </a:solidFill>
                <a:latin typeface="Calibri" pitchFamily="34" charset="0"/>
                <a:ea typeface="Calibri" pitchFamily="34" charset="-122"/>
                <a:cs typeface="Calibri" pitchFamily="34" charset="-120"/>
              </a:rPr>
              <a:t>Today: </a:t>
            </a:r>
            <a:pPr indent="0" marL="0">
              <a:buNone/>
            </a:pPr>
            <a:r>
              <a:rPr lang="en-US" sz="1250" dirty="0">
                <a:solidFill>
                  <a:srgbClr val="1E2933"/>
                </a:solidFill>
                <a:latin typeface="Calibri" pitchFamily="34" charset="0"/>
                <a:ea typeface="Calibri" pitchFamily="34" charset="-122"/>
                <a:cs typeface="Calibri" pitchFamily="34" charset="-120"/>
              </a:rPr>
              <a:t>six fixed rules compared on the same nights. A finite search finds the best option in a finite set for the average over our sampled nights—not the true expectation, not continuous thresholds, not all policies.</a:t>
            </a:r>
            <a:endParaRPr lang="en-US" sz="1250" dirty="0"/>
          </a:p>
        </p:txBody>
      </p:sp>
      <p:sp>
        <p:nvSpPr>
          <p:cNvPr id="21" name="Text 18"/>
          <p:cNvSpPr txBox="1"/>
          <p:nvPr/>
        </p:nvSpPr>
        <p:spPr>
          <a:xfrm>
            <a:off x="457200" y="4389120"/>
            <a:ext cx="11247120" cy="320040"/>
          </a:xfrm>
          <a:prstGeom prst="rect">
            <a:avLst/>
          </a:prstGeom>
          <a:noFill/>
          <a:ln/>
        </p:spPr>
        <p:txBody>
          <a:bodyPr wrap="square" lIns="635" tIns="635" rIns="635" bIns="635" rtlCol="0" anchor="t"/>
          <a:lstStyle/>
          <a:p>
            <a:pPr indent="0" marL="0">
              <a:buNone/>
            </a:pPr>
            <a:r>
              <a:rPr lang="en-US" sz="1400" b="1" dirty="0">
                <a:solidFill>
                  <a:srgbClr val="1E2933"/>
                </a:solidFill>
                <a:latin typeface="Calibri" pitchFamily="34" charset="0"/>
                <a:ea typeface="Calibri" pitchFamily="34" charset="-122"/>
                <a:cs typeface="Calibri" pitchFamily="34" charset="-120"/>
              </a:rPr>
              <a:t>To state this precisely as a leader–follower (bilevel) model, we would still need to define:</a:t>
            </a:r>
            <a:endParaRPr lang="en-US" sz="1400" dirty="0"/>
          </a:p>
        </p:txBody>
      </p:sp>
      <p:sp>
        <p:nvSpPr>
          <p:cNvPr id="22" name="Text 19"/>
          <p:cNvSpPr txBox="1"/>
          <p:nvPr/>
        </p:nvSpPr>
        <p:spPr>
          <a:xfrm>
            <a:off x="457200" y="4773168"/>
            <a:ext cx="3657600" cy="5029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1. the leader's choices (rule family, threshold range)</a:t>
            </a:r>
            <a:endParaRPr lang="en-US" sz="1250" dirty="0"/>
          </a:p>
        </p:txBody>
      </p:sp>
      <p:sp>
        <p:nvSpPr>
          <p:cNvPr id="23" name="Text 20"/>
          <p:cNvSpPr txBox="1"/>
          <p:nvPr/>
        </p:nvSpPr>
        <p:spPr>
          <a:xfrm>
            <a:off x="4251960" y="4773168"/>
            <a:ext cx="3657600" cy="5029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2. the follower: one decision moment at a time, or the whole evening</a:t>
            </a:r>
            <a:endParaRPr lang="en-US" sz="1250" dirty="0"/>
          </a:p>
        </p:txBody>
      </p:sp>
      <p:sp>
        <p:nvSpPr>
          <p:cNvPr id="24" name="Text 21"/>
          <p:cNvSpPr txBox="1"/>
          <p:nvPr/>
        </p:nvSpPr>
        <p:spPr>
          <a:xfrm>
            <a:off x="8046720" y="4773168"/>
            <a:ext cx="3657600" cy="5029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3. how ties in the follower's best response are treated</a:t>
            </a:r>
            <a:endParaRPr lang="en-US" sz="1250" dirty="0"/>
          </a:p>
        </p:txBody>
      </p:sp>
      <p:sp>
        <p:nvSpPr>
          <p:cNvPr id="25" name="Text 22"/>
          <p:cNvSpPr txBox="1"/>
          <p:nvPr/>
        </p:nvSpPr>
        <p:spPr>
          <a:xfrm>
            <a:off x="457200" y="5321808"/>
            <a:ext cx="3657600" cy="5029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4. the expectation over constructed nights</a:t>
            </a:r>
            <a:endParaRPr lang="en-US" sz="1250" dirty="0"/>
          </a:p>
        </p:txBody>
      </p:sp>
      <p:sp>
        <p:nvSpPr>
          <p:cNvPr id="26" name="Text 23"/>
          <p:cNvSpPr txBox="1"/>
          <p:nvPr/>
        </p:nvSpPr>
        <p:spPr>
          <a:xfrm>
            <a:off x="4251960" y="5321808"/>
            <a:ext cx="3657600" cy="5029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5. the loss and the weight on Lyft use</a:t>
            </a:r>
            <a:endParaRPr lang="en-US" sz="1250" dirty="0"/>
          </a:p>
        </p:txBody>
      </p:sp>
      <p:sp>
        <p:nvSpPr>
          <p:cNvPr id="27" name="Text 24"/>
          <p:cNvSpPr txBox="1"/>
          <p:nvPr/>
        </p:nvSpPr>
        <p:spPr>
          <a:xfrm>
            <a:off x="8046720" y="5321808"/>
            <a:ext cx="3657600" cy="502920"/>
          </a:xfrm>
          <a:prstGeom prst="rect">
            <a:avLst/>
          </a:prstGeom>
          <a:noFill/>
          <a:ln/>
        </p:spPr>
        <p:txBody>
          <a:bodyPr wrap="square" lIns="635" tIns="635" rIns="635" bIns="635" rtlCol="0" anchor="t"/>
          <a:lstStyle/>
          <a:p>
            <a:pPr indent="0" marL="0">
              <a:buNone/>
            </a:pPr>
            <a:r>
              <a:rPr lang="en-US" sz="1250" dirty="0">
                <a:solidFill>
                  <a:srgbClr val="1E2933"/>
                </a:solidFill>
                <a:latin typeface="Calibri" pitchFamily="34" charset="0"/>
                <a:ea typeface="Calibri" pitchFamily="34" charset="-122"/>
                <a:cs typeface="Calibri" pitchFamily="34" charset="-120"/>
              </a:rPr>
              <a:t>6. any budget or service-floor constraints</a:t>
            </a:r>
            <a:endParaRPr lang="en-US" sz="1250" dirty="0"/>
          </a:p>
        </p:txBody>
      </p:sp>
      <p:sp>
        <p:nvSpPr>
          <p:cNvPr id="28" name="Text 25"/>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docs/technical/scenario_methodology.md §7b; Colson, Marcotte &amp; Savard (2007), Ann. Oper. Res. 153:235–256; Dempe (2002).</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Which assumptions could change the answer?</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26</a:t>
            </a:r>
            <a:endParaRPr lang="en-US" sz="1000" dirty="0"/>
          </a:p>
        </p:txBody>
      </p:sp>
      <p:sp>
        <p:nvSpPr>
          <p:cNvPr id="5" name="Text 2"/>
          <p:cNvSpPr txBox="1"/>
          <p:nvPr/>
        </p:nvSpPr>
        <p:spPr>
          <a:xfrm>
            <a:off x="457200" y="960120"/>
            <a:ext cx="11247120" cy="411480"/>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The findings are conditional on the evenings and behaviours we constructed.</a:t>
            </a:r>
            <a:endParaRPr lang="en-US" sz="17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47120" cy="914400"/>
        </p:xfrm>
        <a:graphic>
          <a:graphicData uri="http://schemas.openxmlformats.org/drawingml/2006/table">
            <a:tbl>
              <a:tblPr/>
              <a:tblGrid>
                <a:gridCol w="2377440"/>
                <a:gridCol w="2103120"/>
                <a:gridCol w="6766560"/>
              </a:tblGrid>
              <a:tr h="6583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Assumption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Status</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How it could change the interpretation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65836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Rider patience</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ASSUMED placeholder</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The assumption we most expect to matter (untested): it sets how many riders give up and the losses after transfer</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65836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Lyft delay</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ASSUMED</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A slower or more variable Lyft could weaken transfers; under our placeholder patience, late transfers most</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65836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Workload and burst</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DERIVED + ASSUMED</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The pilot is deliberately heavy; at lighter load the rules may barely differ</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65836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Geography and pairing</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ASSUMED</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Longer or more scattered trips change van reach and predicted pickups</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658368">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Candidate restriction</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DESIGNED</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50" dirty="0">
                          <a:solidFill>
                            <a:srgbClr val="1E2933"/>
                          </a:solidFill>
                          <a:latin typeface="Calibri" pitchFamily="34" charset="0"/>
                          <a:ea typeface="Calibri" pitchFamily="34" charset="-122"/>
                          <a:cs typeface="Calibri" pitchFamily="34" charset="-120"/>
                        </a:rPr>
                        <a:t>At most 3 new pickups per van per decision; a richer search could change van performance and the rules' predictions</a:t>
                      </a:r>
                      <a:endParaRPr lang="en-US" sz="13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7" name="Text 3"/>
          <p:cNvSpPr txBox="1"/>
          <p:nvPr/>
        </p:nvSpPr>
        <p:spPr>
          <a:xfrm>
            <a:off x="457200" y="5577840"/>
            <a:ext cx="11247120" cy="457200"/>
          </a:xfrm>
          <a:prstGeom prst="rect">
            <a:avLst/>
          </a:prstGeom>
          <a:noFill/>
          <a:ln/>
        </p:spPr>
        <p:txBody>
          <a:bodyPr wrap="square" lIns="635" tIns="635" rIns="635" bIns="635" rtlCol="0" anchor="t"/>
          <a:lstStyle/>
          <a:p>
            <a:pPr indent="0" marL="0">
              <a:buNone/>
            </a:pPr>
            <a:r>
              <a:rPr lang="en-US" sz="1350" dirty="0">
                <a:solidFill>
                  <a:srgbClr val="5B6670"/>
                </a:solidFill>
                <a:latin typeface="Calibri" pitchFamily="34" charset="0"/>
                <a:ea typeface="Calibri" pitchFamily="34" charset="-122"/>
                <a:cs typeface="Calibri" pitchFamily="34" charset="-120"/>
              </a:rPr>
              <a:t>Also open: the 15-minute measure favours early transfer; 8.9% no-show depends on the status mapping; two vans, not five; verification, not validation.</a:t>
            </a:r>
            <a:endParaRPr lang="en-US" sz="1350" dirty="0"/>
          </a:p>
        </p:txBody>
      </p:sp>
      <p:sp>
        <p:nvSpPr>
          <p:cNvPr id="8"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docs/technical/scenario_methodology.md §7–§9; decision_log.md D-39, D-43, D-49, D-52.</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Test robustness before fine-tuning a winner</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27</a:t>
            </a:r>
            <a:endParaRPr lang="en-US" sz="1000" dirty="0"/>
          </a:p>
        </p:txBody>
      </p:sp>
      <p:sp>
        <p:nvSpPr>
          <p:cNvPr id="5" name="Text 2"/>
          <p:cNvSpPr txBox="1"/>
          <p:nvPr/>
        </p:nvSpPr>
        <p:spPr>
          <a:xfrm>
            <a:off x="457200" y="960120"/>
            <a:ext cx="11247120" cy="566928"/>
          </a:xfrm>
          <a:prstGeom prst="rect">
            <a:avLst/>
          </a:prstGeom>
          <a:noFill/>
          <a:ln/>
        </p:spPr>
        <p:txBody>
          <a:bodyPr wrap="square" lIns="635" tIns="635" rIns="635" bIns="635" rtlCol="0" anchor="t"/>
          <a:lstStyle/>
          <a:p>
            <a:pPr indent="0" marL="0">
              <a:buNone/>
            </a:pPr>
            <a:r>
              <a:rPr lang="en-US" sz="1700" b="1" dirty="0">
                <a:solidFill>
                  <a:srgbClr val="2A78D6"/>
                </a:solidFill>
                <a:latin typeface="Calibri" pitchFamily="34" charset="0"/>
                <a:ea typeface="Calibri" pitchFamily="34" charset="-122"/>
                <a:cs typeface="Calibri" pitchFamily="34" charset="-120"/>
              </a:rPr>
              <a:t>Next, we should test whether the findings survive different rider-patience and Lyft-delay assumptions, while checking feasibility at the larger fleet size.</a:t>
            </a:r>
            <a:endParaRPr lang="en-US" sz="1700" dirty="0"/>
          </a:p>
        </p:txBody>
      </p:sp>
      <p:sp>
        <p:nvSpPr>
          <p:cNvPr id="6" name="Shape 3"/>
          <p:cNvSpPr/>
          <p:nvPr/>
        </p:nvSpPr>
        <p:spPr>
          <a:xfrm>
            <a:off x="457200" y="1783080"/>
            <a:ext cx="2697480" cy="2743200"/>
          </a:xfrm>
          <a:prstGeom prst="roundRect">
            <a:avLst>
              <a:gd name="adj" fmla="val 2373"/>
            </a:avLst>
          </a:prstGeom>
          <a:solidFill>
            <a:srgbClr val="EFEDFB"/>
          </a:solidFill>
          <a:ln w="9525">
            <a:solidFill>
              <a:srgbClr val="EFEDFB"/>
            </a:solidFill>
            <a:prstDash val="solid"/>
          </a:ln>
        </p:spPr>
      </p:sp>
      <p:sp>
        <p:nvSpPr>
          <p:cNvPr id="7" name="Text 4"/>
          <p:cNvSpPr txBox="1"/>
          <p:nvPr/>
        </p:nvSpPr>
        <p:spPr>
          <a:xfrm>
            <a:off x="566928" y="1847088"/>
            <a:ext cx="2468880" cy="685800"/>
          </a:xfrm>
          <a:prstGeom prst="rect">
            <a:avLst/>
          </a:prstGeom>
          <a:noFill/>
          <a:ln/>
        </p:spPr>
        <p:txBody>
          <a:bodyPr wrap="square" lIns="635" tIns="635" rIns="635" bIns="635" rtlCol="0" anchor="t"/>
          <a:lstStyle/>
          <a:p>
            <a:pPr indent="0" marL="0">
              <a:buNone/>
            </a:pPr>
            <a:r>
              <a:rPr lang="en-US" sz="1550" b="1" dirty="0">
                <a:solidFill>
                  <a:srgbClr val="1E2933"/>
                </a:solidFill>
                <a:latin typeface="Calibri" pitchFamily="34" charset="0"/>
                <a:ea typeface="Calibri" pitchFamily="34" charset="-122"/>
                <a:cs typeface="Calibri" pitchFamily="34" charset="-120"/>
              </a:rPr>
              <a:t>1  Behavioural sensitivity</a:t>
            </a:r>
            <a:endParaRPr lang="en-US" sz="1550" dirty="0"/>
          </a:p>
        </p:txBody>
      </p:sp>
      <p:sp>
        <p:nvSpPr>
          <p:cNvPr id="8" name="Text 5"/>
          <p:cNvSpPr txBox="1"/>
          <p:nvPr/>
        </p:nvSpPr>
        <p:spPr>
          <a:xfrm>
            <a:off x="566928" y="2560320"/>
            <a:ext cx="2468880" cy="1463040"/>
          </a:xfrm>
          <a:prstGeom prst="rect">
            <a:avLst/>
          </a:prstGeom>
          <a:noFill/>
          <a:ln/>
        </p:spPr>
        <p:txBody>
          <a:bodyPr wrap="square" lIns="635" tIns="635" rIns="635" bIns="635" rtlCol="0" anchor="t"/>
          <a:lstStyle/>
          <a:p>
            <a:pPr indent="0" marL="0">
              <a:buNone/>
            </a:pPr>
            <a:r>
              <a:rPr lang="en-US" sz="1350" dirty="0">
                <a:solidFill>
                  <a:srgbClr val="1E2933"/>
                </a:solidFill>
                <a:latin typeface="Calibri" pitchFamily="34" charset="0"/>
                <a:ea typeface="Calibri" pitchFamily="34" charset="-122"/>
                <a:cs typeface="Calibri" pitchFamily="34" charset="-120"/>
              </a:rPr>
              <a:t>Rerun the saved nights under other patience shapes and Lyft delays</a:t>
            </a:r>
            <a:endParaRPr lang="en-US" sz="1350" dirty="0"/>
          </a:p>
        </p:txBody>
      </p:sp>
      <p:sp>
        <p:nvSpPr>
          <p:cNvPr id="9" name="status-PLANNED"/>
          <p:cNvSpPr/>
          <p:nvPr/>
        </p:nvSpPr>
        <p:spPr>
          <a:xfrm>
            <a:off x="566928" y="4069080"/>
            <a:ext cx="2468880" cy="292608"/>
          </a:xfrm>
          <a:prstGeom prst="rect">
            <a:avLst/>
          </a:prstGeom>
          <a:solidFill>
            <a:srgbClr val="FFFFFF"/>
          </a:solidFill>
          <a:ln w="19050">
            <a:solidFill>
              <a:srgbClr val="8A6400"/>
            </a:solidFill>
            <a:prstDash val="dash"/>
          </a:ln>
        </p:spPr>
      </p:sp>
      <p:sp>
        <p:nvSpPr>
          <p:cNvPr id="10" name="Text 7"/>
          <p:cNvSpPr txBox="1"/>
          <p:nvPr/>
        </p:nvSpPr>
        <p:spPr>
          <a:xfrm>
            <a:off x="566928" y="4069080"/>
            <a:ext cx="2468880" cy="292608"/>
          </a:xfrm>
          <a:prstGeom prst="rect">
            <a:avLst/>
          </a:prstGeom>
          <a:noFill/>
          <a:ln/>
        </p:spPr>
        <p:txBody>
          <a:bodyPr wrap="square" lIns="0" tIns="0" rIns="0" bIns="0" rtlCol="0" anchor="ctr"/>
          <a:lstStyle/>
          <a:p>
            <a:pPr algn="ctr" indent="0" marL="0">
              <a:buNone/>
            </a:pPr>
            <a:r>
              <a:rPr lang="en-US" sz="1050" b="1" dirty="0">
                <a:solidFill>
                  <a:srgbClr val="8A6400"/>
                </a:solidFill>
                <a:latin typeface="Calibri" pitchFamily="34" charset="0"/>
                <a:ea typeface="Calibri" pitchFamily="34" charset="-122"/>
                <a:cs typeface="Calibri" pitchFamily="34" charset="-120"/>
              </a:rPr>
              <a:t>PLANNED — NOT YET RUN</a:t>
            </a:r>
            <a:endParaRPr lang="en-US" sz="1050" dirty="0"/>
          </a:p>
        </p:txBody>
      </p:sp>
      <p:sp>
        <p:nvSpPr>
          <p:cNvPr id="11" name="Shape 8"/>
          <p:cNvSpPr/>
          <p:nvPr/>
        </p:nvSpPr>
        <p:spPr>
          <a:xfrm>
            <a:off x="3172968" y="3108960"/>
            <a:ext cx="100584" cy="914"/>
          </a:xfrm>
          <a:prstGeom prst="line">
            <a:avLst/>
          </a:prstGeom>
          <a:noFill/>
          <a:ln w="19050">
            <a:solidFill>
              <a:srgbClr val="1E2933"/>
            </a:solidFill>
            <a:prstDash val="solid"/>
            <a:tailEnd type="triangle"/>
          </a:ln>
        </p:spPr>
      </p:sp>
      <p:sp>
        <p:nvSpPr>
          <p:cNvPr id="12" name="Shape 9"/>
          <p:cNvSpPr/>
          <p:nvPr/>
        </p:nvSpPr>
        <p:spPr>
          <a:xfrm>
            <a:off x="3291840" y="1783080"/>
            <a:ext cx="2697480" cy="2743200"/>
          </a:xfrm>
          <a:prstGeom prst="roundRect">
            <a:avLst>
              <a:gd name="adj" fmla="val 2373"/>
            </a:avLst>
          </a:prstGeom>
          <a:solidFill>
            <a:srgbClr val="E8F1FB"/>
          </a:solidFill>
          <a:ln w="9525">
            <a:solidFill>
              <a:srgbClr val="E8F1FB"/>
            </a:solidFill>
            <a:prstDash val="solid"/>
          </a:ln>
        </p:spPr>
      </p:sp>
      <p:sp>
        <p:nvSpPr>
          <p:cNvPr id="13" name="Text 10"/>
          <p:cNvSpPr txBox="1"/>
          <p:nvPr/>
        </p:nvSpPr>
        <p:spPr>
          <a:xfrm>
            <a:off x="3401568" y="1847088"/>
            <a:ext cx="2468880" cy="685800"/>
          </a:xfrm>
          <a:prstGeom prst="rect">
            <a:avLst/>
          </a:prstGeom>
          <a:noFill/>
          <a:ln/>
        </p:spPr>
        <p:txBody>
          <a:bodyPr wrap="square" lIns="635" tIns="635" rIns="635" bIns="635" rtlCol="0" anchor="t"/>
          <a:lstStyle/>
          <a:p>
            <a:pPr indent="0" marL="0">
              <a:buNone/>
            </a:pPr>
            <a:r>
              <a:rPr lang="en-US" sz="1550" b="1" dirty="0">
                <a:solidFill>
                  <a:srgbClr val="1E2933"/>
                </a:solidFill>
                <a:latin typeface="Calibri" pitchFamily="34" charset="0"/>
                <a:ea typeface="Calibri" pitchFamily="34" charset="-122"/>
                <a:cs typeface="Calibri" pitchFamily="34" charset="-120"/>
              </a:rPr>
              <a:t>2  Five-van feasibility</a:t>
            </a:r>
            <a:endParaRPr lang="en-US" sz="1550" dirty="0"/>
          </a:p>
        </p:txBody>
      </p:sp>
      <p:sp>
        <p:nvSpPr>
          <p:cNvPr id="14" name="Text 11"/>
          <p:cNvSpPr txBox="1"/>
          <p:nvPr/>
        </p:nvSpPr>
        <p:spPr>
          <a:xfrm>
            <a:off x="3401568" y="2560320"/>
            <a:ext cx="2468880" cy="1463040"/>
          </a:xfrm>
          <a:prstGeom prst="rect">
            <a:avLst/>
          </a:prstGeom>
          <a:noFill/>
          <a:ln/>
        </p:spPr>
        <p:txBody>
          <a:bodyPr wrap="square" lIns="635" tIns="635" rIns="635" bIns="635" rtlCol="0" anchor="t"/>
          <a:lstStyle/>
          <a:p>
            <a:pPr indent="0" marL="0">
              <a:buNone/>
            </a:pPr>
            <a:r>
              <a:rPr lang="en-US" sz="1350" dirty="0">
                <a:solidFill>
                  <a:srgbClr val="1E2933"/>
                </a:solidFill>
                <a:latin typeface="Calibri" pitchFamily="34" charset="0"/>
                <a:ea typeface="Calibri" pitchFamily="34" charset="-122"/>
                <a:cs typeface="Calibri" pitchFamily="34" charset="-120"/>
              </a:rPr>
              <a:t>Run the 168-request evening; check solve times and candidate limits</a:t>
            </a:r>
            <a:endParaRPr lang="en-US" sz="1350" dirty="0"/>
          </a:p>
        </p:txBody>
      </p:sp>
      <p:sp>
        <p:nvSpPr>
          <p:cNvPr id="15" name="status-PLANNED"/>
          <p:cNvSpPr/>
          <p:nvPr/>
        </p:nvSpPr>
        <p:spPr>
          <a:xfrm>
            <a:off x="3401568" y="4069080"/>
            <a:ext cx="2468880" cy="292608"/>
          </a:xfrm>
          <a:prstGeom prst="rect">
            <a:avLst/>
          </a:prstGeom>
          <a:solidFill>
            <a:srgbClr val="FFFFFF"/>
          </a:solidFill>
          <a:ln w="19050">
            <a:solidFill>
              <a:srgbClr val="8A6400"/>
            </a:solidFill>
            <a:prstDash val="dash"/>
          </a:ln>
        </p:spPr>
      </p:sp>
      <p:sp>
        <p:nvSpPr>
          <p:cNvPr id="16" name="Text 13"/>
          <p:cNvSpPr txBox="1"/>
          <p:nvPr/>
        </p:nvSpPr>
        <p:spPr>
          <a:xfrm>
            <a:off x="3401568" y="4069080"/>
            <a:ext cx="2468880" cy="292608"/>
          </a:xfrm>
          <a:prstGeom prst="rect">
            <a:avLst/>
          </a:prstGeom>
          <a:noFill/>
          <a:ln/>
        </p:spPr>
        <p:txBody>
          <a:bodyPr wrap="square" lIns="0" tIns="0" rIns="0" bIns="0" rtlCol="0" anchor="ctr"/>
          <a:lstStyle/>
          <a:p>
            <a:pPr algn="ctr" indent="0" marL="0">
              <a:buNone/>
            </a:pPr>
            <a:r>
              <a:rPr lang="en-US" sz="1050" b="1" dirty="0">
                <a:solidFill>
                  <a:srgbClr val="8A6400"/>
                </a:solidFill>
                <a:latin typeface="Calibri" pitchFamily="34" charset="0"/>
                <a:ea typeface="Calibri" pitchFamily="34" charset="-122"/>
                <a:cs typeface="Calibri" pitchFamily="34" charset="-120"/>
              </a:rPr>
              <a:t>PLANNED — NOT YET RUN</a:t>
            </a:r>
            <a:endParaRPr lang="en-US" sz="1050" dirty="0"/>
          </a:p>
        </p:txBody>
      </p:sp>
      <p:sp>
        <p:nvSpPr>
          <p:cNvPr id="17" name="Shape 14"/>
          <p:cNvSpPr/>
          <p:nvPr/>
        </p:nvSpPr>
        <p:spPr>
          <a:xfrm>
            <a:off x="6007608" y="3108960"/>
            <a:ext cx="100584" cy="914"/>
          </a:xfrm>
          <a:prstGeom prst="line">
            <a:avLst/>
          </a:prstGeom>
          <a:noFill/>
          <a:ln w="19050">
            <a:solidFill>
              <a:srgbClr val="1E2933"/>
            </a:solidFill>
            <a:prstDash val="solid"/>
            <a:tailEnd type="triangle"/>
          </a:ln>
        </p:spPr>
      </p:sp>
      <p:sp>
        <p:nvSpPr>
          <p:cNvPr id="18" name="Shape 15"/>
          <p:cNvSpPr/>
          <p:nvPr/>
        </p:nvSpPr>
        <p:spPr>
          <a:xfrm>
            <a:off x="6126480" y="1783080"/>
            <a:ext cx="2697480" cy="2743200"/>
          </a:xfrm>
          <a:prstGeom prst="roundRect">
            <a:avLst>
              <a:gd name="adj" fmla="val 2373"/>
            </a:avLst>
          </a:prstGeom>
          <a:solidFill>
            <a:srgbClr val="FFF4EC"/>
          </a:solidFill>
          <a:ln w="9525">
            <a:solidFill>
              <a:srgbClr val="FFF4EC"/>
            </a:solidFill>
            <a:prstDash val="solid"/>
          </a:ln>
        </p:spPr>
      </p:sp>
      <p:sp>
        <p:nvSpPr>
          <p:cNvPr id="19" name="Text 16"/>
          <p:cNvSpPr txBox="1"/>
          <p:nvPr/>
        </p:nvSpPr>
        <p:spPr>
          <a:xfrm>
            <a:off x="6236208" y="1847088"/>
            <a:ext cx="2468880" cy="685800"/>
          </a:xfrm>
          <a:prstGeom prst="rect">
            <a:avLst/>
          </a:prstGeom>
          <a:noFill/>
          <a:ln/>
        </p:spPr>
        <p:txBody>
          <a:bodyPr wrap="square" lIns="635" tIns="635" rIns="635" bIns="635" rtlCol="0" anchor="t"/>
          <a:lstStyle/>
          <a:p>
            <a:pPr indent="0" marL="0">
              <a:buNone/>
            </a:pPr>
            <a:r>
              <a:rPr lang="en-US" sz="1550" b="1" dirty="0">
                <a:solidFill>
                  <a:srgbClr val="1E2933"/>
                </a:solidFill>
                <a:latin typeface="Calibri" pitchFamily="34" charset="0"/>
                <a:ea typeface="Calibri" pitchFamily="34" charset="-122"/>
                <a:cs typeface="Calibri" pitchFamily="34" charset="-120"/>
              </a:rPr>
              <a:t>3  Agreed evaluation criteria</a:t>
            </a:r>
            <a:endParaRPr lang="en-US" sz="1550" dirty="0"/>
          </a:p>
        </p:txBody>
      </p:sp>
      <p:sp>
        <p:nvSpPr>
          <p:cNvPr id="20" name="Text 17"/>
          <p:cNvSpPr txBox="1"/>
          <p:nvPr/>
        </p:nvSpPr>
        <p:spPr>
          <a:xfrm>
            <a:off x="6236208" y="2560320"/>
            <a:ext cx="2468880" cy="1463040"/>
          </a:xfrm>
          <a:prstGeom prst="rect">
            <a:avLst/>
          </a:prstGeom>
          <a:noFill/>
          <a:ln/>
        </p:spPr>
        <p:txBody>
          <a:bodyPr wrap="square" lIns="635" tIns="635" rIns="635" bIns="635" rtlCol="0" anchor="t"/>
          <a:lstStyle/>
          <a:p>
            <a:pPr indent="0" marL="0">
              <a:buNone/>
            </a:pPr>
            <a:r>
              <a:rPr lang="en-US" sz="1350" dirty="0">
                <a:solidFill>
                  <a:srgbClr val="1E2933"/>
                </a:solidFill>
                <a:latin typeface="Calibri" pitchFamily="34" charset="0"/>
                <a:ea typeface="Calibri" pitchFamily="34" charset="-122"/>
                <a:cs typeface="Calibri" pitchFamily="34" charset="-120"/>
              </a:rPr>
              <a:t>Decide how much extra Lyft use one more rider reached is worth, then compute confidence intervals across the paired nights</a:t>
            </a:r>
            <a:endParaRPr lang="en-US" sz="1350" dirty="0"/>
          </a:p>
        </p:txBody>
      </p:sp>
      <p:sp>
        <p:nvSpPr>
          <p:cNvPr id="21" name="status-PLANNED"/>
          <p:cNvSpPr/>
          <p:nvPr/>
        </p:nvSpPr>
        <p:spPr>
          <a:xfrm>
            <a:off x="6236208" y="4069080"/>
            <a:ext cx="2468880" cy="292608"/>
          </a:xfrm>
          <a:prstGeom prst="rect">
            <a:avLst/>
          </a:prstGeom>
          <a:solidFill>
            <a:srgbClr val="FFFFFF"/>
          </a:solidFill>
          <a:ln w="19050">
            <a:solidFill>
              <a:srgbClr val="8A6400"/>
            </a:solidFill>
            <a:prstDash val="dash"/>
          </a:ln>
        </p:spPr>
      </p:sp>
      <p:sp>
        <p:nvSpPr>
          <p:cNvPr id="22" name="Text 19"/>
          <p:cNvSpPr txBox="1"/>
          <p:nvPr/>
        </p:nvSpPr>
        <p:spPr>
          <a:xfrm>
            <a:off x="6236208" y="4069080"/>
            <a:ext cx="2468880" cy="292608"/>
          </a:xfrm>
          <a:prstGeom prst="rect">
            <a:avLst/>
          </a:prstGeom>
          <a:noFill/>
          <a:ln/>
        </p:spPr>
        <p:txBody>
          <a:bodyPr wrap="square" lIns="0" tIns="0" rIns="0" bIns="0" rtlCol="0" anchor="ctr"/>
          <a:lstStyle/>
          <a:p>
            <a:pPr algn="ctr" indent="0" marL="0">
              <a:buNone/>
            </a:pPr>
            <a:r>
              <a:rPr lang="en-US" sz="1050" b="1" dirty="0">
                <a:solidFill>
                  <a:srgbClr val="8A6400"/>
                </a:solidFill>
                <a:latin typeface="Calibri" pitchFamily="34" charset="0"/>
                <a:ea typeface="Calibri" pitchFamily="34" charset="-122"/>
                <a:cs typeface="Calibri" pitchFamily="34" charset="-120"/>
              </a:rPr>
              <a:t>PLANNED — NOT YET RUN</a:t>
            </a:r>
            <a:endParaRPr lang="en-US" sz="1050" dirty="0"/>
          </a:p>
        </p:txBody>
      </p:sp>
      <p:sp>
        <p:nvSpPr>
          <p:cNvPr id="23" name="Shape 20"/>
          <p:cNvSpPr/>
          <p:nvPr/>
        </p:nvSpPr>
        <p:spPr>
          <a:xfrm>
            <a:off x="8842248" y="3108960"/>
            <a:ext cx="100584" cy="914"/>
          </a:xfrm>
          <a:prstGeom prst="line">
            <a:avLst/>
          </a:prstGeom>
          <a:noFill/>
          <a:ln w="19050">
            <a:solidFill>
              <a:srgbClr val="1E2933"/>
            </a:solidFill>
            <a:prstDash val="solid"/>
            <a:tailEnd type="triangle"/>
          </a:ln>
        </p:spPr>
      </p:sp>
      <p:sp>
        <p:nvSpPr>
          <p:cNvPr id="24" name="Shape 21"/>
          <p:cNvSpPr/>
          <p:nvPr/>
        </p:nvSpPr>
        <p:spPr>
          <a:xfrm>
            <a:off x="8961120" y="1783080"/>
            <a:ext cx="2697480" cy="2743200"/>
          </a:xfrm>
          <a:prstGeom prst="roundRect">
            <a:avLst>
              <a:gd name="adj" fmla="val 2373"/>
            </a:avLst>
          </a:prstGeom>
          <a:solidFill>
            <a:srgbClr val="E9F7F1"/>
          </a:solidFill>
          <a:ln w="9525">
            <a:solidFill>
              <a:srgbClr val="E9F7F1"/>
            </a:solidFill>
            <a:prstDash val="solid"/>
          </a:ln>
        </p:spPr>
      </p:sp>
      <p:sp>
        <p:nvSpPr>
          <p:cNvPr id="25" name="Text 22"/>
          <p:cNvSpPr txBox="1"/>
          <p:nvPr/>
        </p:nvSpPr>
        <p:spPr>
          <a:xfrm>
            <a:off x="9070848" y="1847088"/>
            <a:ext cx="2468880" cy="685800"/>
          </a:xfrm>
          <a:prstGeom prst="rect">
            <a:avLst/>
          </a:prstGeom>
          <a:noFill/>
          <a:ln/>
        </p:spPr>
        <p:txBody>
          <a:bodyPr wrap="square" lIns="635" tIns="635" rIns="635" bIns="635" rtlCol="0" anchor="t"/>
          <a:lstStyle/>
          <a:p>
            <a:pPr indent="0" marL="0">
              <a:buNone/>
            </a:pPr>
            <a:r>
              <a:rPr lang="en-US" sz="1550" b="1" dirty="0">
                <a:solidFill>
                  <a:srgbClr val="1E2933"/>
                </a:solidFill>
                <a:latin typeface="Calibri" pitchFamily="34" charset="0"/>
                <a:ea typeface="Calibri" pitchFamily="34" charset="-122"/>
                <a:cs typeface="Calibri" pitchFamily="34" charset="-120"/>
              </a:rPr>
              <a:t>4  Threshold / policy search</a:t>
            </a:r>
            <a:endParaRPr lang="en-US" sz="1550" dirty="0"/>
          </a:p>
        </p:txBody>
      </p:sp>
      <p:sp>
        <p:nvSpPr>
          <p:cNvPr id="26" name="Text 23"/>
          <p:cNvSpPr txBox="1"/>
          <p:nvPr/>
        </p:nvSpPr>
        <p:spPr>
          <a:xfrm>
            <a:off x="9070848" y="2560320"/>
            <a:ext cx="2468880" cy="1463040"/>
          </a:xfrm>
          <a:prstGeom prst="rect">
            <a:avLst/>
          </a:prstGeom>
          <a:noFill/>
          <a:ln/>
        </p:spPr>
        <p:txBody>
          <a:bodyPr wrap="square" lIns="635" tIns="635" rIns="635" bIns="635" rtlCol="0" anchor="t"/>
          <a:lstStyle/>
          <a:p>
            <a:pPr indent="0" marL="0">
              <a:buNone/>
            </a:pPr>
            <a:r>
              <a:rPr lang="en-US" sz="1350" dirty="0">
                <a:solidFill>
                  <a:srgbClr val="1E2933"/>
                </a:solidFill>
                <a:latin typeface="Calibri" pitchFamily="34" charset="0"/>
                <a:ea typeface="Calibri" pitchFamily="34" charset="-122"/>
                <a:cs typeface="Calibri" pitchFamily="34" charset="-120"/>
              </a:rPr>
              <a:t>Only then sweep thresholds, or pursue the leader–follower extension</a:t>
            </a:r>
            <a:endParaRPr lang="en-US" sz="1350" dirty="0"/>
          </a:p>
        </p:txBody>
      </p:sp>
      <p:sp>
        <p:nvSpPr>
          <p:cNvPr id="27" name="status-PLANNED"/>
          <p:cNvSpPr/>
          <p:nvPr/>
        </p:nvSpPr>
        <p:spPr>
          <a:xfrm>
            <a:off x="9070848" y="4069080"/>
            <a:ext cx="2468880" cy="292608"/>
          </a:xfrm>
          <a:prstGeom prst="rect">
            <a:avLst/>
          </a:prstGeom>
          <a:solidFill>
            <a:srgbClr val="FFFFFF"/>
          </a:solidFill>
          <a:ln w="19050">
            <a:solidFill>
              <a:srgbClr val="8A6400"/>
            </a:solidFill>
            <a:prstDash val="dash"/>
          </a:ln>
        </p:spPr>
      </p:sp>
      <p:sp>
        <p:nvSpPr>
          <p:cNvPr id="28" name="Text 25"/>
          <p:cNvSpPr txBox="1"/>
          <p:nvPr/>
        </p:nvSpPr>
        <p:spPr>
          <a:xfrm>
            <a:off x="9070848" y="4069080"/>
            <a:ext cx="2468880" cy="292608"/>
          </a:xfrm>
          <a:prstGeom prst="rect">
            <a:avLst/>
          </a:prstGeom>
          <a:noFill/>
          <a:ln/>
        </p:spPr>
        <p:txBody>
          <a:bodyPr wrap="square" lIns="0" tIns="0" rIns="0" bIns="0" rtlCol="0" anchor="ctr"/>
          <a:lstStyle/>
          <a:p>
            <a:pPr algn="ctr" indent="0" marL="0">
              <a:buNone/>
            </a:pPr>
            <a:r>
              <a:rPr lang="en-US" sz="1050" b="1" dirty="0">
                <a:solidFill>
                  <a:srgbClr val="8A6400"/>
                </a:solidFill>
                <a:latin typeface="Calibri" pitchFamily="34" charset="0"/>
                <a:ea typeface="Calibri" pitchFamily="34" charset="-122"/>
                <a:cs typeface="Calibri" pitchFamily="34" charset="-120"/>
              </a:rPr>
              <a:t>PLANNED — NOT YET RUN</a:t>
            </a:r>
            <a:endParaRPr lang="en-US" sz="1050" dirty="0"/>
          </a:p>
        </p:txBody>
      </p:sp>
      <p:sp>
        <p:nvSpPr>
          <p:cNvPr id="29" name="Text 26"/>
          <p:cNvSpPr txBox="1"/>
          <p:nvPr/>
        </p:nvSpPr>
        <p:spPr>
          <a:xfrm>
            <a:off x="457200" y="4800600"/>
            <a:ext cx="11247120" cy="731520"/>
          </a:xfrm>
          <a:prstGeom prst="rect">
            <a:avLst/>
          </a:prstGeom>
          <a:noFill/>
          <a:ln/>
        </p:spPr>
        <p:txBody>
          <a:bodyPr wrap="square" lIns="635" tIns="635" rIns="635" bIns="635" rtlCol="0" anchor="t"/>
          <a:lstStyle/>
          <a:p>
            <a:pPr indent="0" marL="0">
              <a:buNone/>
            </a:pPr>
            <a:r>
              <a:rPr lang="en-US" sz="1500" b="1" dirty="0">
                <a:solidFill>
                  <a:srgbClr val="1E2933"/>
                </a:solidFill>
                <a:latin typeface="Calibri" pitchFamily="34" charset="0"/>
                <a:ea typeface="Calibri" pitchFamily="34" charset="-122"/>
                <a:cs typeface="Calibri" pitchFamily="34" charset="-120"/>
              </a:rPr>
              <a:t>Order matters: a threshold tuned to placeholder behaviour could be tuned to our assumptions rather than to the service.</a:t>
            </a:r>
            <a:endParaRPr lang="en-US" sz="1500" dirty="0"/>
          </a:p>
        </p:txBody>
      </p:sp>
      <p:sp>
        <p:nvSpPr>
          <p:cNvPr id="30" name="Text 27"/>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docs/technical/scenario_methodology.md §8–§9; decision_log.md D-50, D-51.</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What we can defend today</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28</a:t>
            </a:r>
            <a:endParaRPr lang="en-US" sz="1000" dirty="0"/>
          </a:p>
        </p:txBody>
      </p:sp>
      <p:sp>
        <p:nvSpPr>
          <p:cNvPr id="5" name="Shape 2"/>
          <p:cNvSpPr/>
          <p:nvPr/>
        </p:nvSpPr>
        <p:spPr>
          <a:xfrm>
            <a:off x="457200" y="1188720"/>
            <a:ext cx="11247120" cy="1554480"/>
          </a:xfrm>
          <a:prstGeom prst="roundRect">
            <a:avLst>
              <a:gd name="adj" fmla="val 4118"/>
            </a:avLst>
          </a:prstGeom>
          <a:solidFill>
            <a:srgbClr val="EEF1F4"/>
          </a:solidFill>
          <a:ln w="9525">
            <a:solidFill>
              <a:srgbClr val="EEF1F4"/>
            </a:solidFill>
            <a:prstDash val="solid"/>
          </a:ln>
        </p:spPr>
      </p:sp>
      <p:sp>
        <p:nvSpPr>
          <p:cNvPr id="6" name="Text 3"/>
          <p:cNvSpPr txBox="1"/>
          <p:nvPr/>
        </p:nvSpPr>
        <p:spPr>
          <a:xfrm>
            <a:off x="731520" y="1234440"/>
            <a:ext cx="10698480" cy="1463040"/>
          </a:xfrm>
          <a:prstGeom prst="rect">
            <a:avLst/>
          </a:prstGeom>
          <a:noFill/>
          <a:ln/>
        </p:spPr>
        <p:txBody>
          <a:bodyPr wrap="square" lIns="635" tIns="635" rIns="635" bIns="635" rtlCol="0" anchor="ctr"/>
          <a:lstStyle/>
          <a:p>
            <a:pPr indent="0" marL="0">
              <a:buNone/>
            </a:pPr>
            <a:r>
              <a:rPr lang="en-US" sz="2400" b="1" dirty="0">
                <a:solidFill>
                  <a:srgbClr val="1E2933"/>
                </a:solidFill>
                <a:latin typeface="Calibri" pitchFamily="34" charset="0"/>
                <a:ea typeface="Calibri" pitchFamily="34" charset="-122"/>
                <a:cs typeface="Calibri" pitchFamily="34" charset="-120"/>
              </a:rPr>
              <a:t>Aggregate data did not give us individual journeys. It gave us constraints for building plausible evenings.</a:t>
            </a:r>
            <a:endParaRPr lang="en-US" sz="2400" dirty="0"/>
          </a:p>
        </p:txBody>
      </p:sp>
      <p:sp>
        <p:nvSpPr>
          <p:cNvPr id="7" name="Shape 4"/>
          <p:cNvSpPr/>
          <p:nvPr/>
        </p:nvSpPr>
        <p:spPr>
          <a:xfrm>
            <a:off x="457200" y="2971800"/>
            <a:ext cx="11247120" cy="2103120"/>
          </a:xfrm>
          <a:prstGeom prst="roundRect">
            <a:avLst>
              <a:gd name="adj" fmla="val 3043"/>
            </a:avLst>
          </a:prstGeom>
          <a:solidFill>
            <a:srgbClr val="E8F1FB"/>
          </a:solidFill>
          <a:ln w="15875">
            <a:solidFill>
              <a:srgbClr val="2A78D6"/>
            </a:solidFill>
            <a:prstDash val="solid"/>
          </a:ln>
        </p:spPr>
      </p:sp>
      <p:sp>
        <p:nvSpPr>
          <p:cNvPr id="8" name="Text 5"/>
          <p:cNvSpPr txBox="1"/>
          <p:nvPr/>
        </p:nvSpPr>
        <p:spPr>
          <a:xfrm>
            <a:off x="731520" y="3017520"/>
            <a:ext cx="10698480" cy="2011680"/>
          </a:xfrm>
          <a:prstGeom prst="rect">
            <a:avLst/>
          </a:prstGeom>
          <a:noFill/>
          <a:ln/>
        </p:spPr>
        <p:txBody>
          <a:bodyPr wrap="square" lIns="635" tIns="635" rIns="635" bIns="635" rtlCol="0" anchor="ctr"/>
          <a:lstStyle/>
          <a:p>
            <a:pPr indent="0" marL="0">
              <a:buNone/>
            </a:pPr>
            <a:r>
              <a:rPr lang="en-US" sz="2200" dirty="0">
                <a:solidFill>
                  <a:srgbClr val="1B4F8A"/>
                </a:solidFill>
                <a:latin typeface="Calibri" pitchFamily="34" charset="0"/>
                <a:ea typeface="Calibri" pitchFamily="34" charset="-122"/>
                <a:cs typeface="Calibri" pitchFamily="34" charset="-120"/>
              </a:rPr>
              <a:t>Within our specified pilot, predictive transfer rules improved timely curb arrival while using more Lyft. Choosing a policy requires testing the assumptions and deciding what trade-off is acceptable.</a:t>
            </a:r>
            <a:endParaRPr lang="en-US" sz="2200" dirty="0"/>
          </a:p>
        </p:txBody>
      </p:sp>
      <p:sp>
        <p:nvSpPr>
          <p:cNvPr id="9" name="status-TESTED"/>
          <p:cNvSpPr/>
          <p:nvPr/>
        </p:nvSpPr>
        <p:spPr>
          <a:xfrm>
            <a:off x="457200" y="5349240"/>
            <a:ext cx="2743200" cy="292608"/>
          </a:xfrm>
          <a:prstGeom prst="rect">
            <a:avLst/>
          </a:prstGeom>
          <a:solidFill>
            <a:srgbClr val="FFFFFF"/>
          </a:solidFill>
          <a:ln w="19050">
            <a:solidFill>
              <a:srgbClr val="0F7A57"/>
            </a:solidFill>
            <a:prstDash val="solid"/>
          </a:ln>
        </p:spPr>
      </p:sp>
      <p:sp>
        <p:nvSpPr>
          <p:cNvPr id="10" name="Text 7"/>
          <p:cNvSpPr txBox="1"/>
          <p:nvPr/>
        </p:nvSpPr>
        <p:spPr>
          <a:xfrm>
            <a:off x="457200" y="5349240"/>
            <a:ext cx="2743200" cy="292608"/>
          </a:xfrm>
          <a:prstGeom prst="rect">
            <a:avLst/>
          </a:prstGeom>
          <a:noFill/>
          <a:ln/>
        </p:spPr>
        <p:txBody>
          <a:bodyPr wrap="square" lIns="0" tIns="0" rIns="0" bIns="0" rtlCol="0" anchor="ctr"/>
          <a:lstStyle/>
          <a:p>
            <a:pPr algn="ctr" indent="0" marL="0">
              <a:buNone/>
            </a:pPr>
            <a:r>
              <a:rPr lang="en-US" sz="1050" b="1" dirty="0">
                <a:solidFill>
                  <a:srgbClr val="0F7A57"/>
                </a:solidFill>
                <a:latin typeface="Calibri" pitchFamily="34" charset="0"/>
                <a:ea typeface="Calibri" pitchFamily="34" charset="-122"/>
                <a:cs typeface="Calibri" pitchFamily="34" charset="-120"/>
              </a:rPr>
              <a:t>TESTED IN SIMULATION</a:t>
            </a:r>
            <a:endParaRPr lang="en-US" sz="1050" dirty="0"/>
          </a:p>
        </p:txBody>
      </p:sp>
      <p:sp>
        <p:nvSpPr>
          <p:cNvPr id="11" name="Text 8"/>
          <p:cNvSpPr txBox="1"/>
          <p:nvPr/>
        </p:nvSpPr>
        <p:spPr>
          <a:xfrm>
            <a:off x="3383280" y="5321808"/>
            <a:ext cx="8321040" cy="365760"/>
          </a:xfrm>
          <a:prstGeom prst="rect">
            <a:avLst/>
          </a:prstGeom>
          <a:noFill/>
          <a:ln/>
        </p:spPr>
        <p:txBody>
          <a:bodyPr wrap="square" lIns="635" tIns="635" rIns="635" bIns="635" rtlCol="0" anchor="t"/>
          <a:lstStyle/>
          <a:p>
            <a:pPr indent="0" marL="0">
              <a:buNone/>
            </a:pPr>
            <a:r>
              <a:rPr lang="en-US" sz="1350" dirty="0">
                <a:solidFill>
                  <a:srgbClr val="5B6670"/>
                </a:solidFill>
                <a:latin typeface="Calibri" pitchFamily="34" charset="0"/>
                <a:ea typeface="Calibri" pitchFamily="34" charset="-122"/>
                <a:cs typeface="Calibri" pitchFamily="34" charset="-120"/>
              </a:rPr>
              <a:t>in simulation, on 30 constructed two-van nights · not a policy recommendation</a:t>
            </a:r>
            <a:endParaRPr lang="en-US" sz="1350" dirty="0"/>
          </a:p>
        </p:txBody>
      </p:sp>
      <p:sp>
        <p:nvSpPr>
          <p:cNvPr id="12" name="Text 9"/>
          <p:cNvSpPr txBox="1"/>
          <p:nvPr/>
        </p:nvSpPr>
        <p:spPr>
          <a:xfrm>
            <a:off x="9692640" y="6400800"/>
            <a:ext cx="137160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29">
                  <a:extLst>
                    <a:ext uri="{A12FA001-AC4F-418D-AE19-62706E023703}">
                      <ahyp:hlinkClr xmlns:ahyp="http://schemas.microsoft.com/office/drawing/2018/hyperlinkcolor" val="tx"/>
                    </a:ext>
                  </a:extLst>
                </a:hlinkClick>
              </a:rPr>
              <a:t>Backups →</a:t>
            </a:r>
            <a:endParaRPr lang="en-US" sz="1000" dirty="0"/>
          </a:p>
        </p:txBody>
      </p:sp>
      <p:sp>
        <p:nvSpPr>
          <p:cNvPr id="13" name="Text 10"/>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this deck, slides 6–27.</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731520" y="2194560"/>
            <a:ext cx="10698480" cy="1097280"/>
          </a:xfrm>
          <a:prstGeom prst="rect">
            <a:avLst/>
          </a:prstGeom>
          <a:noFill/>
          <a:ln/>
        </p:spPr>
        <p:txBody>
          <a:bodyPr wrap="square" rtlCol="0"/>
          <a:lstStyle/>
          <a:p>
            <a:pPr indent="0" marL="0">
              <a:buNone/>
            </a:pPr>
            <a:r>
              <a:rPr lang="en-US" sz="3400" b="1" dirty="0">
                <a:solidFill>
                  <a:srgbClr val="1E2933"/>
                </a:solidFill>
              </a:rPr>
              <a:t>Backup slides</a:t>
            </a:r>
            <a:endParaRPr lang="en-US" sz="3400" dirty="0"/>
          </a:p>
        </p:txBody>
      </p:sp>
      <p:sp>
        <p:nvSpPr>
          <p:cNvPr id="3" name="Text 0"/>
          <p:cNvSpPr/>
          <p:nvPr>
            <p:ph idx="101" type="body" hasCustomPrompt="1"/>
          </p:nvPr>
        </p:nvSpPr>
        <p:spPr>
          <a:xfrm>
            <a:off x="731520" y="3383280"/>
            <a:ext cx="10698480" cy="2377440"/>
          </a:xfrm>
          <a:prstGeom prst="rect">
            <a:avLst/>
          </a:prstGeom>
          <a:noFill/>
          <a:ln/>
        </p:spPr>
        <p:txBody>
          <a:bodyPr wrap="square" rtlCol="0"/>
          <a:lstStyle/>
          <a:p>
            <a:pPr indent="0" marL="0">
              <a:buNone/>
            </a:pPr>
            <a:r>
              <a:rPr lang="en-US" sz="1600" dirty="0">
                <a:solidFill>
                  <a:srgbClr val="3A4750"/>
                </a:solidFill>
              </a:rPr>
              <a:t>B1 Code key · B2 Route-selection MILP · B3 Event order · B4 Where inputs come from · B5 Three postponement prices · B6 All metrics by rule · B7 Night by night · B8 Numerical diagnostics · B9 Corrected proposal claims</a:t>
            </a:r>
            <a:endParaRPr lang="en-US" sz="1600" dirty="0"/>
          </a:p>
        </p:txBody>
      </p:sp>
      <p:sp>
        <p:nvSpPr>
          <p:cNvPr id="4" name="Text 2"/>
          <p:cNvSpPr txBox="1"/>
          <p:nvPr/>
        </p:nvSpPr>
        <p:spPr>
          <a:xfrm>
            <a:off x="73152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1" action="ppaction://hlinksldjump" tooltip="Go to slide 30">
                  <a:extLst>
                    <a:ext uri="{A12FA001-AC4F-418D-AE19-62706E023703}">
                      <ahyp:hlinkClr xmlns:ahyp="http://schemas.microsoft.com/office/drawing/2018/hyperlinkcolor" val="tx"/>
                    </a:ext>
                  </a:extLst>
                </a:hlinkClick>
              </a:rPr>
              <a:t>B1</a:t>
            </a:r>
            <a:endParaRPr lang="en-US" sz="1400" dirty="0"/>
          </a:p>
        </p:txBody>
      </p:sp>
      <p:sp>
        <p:nvSpPr>
          <p:cNvPr id="5" name="Text 3"/>
          <p:cNvSpPr txBox="1"/>
          <p:nvPr/>
        </p:nvSpPr>
        <p:spPr>
          <a:xfrm>
            <a:off x="192024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2" action="ppaction://hlinksldjump" tooltip="Go to slide 31">
                  <a:extLst>
                    <a:ext uri="{A12FA001-AC4F-418D-AE19-62706E023703}">
                      <ahyp:hlinkClr xmlns:ahyp="http://schemas.microsoft.com/office/drawing/2018/hyperlinkcolor" val="tx"/>
                    </a:ext>
                  </a:extLst>
                </a:hlinkClick>
              </a:rPr>
              <a:t>B2</a:t>
            </a:r>
            <a:endParaRPr lang="en-US" sz="1400" dirty="0"/>
          </a:p>
        </p:txBody>
      </p:sp>
      <p:sp>
        <p:nvSpPr>
          <p:cNvPr id="6" name="Text 4"/>
          <p:cNvSpPr txBox="1"/>
          <p:nvPr/>
        </p:nvSpPr>
        <p:spPr>
          <a:xfrm>
            <a:off x="310896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3" action="ppaction://hlinksldjump" tooltip="Go to slide 32">
                  <a:extLst>
                    <a:ext uri="{A12FA001-AC4F-418D-AE19-62706E023703}">
                      <ahyp:hlinkClr xmlns:ahyp="http://schemas.microsoft.com/office/drawing/2018/hyperlinkcolor" val="tx"/>
                    </a:ext>
                  </a:extLst>
                </a:hlinkClick>
              </a:rPr>
              <a:t>B3</a:t>
            </a:r>
            <a:endParaRPr lang="en-US" sz="1400" dirty="0"/>
          </a:p>
        </p:txBody>
      </p:sp>
      <p:sp>
        <p:nvSpPr>
          <p:cNvPr id="7" name="Text 5"/>
          <p:cNvSpPr txBox="1"/>
          <p:nvPr/>
        </p:nvSpPr>
        <p:spPr>
          <a:xfrm>
            <a:off x="429768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4" action="ppaction://hlinksldjump" tooltip="Go to slide 33">
                  <a:extLst>
                    <a:ext uri="{A12FA001-AC4F-418D-AE19-62706E023703}">
                      <ahyp:hlinkClr xmlns:ahyp="http://schemas.microsoft.com/office/drawing/2018/hyperlinkcolor" val="tx"/>
                    </a:ext>
                  </a:extLst>
                </a:hlinkClick>
              </a:rPr>
              <a:t>B4</a:t>
            </a:r>
            <a:endParaRPr lang="en-US" sz="1400" dirty="0"/>
          </a:p>
        </p:txBody>
      </p:sp>
      <p:sp>
        <p:nvSpPr>
          <p:cNvPr id="8" name="Text 6"/>
          <p:cNvSpPr txBox="1"/>
          <p:nvPr/>
        </p:nvSpPr>
        <p:spPr>
          <a:xfrm>
            <a:off x="548640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5" action="ppaction://hlinksldjump" tooltip="Go to slide 34">
                  <a:extLst>
                    <a:ext uri="{A12FA001-AC4F-418D-AE19-62706E023703}">
                      <ahyp:hlinkClr xmlns:ahyp="http://schemas.microsoft.com/office/drawing/2018/hyperlinkcolor" val="tx"/>
                    </a:ext>
                  </a:extLst>
                </a:hlinkClick>
              </a:rPr>
              <a:t>B5</a:t>
            </a:r>
            <a:endParaRPr lang="en-US" sz="1400" dirty="0"/>
          </a:p>
        </p:txBody>
      </p:sp>
      <p:sp>
        <p:nvSpPr>
          <p:cNvPr id="9" name="Text 7"/>
          <p:cNvSpPr txBox="1"/>
          <p:nvPr/>
        </p:nvSpPr>
        <p:spPr>
          <a:xfrm>
            <a:off x="667512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6" action="ppaction://hlinksldjump" tooltip="Go to slide 35">
                  <a:extLst>
                    <a:ext uri="{A12FA001-AC4F-418D-AE19-62706E023703}">
                      <ahyp:hlinkClr xmlns:ahyp="http://schemas.microsoft.com/office/drawing/2018/hyperlinkcolor" val="tx"/>
                    </a:ext>
                  </a:extLst>
                </a:hlinkClick>
              </a:rPr>
              <a:t>B6</a:t>
            </a:r>
            <a:endParaRPr lang="en-US" sz="1400" dirty="0"/>
          </a:p>
        </p:txBody>
      </p:sp>
      <p:sp>
        <p:nvSpPr>
          <p:cNvPr id="10" name="Text 8"/>
          <p:cNvSpPr txBox="1"/>
          <p:nvPr/>
        </p:nvSpPr>
        <p:spPr>
          <a:xfrm>
            <a:off x="786384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7" action="ppaction://hlinksldjump" tooltip="Go to slide 36">
                  <a:extLst>
                    <a:ext uri="{A12FA001-AC4F-418D-AE19-62706E023703}">
                      <ahyp:hlinkClr xmlns:ahyp="http://schemas.microsoft.com/office/drawing/2018/hyperlinkcolor" val="tx"/>
                    </a:ext>
                  </a:extLst>
                </a:hlinkClick>
              </a:rPr>
              <a:t>B7</a:t>
            </a:r>
            <a:endParaRPr lang="en-US" sz="1400" dirty="0"/>
          </a:p>
        </p:txBody>
      </p:sp>
      <p:sp>
        <p:nvSpPr>
          <p:cNvPr id="11" name="Text 9"/>
          <p:cNvSpPr txBox="1"/>
          <p:nvPr/>
        </p:nvSpPr>
        <p:spPr>
          <a:xfrm>
            <a:off x="905256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8" action="ppaction://hlinksldjump" tooltip="Go to slide 37">
                  <a:extLst>
                    <a:ext uri="{A12FA001-AC4F-418D-AE19-62706E023703}">
                      <ahyp:hlinkClr xmlns:ahyp="http://schemas.microsoft.com/office/drawing/2018/hyperlinkcolor" val="tx"/>
                    </a:ext>
                  </a:extLst>
                </a:hlinkClick>
              </a:rPr>
              <a:t>B8</a:t>
            </a:r>
            <a:endParaRPr lang="en-US" sz="1400" dirty="0"/>
          </a:p>
        </p:txBody>
      </p:sp>
      <p:sp>
        <p:nvSpPr>
          <p:cNvPr id="12" name="Text 10"/>
          <p:cNvSpPr txBox="1"/>
          <p:nvPr/>
        </p:nvSpPr>
        <p:spPr>
          <a:xfrm>
            <a:off x="10241280" y="5760720"/>
            <a:ext cx="1005840" cy="320040"/>
          </a:xfrm>
          <a:prstGeom prst="rect">
            <a:avLst/>
          </a:prstGeom>
          <a:noFill/>
          <a:ln/>
        </p:spPr>
        <p:txBody>
          <a:bodyPr wrap="square" lIns="635" tIns="635" rIns="635" bIns="635" rtlCol="0" anchor="t"/>
          <a:lstStyle/>
          <a:p>
            <a:pPr indent="0" marL="0">
              <a:buNone/>
            </a:pPr>
            <a:r>
              <a:rPr lang="en-US" sz="1400" u="sng" dirty="0">
                <a:solidFill>
                  <a:srgbClr val="2A78D6"/>
                </a:solidFill>
                <a:latin typeface="Calibri" pitchFamily="34" charset="0"/>
                <a:ea typeface="Calibri" pitchFamily="34" charset="-122"/>
                <a:cs typeface="Calibri" pitchFamily="34" charset="-120"/>
                <a:hlinkClick r:id="rId9" action="ppaction://hlinksldjump" tooltip="Go to slide 38">
                  <a:extLst>
                    <a:ext uri="{A12FA001-AC4F-418D-AE19-62706E023703}">
                      <ahyp:hlinkClr xmlns:ahyp="http://schemas.microsoft.com/office/drawing/2018/hyperlinkcolor" val="tx"/>
                    </a:ext>
                  </a:extLst>
                </a:hlinkClick>
              </a:rPr>
              <a:t>B9</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B1  Code key (files and questions only)</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30</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17">
                  <a:extLst>
                    <a:ext uri="{A12FA001-AC4F-418D-AE19-62706E023703}">
                      <ahyp:hlinkClr xmlns:ahyp="http://schemas.microsoft.com/office/drawing/2018/hyperlinkcolor" val="tx"/>
                    </a:ext>
                  </a:extLst>
                </a:hlinkClick>
              </a:rPr>
              <a:t>← back to slide 17</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4572000"/>
                <a:gridCol w="667512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Said in the talk</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Code in files and logs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Vans only</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Wait ten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R1(10)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Wait fifteen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R1(15)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Unassigned for ten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R1u(10)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Predicted total wait exceeds fifteen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R2(15)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Lyft arrives sooner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R3(2)</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Small designed evenings with hand-computed answers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L1–L4 (L4: vans from 18:15, ordering lag 2 min, Lyft delay fixed 8 min, acceptance 0.9)</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The two-van pilot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L5: 30 constructed one-hour nights, 2 vans, 28 requests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The van optimizer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Dispatcher C: restricted route-selection MILP (HiGHS)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The adopted postponement price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Pending price A (earliest physical pickup)</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Lyft order; ordering lag</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“booking” and “booking lag” in files (D-43)</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6576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Numbered decisions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D-xx entries in docs/technical/decision_log.md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7" name="Text 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src/sim/lyft.py; scenario_spec.md §6, §8; decision log.</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B2  The route-selection MILP at one decision moment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31</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16">
                  <a:extLst>
                    <a:ext uri="{A12FA001-AC4F-418D-AE19-62706E023703}">
                      <ahyp:hlinkClr xmlns:ahyp="http://schemas.microsoft.com/office/drawing/2018/hyperlinkcolor" val="tx"/>
                    </a:ext>
                  </a:extLst>
                </a:hlinkClick>
              </a:rPr>
              <a:t>← back to slide 16</a:t>
            </a:r>
            <a:endParaRPr lang="en-US" sz="1000" dirty="0"/>
          </a:p>
        </p:txBody>
      </p:sp>
      <p:sp>
        <p:nvSpPr>
          <p:cNvPr id="6" name="Text 3"/>
          <p:cNvSpPr txBox="1"/>
          <p:nvPr/>
        </p:nvSpPr>
        <p:spPr>
          <a:xfrm>
            <a:off x="457200" y="1051560"/>
            <a:ext cx="11247120" cy="1554480"/>
          </a:xfrm>
          <a:prstGeom prst="rect">
            <a:avLst/>
          </a:prstGeom>
          <a:noFill/>
          <a:ln/>
        </p:spPr>
        <p:txBody>
          <a:bodyPr wrap="square" lIns="635" tIns="635" rIns="635" bIns="635" rtlCol="0" anchor="t"/>
          <a:lstStyle/>
          <a:p>
            <a:pPr indent="0" marL="0">
              <a:buNone/>
            </a:pPr>
            <a:r>
              <a:rPr lang="en-US" sz="1800" dirty="0">
                <a:solidFill>
                  <a:srgbClr val="1E2933"/>
                </a:solidFill>
                <a:latin typeface="Cambria" pitchFamily="34" charset="0"/>
                <a:ea typeface="Cambria" pitchFamily="34" charset="-122"/>
                <a:cs typeface="Cambria" pitchFamily="34" charset="-120"/>
              </a:rPr>
              <a:t>min  Σ_v Σ_k c_vk y_vk  +  Σ_r π_r u_r</a:t>
            </a:r>
            <a:endParaRPr lang="en-US" sz="1800" dirty="0"/>
          </a:p>
          <a:p>
            <a:pPr indent="0" marL="0">
              <a:buNone/>
            </a:pPr>
            <a:r>
              <a:rPr lang="en-US" sz="1800" dirty="0">
                <a:solidFill>
                  <a:srgbClr val="1E2933"/>
                </a:solidFill>
                <a:latin typeface="Cambria" pitchFamily="34" charset="0"/>
                <a:ea typeface="Cambria" pitchFamily="34" charset="-122"/>
                <a:cs typeface="Cambria" pitchFamily="34" charset="-120"/>
              </a:rPr>
              <a:t>s.t.  Σ_k y_vk = 1  for every van v        (one route per van)</a:t>
            </a:r>
            <a:endParaRPr lang="en-US" sz="1800" dirty="0"/>
          </a:p>
          <a:p>
            <a:pPr indent="0" marL="0">
              <a:buNone/>
            </a:pPr>
            <a:r>
              <a:rPr lang="en-US" sz="1800" dirty="0">
                <a:solidFill>
                  <a:srgbClr val="1E2933"/>
                </a:solidFill>
                <a:latin typeface="Cambria" pitchFamily="34" charset="0"/>
                <a:ea typeface="Cambria" pitchFamily="34" charset="-122"/>
                <a:cs typeface="Cambria" pitchFamily="34" charset="-120"/>
              </a:rPr>
              <a:t>        Σ_{v,k: r ∈ S_vk} y_vk + u_r = 1  for every waiting request r   (served once, or postponed)</a:t>
            </a:r>
            <a:endParaRPr lang="en-US" sz="1800" dirty="0"/>
          </a:p>
          <a:p>
            <a:pPr indent="0" marL="0">
              <a:buNone/>
            </a:pPr>
            <a:r>
              <a:rPr lang="en-US" sz="1800" dirty="0">
                <a:solidFill>
                  <a:srgbClr val="1E2933"/>
                </a:solidFill>
                <a:latin typeface="Cambria" pitchFamily="34" charset="0"/>
                <a:ea typeface="Cambria" pitchFamily="34" charset="-122"/>
                <a:cs typeface="Cambria" pitchFamily="34" charset="-120"/>
              </a:rPr>
              <a:t>        y, u ∈ {0, 1};   S_vk = requests picked up by candidate route k of van v</a:t>
            </a:r>
            <a:endParaRPr lang="en-US" sz="1800" dirty="0"/>
          </a:p>
        </p:txBody>
      </p:sp>
      <p:sp>
        <p:nvSpPr>
          <p:cNvPr id="7" name="Text 4"/>
          <p:cNvSpPr txBox="1"/>
          <p:nvPr/>
        </p:nvSpPr>
        <p:spPr>
          <a:xfrm>
            <a:off x="457200" y="2743200"/>
            <a:ext cx="11247120" cy="3474720"/>
          </a:xfrm>
          <a:prstGeom prst="rect">
            <a:avLst/>
          </a:prstGeom>
          <a:noFill/>
          <a:ln/>
        </p:spPr>
        <p:txBody>
          <a:bodyPr wrap="square" lIns="635" tIns="635" rIns="635" bIns="635" rtlCol="0" anchor="t"/>
          <a:lstStyle/>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c_vk: route points (waiting φ with slopes 1/2.5/5/10/20 per passenger-minute after 0/5/10/15/20 min; riding 0.5 per passenger-minute; 0.1 per km; Ψ only for unavoidable existing guardrail excess); exact integers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Candidates: every subset of at most 3 waiting requests per van, each in its best stop order (exact search); the van's committed work is always a candidate</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π_r = b_r + M; b_r from the adopted postponement price; M = 1 + Σ_v (max_k c_vk − min_k c_vk) + Σ_r b_r: every proven-optimal solution postpones the fewest requests the candidates allow</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Ride-time guardrail max(25, 2 × direct + 5) min: no candidate may create or worsen an excess</a:t>
            </a:r>
            <a:endParaRPr lang="en-US" sz="1400" dirty="0"/>
          </a:p>
          <a:p>
            <a:pPr marL="342900" indent="-342900">
              <a:spcAft>
                <a:spcPts val="500"/>
              </a:spcAft>
              <a:buSzPct val="100000"/>
              <a:buChar char="•"/>
            </a:pPr>
            <a:r>
              <a:rPr lang="en-US" sz="1400" dirty="0">
                <a:solidFill>
                  <a:srgbClr val="1E2933"/>
                </a:solidFill>
                <a:latin typeface="Calibri" pitchFamily="34" charset="0"/>
                <a:ea typeface="Calibri" pitchFamily="34" charset="-122"/>
                <a:cs typeface="Calibri" pitchFamily="34" charset="-120"/>
              </a:rPr>
              <a:t>HiGHS: relative gap 0, absolute gap 0.5 units; ties broken by a fixed canonical order; a failed solve is logged, never replaced by a heuristic</a:t>
            </a:r>
            <a:endParaRPr lang="en-US" sz="1400" dirty="0"/>
          </a:p>
        </p:txBody>
      </p:sp>
      <p:sp>
        <p:nvSpPr>
          <p:cNvPr id="8" name="Text 5"/>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model_design.md v0.5 §3; decision log D-47, D-52 (amendments), D-53.</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B3  Event order and a request's life</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32</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14">
                  <a:extLst>
                    <a:ext uri="{A12FA001-AC4F-418D-AE19-62706E023703}">
                      <ahyp:hlinkClr xmlns:ahyp="http://schemas.microsoft.com/office/drawing/2018/hyperlinkcolor" val="tx"/>
                    </a:ext>
                  </a:extLst>
                </a:hlinkClick>
              </a:rPr>
              <a:t>← back to slide 14</a:t>
            </a:r>
            <a:endParaRPr lang="en-US" sz="1000" dirty="0"/>
          </a:p>
        </p:txBody>
      </p:sp>
      <p:sp>
        <p:nvSpPr>
          <p:cNvPr id="6" name="Text 3"/>
          <p:cNvSpPr txBox="1"/>
          <p:nvPr/>
        </p:nvSpPr>
        <p:spPr>
          <a:xfrm>
            <a:off x="457200" y="1097280"/>
            <a:ext cx="11247120" cy="5120640"/>
          </a:xfrm>
          <a:prstGeom prst="rect">
            <a:avLst/>
          </a:prstGeom>
          <a:noFill/>
          <a:ln/>
        </p:spPr>
        <p:txBody>
          <a:bodyPr wrap="square" lIns="635" tIns="635" rIns="635" bIns="635" rtlCol="0" anchor="t"/>
          <a:lstStyle/>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Same-second order: drop-offs → curb arrivals (stop the patience clock) → service ends → vans on/off duty → new requests → patience checks → Lyft orders → decision moment → departures</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Decision-moment triggers in the code: new request; cancellation or no-show while waiting for a van; van coming on duty; the 2-minute tick (van going off duty does not trigger one; Lyft events never do)</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A van commits to a stop when it departs toward it; a committed request is not eligible for transfer</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After a transfer: a 2-min ordering lag, then the rider's hidden Lyft delay; the rider may cancel at any point before the Lyft reaches the curb</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During an absent rider's 3-min curb wait, planning assumes possible boarding at expiry; the simulator never boards an absent rider</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Presence is one draw per rider, used whichever vehicle arrives; planning takes zero simulated time</a:t>
            </a:r>
            <a:endParaRPr lang="en-US" sz="1500" dirty="0"/>
          </a:p>
        </p:txBody>
      </p:sp>
      <p:sp>
        <p:nvSpPr>
          <p:cNvPr id="7"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src/sim/engine.py; scenario_spec.md v0.8 §17; decision log D-46, D-48, D-54.</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B4  Where each input comes from</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33</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13">
                  <a:extLst>
                    <a:ext uri="{A12FA001-AC4F-418D-AE19-62706E023703}">
                      <ahyp:hlinkClr xmlns:ahyp="http://schemas.microsoft.com/office/drawing/2018/hyperlinkcolor" val="tx"/>
                    </a:ext>
                  </a:extLst>
                </a:hlinkClick>
              </a:rPr>
              <a:t>← back to slide 13</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1828800"/>
                <a:gridCol w="2103120"/>
                <a:gridCol w="5486400"/>
                <a:gridCol w="1828800"/>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Input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Basis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Requests per hour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DERIVED + ASSUMED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64 / 50 / 54 for five vans (planned); pilot: 28 in one hour, two vans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D-35, D-36, D-56</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Trip pairing</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ASSUMED + fitted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Distance prior, rate 0.1 per min, balanced to both map totals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D-18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Party size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ASSUMED (mean derived)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Shares 1–5: .73/.18/.055/.025/.01; April 1.386 van passengers per completed van request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D-38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Patience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ASSUMED placeholder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Weibull, shape 1.5, median 18 min (scale ≈ 23.0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D-39</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No-show</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DERIVED, conditional</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8.9% per vehicle arrival if the status mapping holds (4.7% of all requests)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D-40, D-48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Lyft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ASSUMED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Ordering lag 2 min; delay lognormal, median 8 min, 90th percentile 15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D-43</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Travel times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DERIVED; × 1.2 ASSUMED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Local OSRM routing on OpenStreetMap; van times × 1.2 in the pilot (placeholder)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D-31, D-47</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decision log D-18–D-56; methodology v1.5 §4.</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B5  Three postponement prices compared</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34</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19">
                  <a:extLst>
                    <a:ext uri="{A12FA001-AC4F-418D-AE19-62706E023703}">
                      <ahyp:hlinkClr xmlns:ahyp="http://schemas.microsoft.com/office/drawing/2018/hyperlinkcolor" val="tx"/>
                    </a:ext>
                  </a:extLst>
                </a:hlinkClick>
              </a:rPr>
              <a:t>← back to slide 19</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2743200"/>
                <a:gridCol w="2560320"/>
                <a:gridCol w="3200400"/>
                <a:gridCol w="2743200"/>
              </a:tblGrid>
              <a:tr h="475488">
                <a:tc>
                  <a:txBody>
                    <a:bodyPr/>
                    <a:lstStyle/>
                    <a:p>
                      <a:pPr indent="0" marL="0">
                        <a:buNone/>
                      </a:pP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First version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Adopted (earliest physical pickup)</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Route-based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Price of postponing a request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 if served at the next 2-min re-plan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 if served at the earliest time any on-duty van can reach it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as if served after a chosen van's route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Wait median / 90th pct / worst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17.1 / 31.0 / 44.4</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18.6 / 31.2 / 35.6</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21.1 / 34.3 / 38.6</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Mean wait (min)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18.8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21.8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Party of five from slide 19: wait</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22 min 18 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19 min 28 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20 min 39 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Extra variables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up to 9,828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Total MILP solve time on this evening (s)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4.8</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Direction of error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optimistic</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optimistic (ignores the van's other work)</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either direction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7" name="Text 3"/>
          <p:cNvSpPr txBox="1"/>
          <p:nvPr/>
        </p:nvSpPr>
        <p:spPr>
          <a:xfrm>
            <a:off x="457200" y="5120640"/>
            <a:ext cx="11247120" cy="8229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Designed evening, vans only, one run per formulation. Adopted for its meaning and no added variables, provisionally; computing the earliest pickups is extra work per decision, not separately timed. None guarantees a feasible schedule for all waiting riders.</a:t>
            </a:r>
            <a:endParaRPr lang="en-US" sz="1300" dirty="0"/>
          </a:p>
        </p:txBody>
      </p:sp>
      <p:sp>
        <p:nvSpPr>
          <p:cNvPr id="8"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outputs/sim/d53_experiment; decision log D-53; review d53_pending_price_review (22 Oct).</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B6  All six rules over 30 constructed nights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35</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22">
                  <a:extLst>
                    <a:ext uri="{A12FA001-AC4F-418D-AE19-62706E023703}">
                      <ahyp:hlinkClr xmlns:ahyp="http://schemas.microsoft.com/office/drawing/2018/hyperlinkcolor" val="tx"/>
                    </a:ext>
                  </a:extLst>
                </a:hlinkClick>
              </a:rPr>
              <a:t>← back to slide 22</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11247120" cy="914400"/>
        </p:xfrm>
        <a:graphic>
          <a:graphicData uri="http://schemas.openxmlformats.org/drawingml/2006/table">
            <a:tbl>
              <a:tblPr/>
              <a:tblGrid>
                <a:gridCol w="2743200"/>
                <a:gridCol w="1417320"/>
                <a:gridCol w="1417320"/>
                <a:gridCol w="1417320"/>
                <a:gridCol w="1417320"/>
                <a:gridCol w="1417320"/>
                <a:gridCol w="141732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Per night</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Vans only</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Wait ten minutes</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Wait fifteen minutes</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Unassigned for ten minutes</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Predicted total wait exceeds fifteen minutes</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Lyft arrives sooner</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Reached within 15 min (share of 28)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0.48 (0.09)</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0.51 (0.08)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0.50 (0.09)</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0.48 (0.10)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0.73 (0.07)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0.75 (0.08)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Requests picked up (of 28)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16.1 (2.4)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17.2 (2.6)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16.5 (2.6)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16.2 (2.5)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20.2 (2.0)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20.4 (2.3)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Wait median, min (per request picked up)</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8.6 (1.8)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8.3 (1.6)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8.4 (1.5)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8.9 (2.1)</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7.5 (1.0)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7.3 (1.0)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Wait 90th pct, min (per request picked up)</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20.2 (5.3)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18.1 (2.4)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19.6 (4.0)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20.2 (4.6)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13.3 (1.5)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12.2 (1.7)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Wait 90th pct, min (per passenger picked up)</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20.1 (5.8)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17.4 (2.7)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19.2 (4.8)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19.6 (4.7)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13.2 (2.3)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12.7 (2.7)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Van completed</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16.1 (2.4)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14.1 (2.3)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14.6 (2.4)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16.1 (2.5)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14.0 (2.7)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13.3 (2.6)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Lyft completed</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0.0 (0.0)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3.1 (1.4)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1.8 (1.2)</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0.1 (0.3)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6.2 (1.9)</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7.0 (1.6)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Cancelled waiting for van</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10.8 (2.3)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6.5 (2.3)</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8.9 (2.5)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10.5 (2.4)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3.3 (1.7)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2.6 (1.5)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Cancelled after transfer</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0.0 (0.0)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3.2 (1.8)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1.5 (1.0)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0.1 (0.4)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3.1 (1.5)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3.5 (1.5)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Lyft orders</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0.0 (0.0)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5.9 (1.6)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3.1 (1.4)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0.2 (0.5)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9.3 (2.5)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10.5 (1.9)</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Van-km</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51.2 (4.4)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47.6 (5.5)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48.6 (5.0)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51.9 (4.8)</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45.7 (5.7)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43.0 (4.0)</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310896">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Run time, s</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43 (46)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40 (44)</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49 (57)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50 (56)</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5 (7)</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050" dirty="0">
                          <a:solidFill>
                            <a:srgbClr val="1E2933"/>
                          </a:solidFill>
                          <a:latin typeface="Calibri" pitchFamily="34" charset="0"/>
                          <a:ea typeface="Calibri" pitchFamily="34" charset="-122"/>
                          <a:cs typeface="Calibri" pitchFamily="34" charset="-120"/>
                        </a:rPr>
                        <a:t>4 (5)</a:t>
                      </a:r>
                      <a:endParaRPr lang="en-US" sz="105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7" name="Text 3"/>
          <p:cNvSpPr txBox="1"/>
          <p:nvPr/>
        </p:nvSpPr>
        <p:spPr>
          <a:xfrm>
            <a:off x="457200" y="5897880"/>
            <a:ext cx="11247120" cy="365760"/>
          </a:xfrm>
          <a:prstGeom prst="rect">
            <a:avLst/>
          </a:prstGeom>
          <a:noFill/>
          <a:ln/>
        </p:spPr>
        <p:txBody>
          <a:bodyPr wrap="square" lIns="635" tIns="635" rIns="635" bIns="635" rtlCol="0" anchor="t"/>
          <a:lstStyle/>
          <a:p>
            <a:pPr indent="0" marL="0">
              <a:buNone/>
            </a:pPr>
            <a:r>
              <a:rPr lang="en-US" sz="1150" dirty="0">
                <a:solidFill>
                  <a:srgbClr val="5B6670"/>
                </a:solidFill>
                <a:latin typeface="Calibri" pitchFamily="34" charset="0"/>
                <a:ea typeface="Calibri" pitchFamily="34" charset="-122"/>
                <a:cs typeface="Calibri" pitchFamily="34" charset="-120"/>
              </a:rPr>
              <a:t>Cells: mean of nightly values (standard deviation across nights). Waits cover only requests picked up. 30 nights replayed six ways, not 180 independent nights.</a:t>
            </a:r>
            <a:endParaRPr lang="en-US" sz="1150" dirty="0"/>
          </a:p>
        </p:txBody>
      </p:sp>
      <p:sp>
        <p:nvSpPr>
          <p:cNvPr id="8"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outputs/sim/batch_L5_v1 (per_night_metrics.csv), via make_numbers.py.</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B7  Trade-off night by night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36</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24">
                  <a:extLst>
                    <a:ext uri="{A12FA001-AC4F-418D-AE19-62706E023703}">
                      <ahyp:hlinkClr xmlns:ahyp="http://schemas.microsoft.com/office/drawing/2018/hyperlinkcolor" val="tx"/>
                    </a:ext>
                  </a:extLst>
                </a:hlinkClick>
              </a:rPr>
              <a:t>← back to slide 24</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3291840"/>
                <a:gridCol w="1371600"/>
                <a:gridCol w="1554480"/>
                <a:gridCol w="1645920"/>
                <a:gridCol w="1645920"/>
                <a:gridCol w="17373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Reached (mean)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Lyft orders (mean)</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Nights not dominated</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Nights identical to vans only</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Nights reach above / below vans only</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45720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Vans only</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0.477</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0.00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30 of 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 / 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5720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Wait ten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0.514</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5.93</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11 of 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19 / 6</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5720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Wait fifteen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0.495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3.10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14 of 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15 / 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5720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Unassigned for ten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0.476</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0.23</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26 of 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24</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 / 2</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5720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Predicted total wait exceeds fifteen minutes</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0.735</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9.33</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24 of 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30 / 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57200">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Lyft arrives sooner</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0.750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10.47</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12 of 30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300" dirty="0">
                          <a:solidFill>
                            <a:srgbClr val="1E2933"/>
                          </a:solidFill>
                          <a:latin typeface="Calibri" pitchFamily="34" charset="0"/>
                          <a:ea typeface="Calibri" pitchFamily="34" charset="-122"/>
                          <a:cs typeface="Calibri" pitchFamily="34" charset="-120"/>
                        </a:rPr>
                        <a:t>30 / 0</a:t>
                      </a:r>
                      <a:endParaRPr lang="en-US" sz="13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7" name="Text 3"/>
          <p:cNvSpPr txBox="1"/>
          <p:nvPr/>
        </p:nvSpPr>
        <p:spPr>
          <a:xfrm>
            <a:off x="457200" y="4526280"/>
            <a:ext cx="11247120" cy="8229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Ties: a rule that makes no transfer on a night replays vans only exactly; identical results do not dominate each other, so both count as not dominated. Above / below counts are paired comparisons on the same constructed night, with no intervals yet.</a:t>
            </a:r>
            <a:endParaRPr lang="en-US" sz="1300" dirty="0"/>
          </a:p>
        </p:txBody>
      </p:sp>
      <p:sp>
        <p:nvSpPr>
          <p:cNvPr id="8"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outputs/sim/batch_L5_v1/tradeoff.md.</a:t>
            </a:r>
            <a:endParaRPr lang="en-US" sz="9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B8  Numerical diagnostics (two-van pilot)</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37</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21">
                  <a:extLst>
                    <a:ext uri="{A12FA001-AC4F-418D-AE19-62706E023703}">
                      <ahyp:hlinkClr xmlns:ahyp="http://schemas.microsoft.com/office/drawing/2018/hyperlinkcolor" val="tx"/>
                    </a:ext>
                  </a:extLst>
                </a:hlinkClick>
              </a:rPr>
              <a:t>← back to slide 21</a:t>
            </a:r>
            <a:endParaRPr lang="en-US" sz="1000" dirty="0"/>
          </a:p>
        </p:txBody>
      </p:sp>
      <p:sp>
        <p:nvSpPr>
          <p:cNvPr id="6" name="Text 3"/>
          <p:cNvSpPr txBox="1"/>
          <p:nvPr/>
        </p:nvSpPr>
        <p:spPr>
          <a:xfrm>
            <a:off x="457200" y="1097280"/>
            <a:ext cx="11247120" cy="5029200"/>
          </a:xfrm>
          <a:prstGeom prst="rect">
            <a:avLst/>
          </a:prstGeom>
          <a:noFill/>
          <a:ln/>
        </p:spPr>
        <p:txBody>
          <a:bodyPr wrap="square" lIns="635" tIns="635" rIns="635" bIns="635" rtlCol="0" anchor="t"/>
          <a:lstStyle/>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180 runs = 30 constructed nights × 6 rules; every run passed every per-run check; one code version for all runs</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13,663 decision moments (epochs); the main solve was proven optimal over its candidates in all of them</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41 decision moments had an incomplete search for equally good plans (a solver error); in all 41, full enumeration shows a unique optimum, which is the plan chosen</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36 ride-time excess events across the 180 runs (16 distinct requests on 10 nights, repeated across rules); each coincided with a no-show wait on that van while the rider was aboard (attribution check, not proof); 0 unexplained</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Run time per run: mean 32 s, longest 253 s (Python, one core per run)</a:t>
            </a:r>
            <a:endParaRPr lang="en-US" sz="1500" dirty="0"/>
          </a:p>
          <a:p>
            <a:pPr marL="342900" indent="-342900">
              <a:spcAft>
                <a:spcPts val="500"/>
              </a:spcAft>
              <a:buSzPct val="100000"/>
              <a:buChar char="•"/>
            </a:pPr>
            <a:r>
              <a:rPr lang="en-US" sz="1500" dirty="0">
                <a:solidFill>
                  <a:srgbClr val="1E2933"/>
                </a:solidFill>
                <a:latin typeface="Calibri" pitchFamily="34" charset="0"/>
                <a:ea typeface="Calibri" pitchFamily="34" charset="-122"/>
                <a:cs typeface="Calibri" pitchFamily="34" charset="-120"/>
              </a:rPr>
              <a:t>Reproducibility: 6 of 6 sampled reruns byte-identical; the 2 first-night batch runs identical to the earlier pilot outputs</a:t>
            </a:r>
            <a:endParaRPr lang="en-US" sz="1500" dirty="0"/>
          </a:p>
        </p:txBody>
      </p:sp>
      <p:sp>
        <p:nvSpPr>
          <p:cNvPr id="7"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outputs/sim/batch_L5_v1 (summary.md, tie_incomplete_check.csv, reproducibility.json); decision log D-52 am. 5, D-57.</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11247120" cy="731520"/>
          </a:xfrm>
          <a:prstGeom prst="rect">
            <a:avLst/>
          </a:prstGeom>
          <a:noFill/>
          <a:ln/>
        </p:spPr>
        <p:txBody>
          <a:bodyPr wrap="square" rtlCol="0" anchor="ctr"/>
          <a:lstStyle/>
          <a:p>
            <a:pPr algn="l" indent="0" marL="0">
              <a:buNone/>
            </a:pPr>
            <a:r>
              <a:rPr lang="en-US" sz="2800" b="1" dirty="0">
                <a:solidFill>
                  <a:srgbClr val="1E2933"/>
                </a:solidFill>
              </a:rPr>
              <a:t>B9  Corrected proposal claims</a:t>
            </a:r>
            <a:endParaRPr lang="en-US" sz="2800" dirty="0"/>
          </a:p>
        </p:txBody>
      </p:sp>
      <p:sp>
        <p:nvSpPr>
          <p:cNvPr id="3" name="Text 1"/>
          <p:cNvSpPr txBox="1"/>
          <p:nvPr/>
        </p:nvSpPr>
        <p:spPr>
          <a:xfrm>
            <a:off x="11201400" y="6419088"/>
            <a:ext cx="548640" cy="237744"/>
          </a:xfrm>
          <a:prstGeom prst="rect">
            <a:avLst/>
          </a:prstGeom>
          <a:noFill/>
          <a:ln/>
        </p:spPr>
        <p:txBody>
          <a:bodyPr wrap="square" lIns="0" tIns="0" rIns="0" bIns="0" rtlCol="0" anchor="ctr"/>
          <a:lstStyle/>
          <a:p>
            <a:pPr algn="r" indent="0" marL="0">
              <a:buNone/>
            </a:pPr>
            <a:r>
              <a:rPr lang="en-US" sz="1000" dirty="0">
                <a:solidFill>
                  <a:srgbClr val="8A939B"/>
                </a:solidFill>
                <a:latin typeface="Calibri" pitchFamily="34" charset="0"/>
                <a:ea typeface="Calibri" pitchFamily="34" charset="-122"/>
                <a:cs typeface="Calibri" pitchFamily="34" charset="-120"/>
              </a:rPr>
              <a:t>38</a:t>
            </a:r>
            <a:endParaRPr lang="en-US" sz="1000" dirty="0"/>
          </a:p>
        </p:txBody>
      </p:sp>
      <p:sp>
        <p:nvSpPr>
          <p:cNvPr id="5" name="Text 2"/>
          <p:cNvSpPr txBox="1"/>
          <p:nvPr/>
        </p:nvSpPr>
        <p:spPr>
          <a:xfrm>
            <a:off x="9601200" y="6400800"/>
            <a:ext cx="1554480" cy="256032"/>
          </a:xfrm>
          <a:prstGeom prst="rect">
            <a:avLst/>
          </a:prstGeom>
          <a:noFill/>
          <a:ln/>
        </p:spPr>
        <p:txBody>
          <a:bodyPr wrap="square" lIns="635" tIns="635" rIns="635" bIns="635" rtlCol="0" anchor="t"/>
          <a:lstStyle/>
          <a:p>
            <a:pPr indent="0" marL="0">
              <a:buNone/>
            </a:pPr>
            <a:r>
              <a:rPr lang="en-US" sz="1000" u="sng" dirty="0">
                <a:solidFill>
                  <a:srgbClr val="2A78D6"/>
                </a:solidFill>
                <a:latin typeface="Calibri" pitchFamily="34" charset="0"/>
                <a:ea typeface="Calibri" pitchFamily="34" charset="-122"/>
                <a:cs typeface="Calibri" pitchFamily="34" charset="-120"/>
                <a:hlinkClick r:id="rId1" action="ppaction://hlinksldjump" tooltip="Go to slide 4">
                  <a:extLst>
                    <a:ext uri="{A12FA001-AC4F-418D-AE19-62706E023703}">
                      <ahyp:hlinkClr xmlns:ahyp="http://schemas.microsoft.com/office/drawing/2018/hyperlinkcolor" val="tx"/>
                    </a:ext>
                  </a:extLst>
                </a:hlinkClick>
              </a:rPr>
              <a:t>← back to slide 4</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3017520"/>
                <a:gridCol w="3657600"/>
                <a:gridCol w="45720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Proposal said</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Corrected</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Why</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solidFill>
                      <a:srgbClr val="1E2933"/>
                    </a:solidFill>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About 5,100 rides per hour at 6 pm</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 170 completed rides in one evening's 6 pm hour</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The bar is a 30-day total (tooltip 5,098; digitized 5,089)</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About 28 vans in service</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27.6 vehicles on duty at 6 pm, “All services” average</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Not a Homewood-only count</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7 pm bar: 4,900</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3,957 (digitized 30-day total)</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Proposal chart value differs from our digitized reading</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~1 in 4 trips overflow to Lyft</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24.5% of 44,374 riders rode Lyft</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A share of riders, not of trips or requests</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Trip-level extracts coming</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Constructed evenings from aggregate dashboards</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The extracts did not arrive</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Compare dispatch methods</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Hold one specified dispatcher fixed; vary the transfer rule</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Scope choice: isolate one controllable decision</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Lyft as paid overflow inside the optimizer</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A separate, explicit transfer rule; no money modelled</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A dispatcher sends the Lyft; cost per Lyft trip unknown (D-45)</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r h="475488">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Targets as hard constraints (20/25 min)</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Reporting thresholds plus a ride-time guardrail</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c>
                  <a:txBody>
                    <a:bodyPr/>
                    <a:lstStyle/>
                    <a:p>
                      <a:pPr indent="0" marL="0">
                        <a:buNone/>
                      </a:pPr>
                      <a:r>
                        <a:rPr lang="en-US" sz="1200" dirty="0">
                          <a:solidFill>
                            <a:srgbClr val="1E2933"/>
                          </a:solidFill>
                          <a:latin typeface="Calibri" pitchFamily="34" charset="0"/>
                          <a:ea typeface="Calibri" pitchFamily="34" charset="-122"/>
                          <a:cs typeface="Calibri" pitchFamily="34" charset="-120"/>
                        </a:rPr>
                        <a:t>Target wording changed over time (15/20/20 around April; 20/25/25 on the 21 Oct page) (D-49)</a:t>
                      </a:r>
                      <a:endParaRPr lang="en-US" sz="1200" dirty="0">
                        <a:latin typeface="Calibri" charset="0"/>
                        <a:ea typeface="Calibri" charset="0"/>
                        <a:cs typeface="Calibri" charset="0"/>
                      </a:endParaRPr>
                    </a:p>
                  </a:txBody>
                  <a:tcPr marL="91440" marR="91440" marT="45720" marB="45720">
                    <a:lnL w="9525" cap="flat" cmpd="sng" algn="ctr">
                      <a:solidFill>
                        <a:srgbClr val="D5DADF"/>
                      </a:solidFill>
                      <a:prstDash val="solid"/>
                      <a:round/>
                      <a:headEnd type="none" w="med" len="med"/>
                      <a:tailEnd type="none" w="med" len="med"/>
                    </a:lnL>
                    <a:lnR w="9525" cap="flat" cmpd="sng" algn="ctr">
                      <a:solidFill>
                        <a:srgbClr val="D5DADF"/>
                      </a:solidFill>
                      <a:prstDash val="solid"/>
                      <a:round/>
                      <a:headEnd type="none" w="med" len="med"/>
                      <a:tailEnd type="none" w="med" len="med"/>
                    </a:lnR>
                    <a:lnT w="9525" cap="flat" cmpd="sng" algn="ctr">
                      <a:solidFill>
                        <a:srgbClr val="D5DADF"/>
                      </a:solidFill>
                      <a:prstDash val="solid"/>
                      <a:round/>
                      <a:headEnd type="none" w="med" len="med"/>
                      <a:tailEnd type="none" w="med" len="med"/>
                    </a:lnT>
                    <a:lnB w="9525" cap="flat" cmpd="sng" algn="ctr">
                      <a:solidFill>
                        <a:srgbClr val="D5DADF"/>
                      </a:solidFill>
                      <a:prstDash val="solid"/>
                      <a:round/>
                      <a:headEnd type="none" w="med" len="med"/>
                      <a:tailEnd type="none" w="med" len="med"/>
                    </a:lnB>
                  </a:tcPr>
                </a:tc>
              </a:tr>
            </a:tbl>
          </a:graphicData>
        </a:graphic>
      </p:graphicFrame>
      <p:sp>
        <p:nvSpPr>
          <p:cNvPr id="7" name="Text 3"/>
          <p:cNvSpPr txBox="1"/>
          <p:nvPr/>
        </p:nvSpPr>
        <p:spPr>
          <a:xfrm>
            <a:off x="457200" y="5577840"/>
            <a:ext cx="11247120" cy="365760"/>
          </a:xfrm>
          <a:prstGeom prst="rect">
            <a:avLst/>
          </a:prstGeom>
          <a:noFill/>
          <a:ln/>
        </p:spPr>
        <p:txBody>
          <a:bodyPr wrap="square" lIns="635" tIns="635" rIns="635" bIns="635" rtlCol="0" anchor="t"/>
          <a:lstStyle/>
          <a:p>
            <a:pPr indent="0" marL="0">
              <a:buNone/>
            </a:pPr>
            <a:r>
              <a:rPr lang="en-US" sz="1300" dirty="0">
                <a:solidFill>
                  <a:srgbClr val="5B6670"/>
                </a:solidFill>
                <a:latin typeface="Calibri" pitchFamily="34" charset="0"/>
                <a:ea typeface="Calibri" pitchFamily="34" charset="-122"/>
                <a:cs typeface="Calibri" pitchFamily="34" charset="-120"/>
              </a:rPr>
              <a:t>The September proposal deck is unchanged; these corrections are recorded in methodology v1.5 §1a.</a:t>
            </a:r>
            <a:endParaRPr lang="en-US" sz="1300" dirty="0"/>
          </a:p>
        </p:txBody>
      </p:sp>
      <p:sp>
        <p:nvSpPr>
          <p:cNvPr id="8" name="Text 4"/>
          <p:cNvSpPr txBox="1"/>
          <p:nvPr/>
        </p:nvSpPr>
        <p:spPr>
          <a:xfrm>
            <a:off x="457200" y="6400800"/>
            <a:ext cx="9692640" cy="274320"/>
          </a:xfrm>
          <a:prstGeom prst="rect">
            <a:avLst/>
          </a:prstGeom>
          <a:noFill/>
          <a:ln/>
        </p:spPr>
        <p:txBody>
          <a:bodyPr wrap="square" lIns="635" tIns="635" rIns="635" bIns="635" rtlCol="0" anchor="ctr"/>
          <a:lstStyle/>
          <a:p>
            <a:pPr indent="0" marL="0">
              <a:buNone/>
            </a:pPr>
            <a:r>
              <a:rPr lang="en-US" sz="950" dirty="0">
                <a:solidFill>
                  <a:srgbClr val="8A939B"/>
                </a:solidFill>
                <a:latin typeface="Calibri" pitchFamily="34" charset="0"/>
                <a:ea typeface="Calibri" pitchFamily="34" charset="-122"/>
                <a:cs typeface="Calibri" pitchFamily="34" charset="-120"/>
              </a:rPr>
              <a:t>Source: methodology v1.5 §1a; decision log D-25, D-35, D-36, D-45, D-47, D-49, D-51.</a:t>
            </a:r>
            <a:endParaRPr lang="en-US" sz="950" dirty="0"/>
          </a:p>
        </p:txBody>
      </p:sp>
    </p:spTree>
  </p:cSld>
  <p:clrMapOvr>
    <a:masterClrMapping/>
  </p:clrMapOvr>
</p:sld>
</file>

<file path=ppt/theme/theme1.xml><?xml version="1.0" encoding="utf-8"?>
<a:theme xmlns:a="http://schemas.openxmlformats.org/drawingml/2006/main" name="Night Ride Plain">
  <a:themeElements>
    <a:clrScheme name="Night Ride Plain">
      <a:dk1>
        <a:srgbClr val="1E2933"/>
      </a:dk1>
      <a:lt1>
        <a:srgbClr val="FFFFFF"/>
      </a:lt1>
      <a:dk2>
        <a:srgbClr val="3A4750"/>
      </a:dk2>
      <a:lt2>
        <a:srgbClr val="EEF1F4"/>
      </a:lt2>
      <a:accent1>
        <a:srgbClr val="2A78D6"/>
      </a:accent1>
      <a:accent2>
        <a:srgbClr val="EB6834"/>
      </a:accent2>
      <a:accent3>
        <a:srgbClr val="1BAF7A"/>
      </a:accent3>
      <a:accent4>
        <a:srgbClr val="EDA100"/>
      </a:accent4>
      <a:accent5>
        <a:srgbClr val="E87BA4"/>
      </a:accent5>
      <a:accent6>
        <a:srgbClr val="6250D6"/>
      </a:accent6>
      <a:hlink>
        <a:srgbClr val="2A78D6"/>
      </a:hlink>
      <a:folHlink>
        <a:srgbClr val="6250D6"/>
      </a:folHlink>
    </a:clrScheme>
    <a:fontScheme name="Night Ride Pla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Johns Hopkins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should Night Ride move a waiting request to Lyft? (content draft v0.4)</dc:title>
  <dc:subject>PptxGenJS Presentation</dc:subject>
  <dc:creator>Team FourSight</dc:creator>
  <cp:lastModifiedBy>Team FourSight</cp:lastModifiedBy>
  <cp:revision>1</cp:revision>
  <dcterms:created xsi:type="dcterms:W3CDTF">2026-10-23T05:49:23Z</dcterms:created>
  <dcterms:modified xsi:type="dcterms:W3CDTF">2026-10-23T05:49:23Z</dcterms:modified>
</cp:coreProperties>
</file>