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Rides</c:v>
                </c:pt>
              </c:strCache>
            </c:strRef>
          </c:tx>
          <c:spPr>
            <a:solidFill>
              <a:srgbClr val="F5A623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5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E6BE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6p</c:v>
                  </c:pt>
                  <c:pt idx="1">
                    <c:v>7p</c:v>
                  </c:pt>
                  <c:pt idx="2">
                    <c:v>8p</c:v>
                  </c:pt>
                  <c:pt idx="3">
                    <c:v>9p</c:v>
                  </c:pt>
                  <c:pt idx="4">
                    <c:v>10p</c:v>
                  </c:pt>
                  <c:pt idx="5">
                    <c:v>11p</c:v>
                  </c:pt>
                  <c:pt idx="6">
                    <c:v>12a</c:v>
                  </c:pt>
                  <c:pt idx="7">
                    <c:v>1a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5098</c:v>
                </c:pt>
                <c:pt idx="1">
                  <c:v>4900</c:v>
                </c:pt>
                <c:pt idx="2">
                  <c:v>3800</c:v>
                </c:pt>
                <c:pt idx="3">
                  <c:v>2800</c:v>
                </c:pt>
                <c:pt idx="4">
                  <c:v>2650</c:v>
                </c:pt>
                <c:pt idx="5">
                  <c:v>2500</c:v>
                </c:pt>
                <c:pt idx="6">
                  <c:v>1700</c:v>
                </c:pt>
                <c:pt idx="7">
                  <c:v>1550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5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5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Trips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6BE6"/>
              </a:solidFill>
              <a:effectLst/>
            </c:spPr>
          </c:dPt>
          <c:dPt>
            <c:idx val="1"/>
            <c:bubble3D val="0"/>
            <c:spPr>
              <a:solidFill>
                <a:srgbClr val="E862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Blue Jay vans</c:v>
                </c:pt>
                <c:pt idx="1">
                  <c:v>Lyft overflow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73</c:v>
                </c:pt>
                <c:pt idx="1">
                  <c:v>27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54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JHU's late-night on-demand shuttle assigns riders to shared vans; we ask whether optimization can cut the long-tail waits and the overflow onto Lyft, using the operation's own data. Note the title deliberately spans methods, not just one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operational stage. The four promises on the chips are exactly what become constraints in the model. Flag the Lyft overflow now — it's the pressure-release valve and it costs money; it comes back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Hundreds of riders an hour at the 6 PM peak, tapering overnight, and geographically spread from Homewood across Baltimore. Fleet scales to ~28 vans at peak, so this isn't purely a supply shortage — it's how riders get matched to vans.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median experience is good (~11 min wait, ~11 min ride). The pain is the tail: the slowest 1 in 10 wait 17–21 min and ride 21–30 min — brushing or breaking the 20- and 25-minute targets. And ~1 in 4 trips overflow to paid Lyft. That tail + overflow is exactly what a smarter assignment policy can target. Define P90 out loud using the explainer box so nobody has to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were 'visit these stops cheaply,' it'd be a classic vehicle-routing problem. It isn't: pickup/drop-off pairing with precedence, capacity that changes mid-route, online arrivals, and committed actions. That combination is the dynamic Dial-a-Ride problem with time windows — and there's real literature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scrupulously honest: today we have aggregate dashboards, not per-trip rows. Trip-level de-identified data has been requested and is expected. Two-track use: aggregates already tell us the demand shape and where service breaks; trip-level lets us replay actual nights and compare policies fairly. Say the privacy line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professor's target is the mixed-integer model — that's our centerpiece. But it only means something against a baseline and needs a fallback at scale, so we frame one spectrum: fast heuristics → exact MILP → hybrid. The heuristic end reuses routing code we've already built. At ~28 vans in the 6 PM hour the exact model may be too slow to re-solve constantly; the hybrid keeps its logic but stays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equations. Discrete choices — which van, which route — plus continuous quantities like arrival time and wait; linear constraints tie them together, which is what makes it a mixed-integer program. Stress the objective ordering: service first — minimize overflow and waiting before we shave van miles. Point at two constraints and move on; full notation is in backup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MILP solves a snapshot. Real dispatch is a moving target, so we wrap it in a rolling-horizon loop: re-solve as requests arrive, but never rip out a pickup a van has already started. Two knobs we'll tune: re-optimization trigger (per request vs. fixed interval) and solver time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here: open outputs/demo.html in Chrome or Safari (not Brave unless Shields are down) and press play. Five requests appear one-by-one; two vans drive to each pickup then drop-off. Left is random assignment, right is optimized — same requests, shorter routes and waits on the right. Say clearly this is illustrative with dummy values, not a model result; the real model and evaluation come after the proposal.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method sees identical inputs, so differences are the policy, not luck. Emphasize the tail and overflow metrics — they match the problem we opened with. Own the negative-result possibility: if a simple rule ties the MILP, that's a real result; the validated model and replay environment still stand. Synthetic-calibration fallback if data is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quickly: we have a plan and we've de-risked it. Close on scope and value — retrospective decision support for Transportation, not a deployment. Hand to Q&amp;A; backup slides cover full MILP notation, prior-work lessons, data fields, solver strategy, and prepared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 — build the detail backups only if time allows; they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FOURSIGHT  ·  EN.553.602 RESEARCH &amp; DESIGN IN MATHEMATICS: DATA MINING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the Night Ride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&amp; routing models for JHU's on-demand shared shuttle —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rider wait times and Lyft overflow on Blue Jay Night Ride.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Irfan Setiadi   ·   Miles Zhou   ·   Youzhi Zhang   ·   Vignesh Rajesh Babu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4681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Presentation   ·   Johns Hopkins University   ·   Fall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Blue Jay Night Ride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19272" cy="1325880"/>
          </a:xfrm>
          <a:prstGeom prst="roundRect">
            <a:avLst>
              <a:gd name="adj" fmla="val 6207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10512"/>
            <a:ext cx="457200" cy="45720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7393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04288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books a trip in the TransLoc app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064" y="2217420"/>
            <a:ext cx="356616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70832" y="1554480"/>
            <a:ext cx="3319272" cy="1325880"/>
          </a:xfrm>
          <a:prstGeom prst="roundRect">
            <a:avLst>
              <a:gd name="adj" fmla="val 6207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9432" y="1810512"/>
            <a:ext cx="457200" cy="45720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943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193792" y="177393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2304288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van is assigned; it may pick up others first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63256" y="2217420"/>
            <a:ext cx="356616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3024" y="1554480"/>
            <a:ext cx="3319272" cy="1325880"/>
          </a:xfrm>
          <a:prstGeom prst="roundRect">
            <a:avLst>
              <a:gd name="adj" fmla="val 6207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1624" y="1810512"/>
            <a:ext cx="457200" cy="45720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2162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177393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 to curb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67344" y="2304288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at the destination, ~6 PM to 2 AM, Homewood area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200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service promises  —  these become our model's constraints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256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target (25 when busy)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657600"/>
            <a:ext cx="256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352044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ride length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657600"/>
            <a:ext cx="256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group size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657600"/>
            <a:ext cx="25603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8972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waits at pickup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safety-first service with hard promises on wait, ride time, and capacity — not a distance problem.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 van can meet the promise, dispatch hands the trip to Lyft (paid overflow).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· THE DEMAND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heavy, sharply peaked, and spread across the city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44,374</a:t>
            </a:r>
            <a:pPr indent="0" marL="0">
              <a:buNone/>
            </a:pPr>
            <a:r>
              <a:rPr lang="en-US" sz="16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riders in April 2026</a:t>
            </a:r>
            <a:endParaRPr lang="en-US" sz="4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31720"/>
          <a:ext cx="61264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61441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rides by hour  (April 2026, 30-day totals)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745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PM peak: </a:t>
            </a:r>
            <a:pPr indent="0" marL="0">
              <a:buNone/>
            </a:pPr>
            <a:r>
              <a:rPr lang="en-US" sz="120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~5,100 rides/hr and ~28 vans in service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03720" y="1554480"/>
            <a:ext cx="473659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pic>
        <p:nvPicPr>
          <p:cNvPr id="9" name="Image 0" descr="img/map_camp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40880" y="1965960"/>
            <a:ext cx="4462272" cy="3474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origins near campus (density)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98932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already scales to the peak — so the challenge is smart assignment, not just more vans.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739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JHU Transportation / TransLoc dashboards, April 2026.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· THE GAP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riders are fine — the problem is in the tail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105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request → pickup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035040" cy="457200"/>
          </a:xfrm>
          <a:prstGeom prst="roundRect">
            <a:avLst>
              <a:gd name="adj" fmla="val 12000"/>
            </a:avLst>
          </a:prstGeom>
          <a:solidFill>
            <a:srgbClr val="E3E9F5"/>
          </a:solidFill>
          <a:ln/>
        </p:spPr>
      </p:sp>
      <p:sp>
        <p:nvSpPr>
          <p:cNvPr id="6" name="Shape 4"/>
          <p:cNvSpPr/>
          <p:nvPr/>
        </p:nvSpPr>
        <p:spPr>
          <a:xfrm>
            <a:off x="4320540" y="2286000"/>
            <a:ext cx="2263140" cy="457200"/>
          </a:xfrm>
          <a:prstGeom prst="rect">
            <a:avLst/>
          </a:prstGeom>
          <a:solidFill>
            <a:srgbClr val="F7D8D1"/>
          </a:solidFill>
          <a:ln/>
        </p:spPr>
      </p:sp>
      <p:sp>
        <p:nvSpPr>
          <p:cNvPr id="7" name="Shape 5"/>
          <p:cNvSpPr/>
          <p:nvPr/>
        </p:nvSpPr>
        <p:spPr>
          <a:xfrm>
            <a:off x="3754755" y="2359152"/>
            <a:ext cx="754380" cy="310896"/>
          </a:xfrm>
          <a:prstGeom prst="roundRect">
            <a:avLst>
              <a:gd name="adj" fmla="val 14706"/>
            </a:avLst>
          </a:prstGeom>
          <a:solidFill>
            <a:srgbClr val="E86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88945" y="20116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slowest 1 in 10 riders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600575" y="23865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17–21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22601" y="2414016"/>
            <a:ext cx="201168" cy="201168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20540" y="2157984"/>
            <a:ext cx="0" cy="676656"/>
          </a:xfrm>
          <a:prstGeom prst="line">
            <a:avLst/>
          </a:prstGeom>
          <a:noFill/>
          <a:ln w="19050">
            <a:solidFill>
              <a:srgbClr val="1B254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754505" y="283464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 11 min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51860" y="283464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20-min target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9359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the van (ride length)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6035040" cy="457200"/>
          </a:xfrm>
          <a:prstGeom prst="roundRect">
            <a:avLst>
              <a:gd name="adj" fmla="val 12000"/>
            </a:avLst>
          </a:prstGeom>
          <a:solidFill>
            <a:srgbClr val="E3E9F5"/>
          </a:solidFill>
          <a:ln/>
        </p:spPr>
      </p:sp>
      <p:sp>
        <p:nvSpPr>
          <p:cNvPr id="16" name="Shape 14"/>
          <p:cNvSpPr/>
          <p:nvPr/>
        </p:nvSpPr>
        <p:spPr>
          <a:xfrm>
            <a:off x="5263515" y="4069080"/>
            <a:ext cx="1320165" cy="457200"/>
          </a:xfrm>
          <a:prstGeom prst="rect">
            <a:avLst/>
          </a:prstGeom>
          <a:solidFill>
            <a:srgbClr val="F7D8D1"/>
          </a:solidFill>
          <a:ln/>
        </p:spPr>
      </p:sp>
      <p:sp>
        <p:nvSpPr>
          <p:cNvPr id="17" name="Shape 15"/>
          <p:cNvSpPr/>
          <p:nvPr/>
        </p:nvSpPr>
        <p:spPr>
          <a:xfrm>
            <a:off x="4509135" y="4142232"/>
            <a:ext cx="1697355" cy="310896"/>
          </a:xfrm>
          <a:prstGeom prst="roundRect">
            <a:avLst>
              <a:gd name="adj" fmla="val 14706"/>
            </a:avLst>
          </a:prstGeom>
          <a:solidFill>
            <a:srgbClr val="E862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14813" y="3794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slowest 1 in 10 riders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97930" y="41696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21–30 min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22601" y="4197096"/>
            <a:ext cx="201168" cy="201168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63515" y="3941064"/>
            <a:ext cx="0" cy="676656"/>
          </a:xfrm>
          <a:prstGeom prst="line">
            <a:avLst/>
          </a:prstGeom>
          <a:noFill/>
          <a:ln w="19050">
            <a:solidFill>
              <a:srgbClr val="1B2540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754505" y="461772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 11 min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394835" y="461772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25-min target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6035040" cy="868680"/>
          </a:xfrm>
          <a:prstGeom prst="roundRect">
            <a:avLst>
              <a:gd name="adj" fmla="val 947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1937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“Slowest 1 in 10” = 90th percentile (P90).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every 10 riders do better than this; 1 in 10 does worse — and that worst tenth is who blows past the target.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001000" y="1554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actually carries the riders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8001000" y="1965960"/>
          <a:ext cx="3566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7818120" y="50292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4 trips overflow to Lyft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349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demand can't get a van in time and is sent to paid rides.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739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JHU Transportation / TransLoc dashboards, April 2026. Van-vs-Lyft share approximate.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CLASS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Dial-a-Ride problem, not ordinary routing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3291840"/>
          </a:xfrm>
          <a:prstGeom prst="roundRect">
            <a:avLst>
              <a:gd name="adj" fmla="val 2500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routing (CVRP)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120140" y="3634740"/>
            <a:ext cx="502920" cy="502920"/>
          </a:xfrm>
          <a:prstGeom prst="ellipse">
            <a:avLst/>
          </a:prstGeom>
          <a:solidFill>
            <a:srgbClr val="6B738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2980" y="37216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2606040"/>
            <a:ext cx="457200" cy="457200"/>
          </a:xfrm>
          <a:prstGeom prst="ellipse">
            <a:avLst/>
          </a:prstGeom>
          <a:solidFill>
            <a:srgbClr val="2E6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77640" y="2926080"/>
            <a:ext cx="457200" cy="457200"/>
          </a:xfrm>
          <a:prstGeom prst="ellipse">
            <a:avLst/>
          </a:prstGeom>
          <a:solidFill>
            <a:srgbClr val="2E6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29900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rgbClr val="2E6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40873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834640"/>
            <a:ext cx="1371600" cy="105156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743200" y="2834640"/>
            <a:ext cx="1463040" cy="32004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206240" y="3154680"/>
            <a:ext cx="548640" cy="109728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 flipV="1">
            <a:off x="1371600" y="3886200"/>
            <a:ext cx="3383280" cy="36576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7724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fixed stops from a depot, minimize distance.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600200"/>
            <a:ext cx="53035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37960" y="1764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problem — Dial-a-Ride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0" y="2651760"/>
            <a:ext cx="457200" cy="457200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2715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92440" y="3977640"/>
            <a:ext cx="457200" cy="457200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0" y="40416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372600" y="2743200"/>
            <a:ext cx="457200" cy="457200"/>
          </a:xfrm>
          <a:prstGeom prst="ellipse">
            <a:avLst/>
          </a:prstGeom>
          <a:solidFill>
            <a:srgbClr val="E862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35440" y="280720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61320" y="3840480"/>
            <a:ext cx="457200" cy="457200"/>
          </a:xfrm>
          <a:prstGeom prst="ellipse">
            <a:avLst/>
          </a:prstGeom>
          <a:solidFill>
            <a:srgbClr val="E862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24160" y="39044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86600" y="2880360"/>
            <a:ext cx="1234440" cy="132588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8321040" y="2971800"/>
            <a:ext cx="1280160" cy="123444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971800"/>
            <a:ext cx="1188720" cy="109728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537960" y="41422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pickup   D = drop-off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4165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pickup→drop-off, same van, riders pooled, requests arrive live.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16636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3232" y="5276088"/>
            <a:ext cx="22311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pickup → drop-off, same van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383280" y="516636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547872" y="5276088"/>
            <a:ext cx="22311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must precede drop-off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516636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2512" y="5276088"/>
            <a:ext cx="22311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load changes en route (capacity)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052560" y="516636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17152" y="5276088"/>
            <a:ext cx="22311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arrive online; some moves are committed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now, and what's coming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3703320"/>
          </a:xfrm>
          <a:prstGeom prst="roundRect">
            <a:avLst>
              <a:gd name="adj" fmla="val 2222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now — aggregate TransLoc / JHU dashboards</a:t>
            </a:r>
            <a:endParaRPr lang="en-US" sz="1500" dirty="0"/>
          </a:p>
        </p:txBody>
      </p:sp>
      <p:pic>
        <p:nvPicPr>
          <p:cNvPr id="6" name="Image 0" descr="img/map_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" y="2148840"/>
            <a:ext cx="2450592" cy="2011680"/>
          </a:xfrm>
          <a:prstGeom prst="rect">
            <a:avLst/>
          </a:prstGeom>
        </p:spPr>
      </p:pic>
      <p:pic>
        <p:nvPicPr>
          <p:cNvPr id="7" name="Image 1" descr="img/map_camp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2148840"/>
            <a:ext cx="2450592" cy="20116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42519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Origin/destination density · rides by hour &amp; status · vans in service · wait &amp; ride-time percentiles · van + Lyft ridership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92240" y="1554480"/>
            <a:ext cx="5148072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2084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— de-identified trip-level extracts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95160" y="214884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→ assign → arrival → pickup → drop-off timestamps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766560" y="2816352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95160" y="271576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&amp; destination zones or protected coordinates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3383280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95160" y="328269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size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766560" y="3950208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995160" y="384962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Pseudonymous vehicle IDs &amp; capacities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720840" y="4617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5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calibrate demand &amp; validate; trip-level lets us replay actual nights.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D4EEE0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77240" y="5541264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 </a:t>
            </a:r>
            <a:pPr indent="0" marL="0">
              <a:buNone/>
            </a:pPr>
            <a:r>
              <a:rPr lang="en-US" sz="13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de-identified only — no rider names, IDs, contacts, or exact addresses; outputs are aggregate stats and density maps.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739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dashboards shared by JHU Transportation (April 2026). Trip-level extracts requested.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STRATEGY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spectrum of methods — compared head-to-head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5074920"/>
            <a:ext cx="10725912" cy="0"/>
          </a:xfrm>
          <a:prstGeom prst="line">
            <a:avLst/>
          </a:prstGeom>
          <a:noFill/>
          <a:ln w="28575">
            <a:solidFill>
              <a:srgbClr val="6B7385"/>
            </a:solidFill>
            <a:prstDash val="solid"/>
            <a:headEnd type="triangle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640080" y="5184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· simpler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22792" y="5184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optimal · heavier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474720" cy="3017520"/>
          </a:xfrm>
          <a:prstGeom prst="roundRect">
            <a:avLst>
              <a:gd name="adj" fmla="val 2727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984248"/>
            <a:ext cx="566928" cy="566928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1576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heuristics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3558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Nearest-feasible + greedy insertion. Reuses our prior CVRP work (VehiPathOptimizer). The speed baseline.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286000" y="4754880"/>
            <a:ext cx="0" cy="320040"/>
          </a:xfrm>
          <a:prstGeom prst="line">
            <a:avLst/>
          </a:prstGeom>
          <a:noFill/>
          <a:ln w="12700">
            <a:solidFill>
              <a:srgbClr val="D5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15968" y="1691640"/>
            <a:ext cx="3474720" cy="3017520"/>
          </a:xfrm>
          <a:prstGeom prst="roundRect">
            <a:avLst>
              <a:gd name="adj" fmla="val 2727"/>
            </a:avLst>
          </a:prstGeom>
          <a:solidFill>
            <a:srgbClr val="FFF6E6"/>
          </a:solidFill>
          <a:ln w="28575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90288" y="1984248"/>
            <a:ext cx="566928" cy="5669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0288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1576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Rolling-horizon MILP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3558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service-first dispatch under all the constraints. The centerpiece the course targets.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centerpiece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53328" y="4754880"/>
            <a:ext cx="0" cy="320040"/>
          </a:xfrm>
          <a:prstGeom prst="line">
            <a:avLst/>
          </a:prstGeom>
          <a:noFill/>
          <a:ln w="12700">
            <a:solidFill>
              <a:srgbClr val="D5D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83296" y="1691640"/>
            <a:ext cx="3474720" cy="3017520"/>
          </a:xfrm>
          <a:prstGeom prst="roundRect">
            <a:avLst>
              <a:gd name="adj" fmla="val 2727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57616" y="1984248"/>
            <a:ext cx="566928" cy="566928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57616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339328" y="271576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339328" y="33558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 core + local search — the scaling path for the ~28-van peak hour.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820656" y="4754880"/>
            <a:ext cx="0" cy="320040"/>
          </a:xfrm>
          <a:prstGeom prst="line">
            <a:avLst/>
          </a:prstGeom>
          <a:noFill/>
          <a:ln w="12700">
            <a:solidFill>
              <a:srgbClr val="D5DC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669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 on the same request stream, so any difference is the policy — not luck.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optimization at the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200400"/>
          </a:xfrm>
          <a:prstGeom prst="roundRect">
            <a:avLst>
              <a:gd name="adj" fmla="val 2571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route and who rides together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51560" y="3154680"/>
            <a:ext cx="457200" cy="457200"/>
          </a:xfrm>
          <a:prstGeom prst="ellipse">
            <a:avLst/>
          </a:prstGeom>
          <a:solidFill>
            <a:srgbClr val="1B25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186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2331720"/>
            <a:ext cx="457200" cy="457200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23957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2148840"/>
            <a:ext cx="457200" cy="457200"/>
          </a:xfrm>
          <a:prstGeom prst="ellipse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22128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00400"/>
            <a:ext cx="457200" cy="457200"/>
          </a:xfrm>
          <a:prstGeom prst="ellipse">
            <a:avLst/>
          </a:prstGeom>
          <a:solidFill>
            <a:srgbClr val="E862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326440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49240" y="2514600"/>
            <a:ext cx="457200" cy="457200"/>
          </a:xfrm>
          <a:prstGeom prst="ellipse">
            <a:avLst/>
          </a:prstGeom>
          <a:solidFill>
            <a:srgbClr val="E862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7860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 flipV="1">
            <a:off x="1280160" y="2560320"/>
            <a:ext cx="1280160" cy="82296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2560320" y="2377440"/>
            <a:ext cx="1188720" cy="18288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749040" y="2377440"/>
            <a:ext cx="822960" cy="105156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4572000" y="2743200"/>
            <a:ext cx="1005840" cy="685800"/>
          </a:xfrm>
          <a:prstGeom prst="line">
            <a:avLst/>
          </a:prstGeom>
          <a:noFill/>
          <a:ln w="25400">
            <a:solidFill>
              <a:srgbClr val="2E6BE6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77240" y="41148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choices: which van, which arc, or overflow to Lyft.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Continuous: arrival times, load, wait, excess ride time.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1600200"/>
            <a:ext cx="514807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service first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66560" y="2194560"/>
            <a:ext cx="4572000" cy="457200"/>
          </a:xfrm>
          <a:prstGeom prst="roundRect">
            <a:avLst>
              <a:gd name="adj" fmla="val 10000"/>
            </a:avLst>
          </a:prstGeom>
          <a:solidFill>
            <a:srgbClr val="E862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76288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Overflow to Lyft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66560" y="2761488"/>
            <a:ext cx="3840480" cy="45720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76288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Rider wait time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766560" y="3328416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2E6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76288" y="33284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Excess ride time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66560" y="3895344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6B738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76288" y="38953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Van travel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526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minimize in priority order — service before shaving miles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van picks up &amp; drops off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395728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87168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before drop-off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42816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34256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capacity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9904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81344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time windows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936992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28432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ride time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784080" y="5349240"/>
            <a:ext cx="1764792" cy="502920"/>
          </a:xfrm>
          <a:prstGeom prst="roundRect">
            <a:avLst>
              <a:gd name="adj" fmla="val 16364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0" y="5349240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actions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mathematical notation is in the backup slides.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IT DYNAMIC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snapshot to a live dispatcher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0320" cy="2286000"/>
          </a:xfrm>
          <a:prstGeom prst="roundRect">
            <a:avLst>
              <a:gd name="adj" fmla="val 3600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377440"/>
            <a:ext cx="731520" cy="73152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6616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van positions, onboard riders, committed stops, pending requests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54680" y="324612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83280" y="2103120"/>
            <a:ext cx="2560320" cy="2286000"/>
          </a:xfrm>
          <a:prstGeom prst="roundRect">
            <a:avLst>
              <a:gd name="adj" fmla="val 3600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2377440"/>
            <a:ext cx="731520" cy="73152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97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56616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 actions already underway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89320" y="324612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17920" y="2103120"/>
            <a:ext cx="2560320" cy="2286000"/>
          </a:xfrm>
          <a:prstGeom prst="roundRect">
            <a:avLst>
              <a:gd name="adj" fmla="val 3600"/>
            </a:avLst>
          </a:prstGeom>
          <a:solidFill>
            <a:srgbClr val="FFF6E6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0" y="2377440"/>
            <a:ext cx="731520" cy="7315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Re-solve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19088" y="356616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the rest under a short time limit, warm-started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823960" y="3246120"/>
            <a:ext cx="18288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52560" y="2103120"/>
            <a:ext cx="2560320" cy="2286000"/>
          </a:xfrm>
          <a:prstGeom prst="roundRect">
            <a:avLst>
              <a:gd name="adj" fmla="val 3600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  <a:effectLst>
            <a:outerShdw sx="100000" sy="100000" kx="0" ky="0" algn="bl" rotWithShape="0" blurRad="76200" dist="25400" dir="5400000">
              <a:srgbClr val="B8C0D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66960" y="2377440"/>
            <a:ext cx="731520" cy="731520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669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18972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53728" y="356616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next move — then a new request arrives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28800" y="4526280"/>
            <a:ext cx="8503920" cy="0"/>
          </a:xfrm>
          <a:prstGeom prst="line">
            <a:avLst/>
          </a:prstGeom>
          <a:noFill/>
          <a:ln w="22225">
            <a:solidFill>
              <a:srgbClr val="6B7385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828800" y="4389120"/>
            <a:ext cx="0" cy="137160"/>
          </a:xfrm>
          <a:prstGeom prst="line">
            <a:avLst/>
          </a:prstGeom>
          <a:noFill/>
          <a:ln w="22225">
            <a:solidFill>
              <a:srgbClr val="6B738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332720" y="4389120"/>
            <a:ext cx="0" cy="137160"/>
          </a:xfrm>
          <a:prstGeom prst="line">
            <a:avLst/>
          </a:prstGeom>
          <a:noFill/>
          <a:ln w="22225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48640" y="457200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as each new request arrives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064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5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MILP solves one moment; the loop turns it into a dispatcher — without undoing a pickup already begun.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arrive over time; two vans respond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folium map of the Homewood service area: five requests appear one-by-one, and two vans drive to each pickup, then the drop-off. The same requests run under two policies.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671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assignment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wait </a:t>
            </a:r>
            <a:pPr indent="0" marL="0">
              <a:buNone/>
            </a:pPr>
            <a:r>
              <a:rPr lang="en-US" sz="26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pPr indent="0" marL="0">
              <a:buNone/>
            </a:pPr>
            <a:r>
              <a:rPr lang="en-US" sz="14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worst </a:t>
            </a:r>
            <a:pPr indent="0" marL="0">
              <a:buNone/>
            </a:pPr>
            <a:r>
              <a:rPr lang="en-US" sz="2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order · long crisscross routes · longer waits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D4EEE0"/>
          </a:solidFill>
          <a:ln w="25400">
            <a:solidFill>
              <a:srgbClr val="2FA3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1671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routes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51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E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wait </a:t>
            </a:r>
            <a:pPr indent="0" marL="0">
              <a:buNone/>
            </a:pPr>
            <a:r>
              <a:rPr lang="en-US" sz="26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pPr indent="0" marL="0">
              <a:buNone/>
            </a:pPr>
            <a:r>
              <a:rPr lang="en-US" sz="1400" dirty="0">
                <a:solidFill>
                  <a:srgbClr val="3E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worst </a:t>
            </a:r>
            <a:pPr indent="0" marL="0">
              <a:buNone/>
            </a:pPr>
            <a:r>
              <a:rPr lang="en-US" sz="2000" b="1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5204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Sensible chaining · short routes · everyone served faster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FFF6E6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02920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interactive map:  </a:t>
            </a:r>
            <a:pPr indent="0" marL="0">
              <a:buNone/>
            </a:pPr>
            <a:r>
              <a:rPr lang="en-US" sz="13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outputs/demo.html in Chrome or Safari and press play to watch requests arrive and both vans respond. Illustrative — dummy values, planned system.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Homewood service area · 5 requests · 2 vans · time-based folium animation (TimestampedGeoJson)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JUDGE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comparison on identical inputs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468880" cy="2743200"/>
          </a:xfrm>
          <a:prstGeom prst="roundRect">
            <a:avLst>
              <a:gd name="adj" fmla="val 3333"/>
            </a:avLst>
          </a:prstGeom>
          <a:solidFill>
            <a:srgbClr val="17264A"/>
          </a:solidFill>
          <a:ln w="12700">
            <a:solidFill>
              <a:srgbClr val="1726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policy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97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request stream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81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fleet availability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65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travel times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8496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starting state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108960" y="3154680"/>
            <a:ext cx="411480" cy="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611880" y="1737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compared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11880" y="2103120"/>
            <a:ext cx="3246120" cy="420624"/>
          </a:xfrm>
          <a:prstGeom prst="roundRect">
            <a:avLst>
              <a:gd name="adj" fmla="val 19565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39896" y="2231136"/>
            <a:ext cx="164592" cy="164592"/>
          </a:xfrm>
          <a:prstGeom prst="ellipse">
            <a:avLst/>
          </a:prstGeom>
          <a:solidFill>
            <a:srgbClr val="6B73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95928" y="21031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historical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11880" y="2606040"/>
            <a:ext cx="3246120" cy="420624"/>
          </a:xfrm>
          <a:prstGeom prst="roundRect">
            <a:avLst>
              <a:gd name="adj" fmla="val 19565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39896" y="2734056"/>
            <a:ext cx="164592" cy="164592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95928" y="260604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Nearest-feasible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11880" y="3108960"/>
            <a:ext cx="3246120" cy="420624"/>
          </a:xfrm>
          <a:prstGeom prst="roundRect">
            <a:avLst>
              <a:gd name="adj" fmla="val 19565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9896" y="3236976"/>
            <a:ext cx="164592" cy="164592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95928" y="310896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insertion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3611880"/>
            <a:ext cx="3246120" cy="420624"/>
          </a:xfrm>
          <a:prstGeom prst="roundRect">
            <a:avLst>
              <a:gd name="adj" fmla="val 19565"/>
            </a:avLst>
          </a:prstGeom>
          <a:solidFill>
            <a:srgbClr val="FFF6E6"/>
          </a:solidFill>
          <a:ln w="22225">
            <a:solidFill>
              <a:srgbClr val="F5A6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39896" y="3739896"/>
            <a:ext cx="164592" cy="16459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95928" y="361188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Rolling-horizon MILP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11880" y="4114800"/>
            <a:ext cx="3246120" cy="420624"/>
          </a:xfrm>
          <a:prstGeom prst="roundRect">
            <a:avLst>
              <a:gd name="adj" fmla="val 19565"/>
            </a:avLst>
          </a:prstGeom>
          <a:solidFill>
            <a:srgbClr val="EEF2FA"/>
          </a:solidFill>
          <a:ln w="12700">
            <a:solidFill>
              <a:srgbClr val="D5DC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39896" y="4242816"/>
            <a:ext cx="164592" cy="164592"/>
          </a:xfrm>
          <a:prstGeom prst="ellipse">
            <a:avLst/>
          </a:prstGeom>
          <a:solidFill>
            <a:srgbClr val="2E6BE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995928" y="41148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3154680"/>
            <a:ext cx="411480" cy="0"/>
          </a:xfrm>
          <a:prstGeom prst="line">
            <a:avLst/>
          </a:prstGeom>
          <a:noFill/>
          <a:ln w="25400">
            <a:solidFill>
              <a:srgbClr val="6B738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452360" y="173736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that matter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70648" y="2212848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690104" y="2103120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median &amp; slowest 10% (P90)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70648" y="2633472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90104" y="2523744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pickups within the 20-min target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0648" y="3054096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90104" y="2944368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time &amp; % within 25 min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470648" y="3474720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690104" y="3364992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overflow to Lyft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470648" y="3895344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90104" y="3785616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&amp; empty miles · van utilization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470648" y="4315968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90104" y="4206240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time &amp; optimality gap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EEF2FA"/>
          </a:solidFill>
          <a:ln w="15875">
            <a:solidFill>
              <a:srgbClr val="D5DC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5029200"/>
            <a:ext cx="1057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by design: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simple rule matches the MILP, that's a valid, reportable finding. If trip-level data is late, we evaluate on synthetic streams calibrated to the aggregates (multiple seeds + sensitivity analysis).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739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Reconstructed-historical baseline becomes primary once trip-level data arrives.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de-risked path this semester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08792" cy="0"/>
          </a:xfrm>
          <a:prstGeom prst="line">
            <a:avLst/>
          </a:prstGeom>
          <a:noFill/>
          <a:ln w="25400">
            <a:solidFill>
              <a:srgbClr val="3B48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57400"/>
            <a:ext cx="182880" cy="18288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-137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audit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7039" y="2057400"/>
            <a:ext cx="182880" cy="18288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21239" y="2331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matrix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65438" y="2057400"/>
            <a:ext cx="182880" cy="182880"/>
          </a:xfrm>
          <a:prstGeom prst="ellipse">
            <a:avLst/>
          </a:prstGeom>
          <a:solidFill>
            <a:srgbClr val="F5A623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9638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23837" y="2057400"/>
            <a:ext cx="182880" cy="182880"/>
          </a:xfrm>
          <a:prstGeom prst="ellipse">
            <a:avLst/>
          </a:prstGeom>
          <a:solidFill>
            <a:srgbClr val="6B7699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8037" y="2331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82235" y="2057400"/>
            <a:ext cx="182880" cy="182880"/>
          </a:xfrm>
          <a:prstGeom prst="ellipse">
            <a:avLst/>
          </a:prstGeom>
          <a:solidFill>
            <a:srgbClr val="6B7699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435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340634" y="2057400"/>
            <a:ext cx="182880" cy="182880"/>
          </a:xfrm>
          <a:prstGeom prst="ellipse">
            <a:avLst/>
          </a:prstGeom>
          <a:solidFill>
            <a:srgbClr val="6B7699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54834" y="2331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horizon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899033" y="2057400"/>
            <a:ext cx="182880" cy="182880"/>
          </a:xfrm>
          <a:prstGeom prst="ellipse">
            <a:avLst/>
          </a:prstGeom>
          <a:solidFill>
            <a:srgbClr val="6B7699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13233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1457432" y="2057400"/>
            <a:ext cx="182880" cy="182880"/>
          </a:xfrm>
          <a:prstGeom prst="ellipse">
            <a:avLst/>
          </a:prstGeom>
          <a:solidFill>
            <a:srgbClr val="6B7699"/>
          </a:solidFill>
          <a:ln w="25400">
            <a:solidFill>
              <a:srgbClr val="0E1A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771632" y="2331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7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→ fallback:  data late → synthetic calibration   ·   MILP too slow → prune / warm-start / hybrid   ·   history not reconstructable → transparent-heuristic baselines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5486400" cy="1874520"/>
          </a:xfrm>
          <a:prstGeom prst="roundRect">
            <a:avLst>
              <a:gd name="adj" fmla="val 4390"/>
            </a:avLst>
          </a:prstGeom>
          <a:solidFill>
            <a:srgbClr val="17264A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48056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retrospective decision-support study for JHU Transportation — where waits and overflow come from, and whether optimization can move them. We do not touch live vans or TransLoc.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0" y="4023360"/>
            <a:ext cx="5239512" cy="1874520"/>
          </a:xfrm>
          <a:prstGeom prst="roundRect">
            <a:avLst>
              <a:gd name="adj" fmla="val 4390"/>
            </a:avLst>
          </a:prstGeom>
          <a:solidFill>
            <a:srgbClr val="17264A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94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FourSight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44988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Irfan Setiadi · Miles Zhou · Youzhi Zhang · Vignesh Rajesh Babu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1389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EN.553.602 · Fall 2026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AI-use disclosed in the written proposal.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8346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MILP notation · prior-work lessons · data-field request · solver strategy · prepared Q&amp;A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Night Ride</dc:title>
  <dc:subject>PptxGenJS Presentation</dc:subject>
  <dc:creator>Team FourSight</dc:creator>
  <cp:lastModifiedBy>Team FourSight</cp:lastModifiedBy>
  <cp:revision>1</cp:revision>
  <dcterms:created xsi:type="dcterms:W3CDTF">2026-09-14T19:46:55Z</dcterms:created>
  <dcterms:modified xsi:type="dcterms:W3CDTF">2026-09-14T19:46:55Z</dcterms:modified>
</cp:coreProperties>
</file>